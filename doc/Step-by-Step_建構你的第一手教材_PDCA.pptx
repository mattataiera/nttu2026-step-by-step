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1b2410ea-2b15-f51b-4aca-9b0f675da442}">
          <p14:sldIdLst>
            <p14:sldId id="256"/>
            <p14:sldId id="257"/>
          </p14:sldIdLst>
        </p14:section>
        <p14:section name="Plan 計畫" id="{d6a537af-381c-e0c4-af5a-ff6ae2383e56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o 執行" id="{01a2e451-2149-6f6b-0bea-b1bb8f0657ff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heck 查核" id="{0e52295c-a4f4-03d9-f654-871611830085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Adjust 調整" id="{bd244455-bacc-111a-0733-040b48801c13}">
          <p14:sldIdLst>
            <p14:sldId id="289"/>
            <p14:sldId id="290"/>
            <p14:sldId id="291"/>
          </p14:sldIdLst>
        </p14:section>
        <p14:section name="結語" id="{78d5d0ad-8e5d-86c1-2865-9c124d05c4d4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開場。今天用 PDCA（Plan 計畫、Do 執行、Check 查核、Adjust 調整）四個部分，帶大家一步一步做出自己的第一手教材。示範教材是「小朋友的寒假國語特攻隊」。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這份簡報依照原文件第一階層的序號分成四個部分：Plan 是第 1 到 6 項，Do 是第 7、8 項，Check 是第 9 到 13 項。原文件的 Adjust 尚未填寫，第 14、15 項是簡報整理時接續編上的建議內容。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計畫：動手之前，先把主題、資源、環境、起手式、提示詞框架與素材來源想清楚。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主題：Step by step，建構你的第一手教材。原文件註明主題要搭配水彩畫風的 AI 風景圖；右邊這張是示意圖，可以換成用 Gemini 或 ChatGPT 生成的水彩風景圖。今天的示範教材是「小朋友的寒假國語特攻隊」，內容寫在專案 doc 資料夾的「課程.txt」。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兩個教育部的資源：小學生字詞彙表是選字的素材來源；教育部語文資源可以用來查字典、找成語。這兩個連結之後也會直接寫進給 AI 的 prompt（第 8 項）。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上課前先照著說明頁把開發環境準備好。整個流程會用到三個工具：GitHub 放專案、GitHub Desktop 在電腦上同步檔案、Netlify 把網頁部署上線。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起手式是不能外包給 AI 的部分：課程學習目標、教學對象、課綱、教程清單，以及各種屬性（人物角色、背景畫風、題型等等）。灰色小字是本次示範教材的填法，取自第 8 項的 prompt；學習目標與課綱沒有示範值，請老師自己填。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寫提示詞的三個原則。第一，先求有再求好，先跟 AI 練出默契，找出彼此互補的細節。第二，不能只有標題，要有大綱，訂出階梯與邊界。第三，AI 是一分錢一分貨，但想法多不一定抓得到重點。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素材來源：圖片可以用 Gemini 或 ChatGPT；聲音分成配樂（Suno）和音效（ElevenLabs）。文案建議還是由你的大腦駕馭 AI，不是放任 AI 天馬行空。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執行：先把專案建立起來、放上 GitHub，再把 prompt 交給 AI 產生教材。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項分成四個步驟：7.1 建立專案概念；7.2 到 GitHub 建立專案並 clone 到電腦；7.3 建立本地資料夾、把檔案分門別類放入；7.4 透過 GitHub Desktop 把檔案同步到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7.1.1 準備一個電腦上的資料夾。專案名稱例如「東大 2026_Step-by-Step」，裡面放 doc 和 resource 兩個資料夾：doc 放文字資料，resource 放圖片等素材。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GitHub 按 New repository，選擇自己的帳號，輸入專案名稱（範例是 NTTU2026-step-by-step），選 Public，最後按 Create repository。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7.2.1 專案建好後會看到 Quick setup，點 Set up in GitHub Desktop。7.2.2 在 Clone a Repository 視窗確認 Local Path，這就是專案在你電腦上的位置，確認後按 Clone。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clone 完成後，GitHub Desktop 會顯示目前的專案名稱、目前的分支 main，以及 No local changes，代表資料夾還沒有任何變更。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clone 下來的專案資料夾裡建立 doc 與 resource。7.3.1 把資料檔案分門別類放入：doc 放「課程.txt」課程大綱，resource 放課程主視覺海報。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 GitHub Desktop，會看到剛剛放入的兩個檔案。7.4.1 在左下角填入本次更新摘要（Summary 必填），例如「資源上傳」，描述可以寫「課程與素材」。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先按 Commit to main，把這次的變更存成一個版本；再按 Publish branch，把專案推上 GitHub。第一次推上去之後，這個按鈕會變成 Push origin。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到你的 AI（ChatGPT、Claude 或 Gemini）仿照以下的 prompt。這一頁是角色設定與課程參數，課程參數就是第 4 項起手式的具體填法。
以下是完整 prompt，可直接複製：
小朋友的寒假國語特攻隊
角色設定
你是一位熟悉台灣國小國語文教學的兒童教材設計師，擅長將生字、詞語與成語故事轉化為有趣的冒險闖關遊戲。
課程參數
- 教學年級：國小三年級
- 人物角色：小學生＋可愛動物夥伴
- 背景畫風：日系 Q 版卡通，色彩鮮明、活潑可愛
- 學習情境：冒險闖關
- 教材難度：適中，循序漸進
- 題型：看圖猜謎＋選擇題
- 輸出內容：情境圖生成描述、生字詞語解釋、互動測驗及答案解析
第一課：說文解字
1. 選出 3～5 個適合國小三年級的目標生字。
2. 將生字融入一篇約 80～120 字的趣味短文。
3. 設計日系 Q 版卡通情境圖，呈現短文中的人物、場景與事件。
4. 解釋每個生字的字義、常用詞語，並提供簡單例句。
5. 設計 2 道選擇題，測試學生對生字或詞語的理解。
第二課：成語猜謎
1. 選出 1～2 個適合國小三年級的成語。
2. 提供正確的成語典故或故事背景。
3. 將故事轉化為一幅有明確視覺線索的情境圖，不直接顯示成語答案。
4. 讓學生先看圖猜成語，再揭曉答案。
5. 解釋成語意思，提供生活例句及 2 道選擇題。
教材輸出格式
每一課依序輸出：
A. 課程標題與闖關任務
B. 情境圖生成描述
C. 短文或成語故事
D. 生字詞語或成語解釋
E. 互動選擇題
F. 正確答案與簡短解析
生成規則
- 全程使用台灣繁體中文，必要時加入注音。
- 用詞、句長及題目難度符合國小三年級程度。
- 成語典故與詞義必須正確，不可捏造故事來源。
- 圖片要有清楚的視覺焦點，人物造型與畫風保持一致。
- 猜謎圖片不得直接出現答案文字。
- 題目須有明確答案，錯誤選項應合理且符合學習程度。
- 內容以 POC 示範為主，不需要生成完整教科書。
請依照上述規則，產生第一課與第二課的教材。
---
產出完整可以執行，部署到 Netlify的HTML 成品，包含圖檔、CSS JS程式與動態效果等等
---
相關資源
1. 以教育部小學生字詞彙表為素材來源 https://pedia.cloud.edu.tw/Bookmark/Textword?category=%E5%9C%8B%E8%AA%9E&amp;year=115_1
2. 教育部資源 https://language.moe.gov.tw/001/Upload/Files/site_content/M0001/respub/index.html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裡兩課各有五個步驟。第一課說文解字：選字、寫短文、畫情境圖、解釋字義、出選擇題。第二課成語猜謎：選成語、講典故、畫不露答案的情境圖、先猜再揭曉、解釋並出題。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每一課依序輸出 A 到 F 六個部分。生成規則有七條：台灣繁體中文、符合三年級程度、典故正確不捏造、畫風一致、猜謎圖不露答案、題目答案明確、以 POC 示範為主。檢查成品時，也可以拿這七條規則逐條核對。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最後先請 AI 依照上述規則產生兩課教材，再交代成品形式：完整可執行、可以部署到 Netlify 的 HTML 成品，包含圖檔、CSS、JS 程式與動態效果。最後附上兩個教育部的相關資源。右圖是把 prompt 貼進 Claude 的畫面。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查核：先看 AI 口述的工作過程，再把成品部署到 Netlify。部署前要留意 AI 目前在哪個 branch，請 AI 合併到 main 之後，再用 main 做正式部署，最後檢查 Netlify 狀態、打開自己的教材網站。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工作時會一邊做、一邊口述它遇到的狀況。第一張：教育部字詞彙表網站連不上，AI 改用三年級常見生字，並在說明中註明。第二張：AI 畫完角色與情境圖後逐張檢查、修正細節。老師要檢查替代方案是否合理、畫風與人物是否一致。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口述它找到兩個 CSS 錯誤（圖片比例跑掉、主畫面出現多餘的焦點框）並修正；接著完整闖關一次，兩課、星星、徽章、證書、教師版都正常；最後檢查手機版畫面。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完成後的手機版畫面，由左到右是首頁與闖關地圖、第一課情境圖、第一課生字解說、第二課看圖猜成語。用小朋友的角度檢查是否好懂、好操作。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部署到 Netlify 之前，先留意 AI 目前在哪個 branch。截圖顯示 AI 是在開發分支 claude/happy-noether-7k5hvl 上產生網站，還不在 main。Netlify 只會部署你指定的 branch，所以後面要先請 AI 合併回 main（第 11 項），再用 main 做正式部署。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10.2.1 在 Netlify 的 Projects 頁面點擊 Add new project 按鈕。10.2.2 在 Import a Git repository 選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10.2.3 選擇 GitHub 上面的專案 NTTU2026-step-by-step。10.2.4 設定專案名稱，這也就是網址，例如 ttu2026-step-by-step.netlify.app。10.2.5 承接上圖，Branch to deploy 有三個 branch：main、claude/fervent-bohr-hm0p2v、claude/happy-noether-7k5hvl，我們要部署哪一個？讓我們回到 AI 指令介面（第 11 項）。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 AI 指令介面，請 AI 把目前的 branch 合併到 main，因為我們要在 Netlify 使用 main branch 做正式（production）部署。截圖中的「核定」應為「合併」，上課時請用「合併」。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11.1 AI 回報網站已經合併進 main 並推送完成，Netlify 可以直接用 main 做正式部署；Branch to deploy 選 main，建置設定不用改，之後每次推送到 main 都會自動更新正式網站。11.2 回到 Netlify，按下 Deploy 完成部署。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部署後到 Netlify 的 Project overview 檢查：網址前面是綠燈、顯示 Deploys from GitHub、Published 的時間，左邊的 Deploys 可以看到每一次部署的紀錄。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完成了！打開自己的教材網站 https://ttu2026-step-by-step.netlify.app/ ，也可以讓學員用手機掃描 QR code 直接開啟。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調整：原文件這一段尚未填寫，以下兩項是依照前面 Plan 與 Check 的內容整理的建議，請依實際課程調整。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（建議內容，原文件尚未填寫）檢查時發現的問題，各自對應回 Plan 或 prompt 的某一項。例如難度不對就回到起手式；畫風不一致就把人物與畫風寫得更具體；素材來源有問題就換來源或自己提供字表；想法太多抓不到重點，就把大綱寫清楚，訂出階梯與邊界。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（建議內容，原文件尚未填寫）調整後再跑一輪：修改 prompt、請 AI 重新產生、檢查成品、commit and push。每一次 commit 都寫清楚摘要，GitHub 會保留每一個版本；Netlify 已在第 10、11 項接上 GitHub 的 main，推送到 main 之後網站就會自動更新。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結語：照著 Plan、Do、Check、Adjust 一步一步做，每一輪都讓教材更好。專案放在 GitHub，成品網站在 ttu2026-step-by-step.netlify.app，歡迎參考。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_PLAN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_DO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_CHECK-image-1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_ADJUST-image-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0" y="56692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PDCA｜課程地圖</a:t>
            </a:r>
            <a:endParaRPr lang="zh-TW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Step by step，建構你的第一手教材</a:t>
            </a:r>
            <a:endParaRPr lang="zh-TW" sz="1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LA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0" y="56692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PLAN｜計畫</a:t>
            </a:r>
            <a:endParaRPr lang="zh-TW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Step by step，建構你的第一手教材</a:t>
            </a:r>
            <a:endParaRPr lang="zh-TW" sz="1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0" y="56692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DO｜執行</a:t>
            </a:r>
            <a:endParaRPr lang="zh-TW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Step by step，建構你的第一手教材</a:t>
            </a:r>
            <a:endParaRPr lang="zh-TW" sz="1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HE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0" y="56692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CHECK｜查核</a:t>
            </a:r>
            <a:endParaRPr lang="zh-TW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Step by step，建構你的第一手教材</a:t>
            </a:r>
            <a:endParaRPr lang="zh-TW" sz="1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DJUS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0" y="56692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200" b="1" dirty="0">
                <a:solidFill>
                  <a:schemeClr val="accent4"/>
                </a:solidFill>
              </a:rPr>
              <a:t>ADJUST｜調整</a:t>
            </a:r>
            <a:endParaRPr lang="zh-TW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Step by step，建構你的第一手教材</a:t>
            </a:r>
            <a:endParaRPr lang="zh-TW" sz="1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PLA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697480" y="132588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697480" y="132588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HEC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697480" y="132588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ADJUS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697480" y="132588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image" Target="../media/image-2-3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edia.cloud.edu.tw/Bookmark/Textword?category=%E5%9C%8B%E8%AA%9E&amp;year=115_1" TargetMode="External"/><Relationship Id="rId4" Type="http://schemas.openxmlformats.org/officeDocument/2006/relationships/hyperlink" Target="https://language.moe.gov.tw/001/Upload/Files/site_content/M0001/respub/index.html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image" Target="../media/image-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att-at-dusseldorf.netlify.app/netlify-github/" TargetMode="Externa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3.png"/><Relationship Id="rId7" Type="http://schemas.openxmlformats.org/officeDocument/2006/relationships/image" Target="../media/image-6-6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edia.cloud.edu.tw/Bookmark/Textword?category=%E5%9C%8B%E8%AA%9E&amp;year=115_1" TargetMode="External"/><Relationship Id="rId4" Type="http://schemas.openxmlformats.org/officeDocument/2006/relationships/hyperlink" Target="https://language.moe.gov.tw/001/Upload/Files/site_content/M0001/respub/index.html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5" Type="http://schemas.openxmlformats.org/officeDocument/2006/relationships/image" Target="../media/image-22-3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ttu2026-step-by-step.netlify.app/" TargetMode="Externa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ttu2026-step-by-step.netlify.app/" TargetMode="External"/><Relationship Id="rId2" Type="http://schemas.openxmlformats.org/officeDocument/2006/relationships/image" Target="../media/image-33-1.png"/><Relationship Id="rId3" Type="http://schemas.openxmlformats.org/officeDocument/2006/relationships/image" Target="../media/image-33-2.png"/><Relationship Id="rId4" Type="http://schemas.openxmlformats.org/officeDocument/2006/relationships/image" Target="../media/image-33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1.png"/><Relationship Id="rId3" Type="http://schemas.openxmlformats.org/officeDocument/2006/relationships/image" Target="../media/image-35-1.png"/><Relationship Id="rId4" Type="http://schemas.openxmlformats.org/officeDocument/2006/relationships/image" Target="../media/image-35-1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ttAtAIEra/NTTU2026-step-by-step" TargetMode="External"/><Relationship Id="rId2" Type="http://schemas.openxmlformats.org/officeDocument/2006/relationships/hyperlink" Target="https://ttu2026-step-by-step.netlify.app/" TargetMode="External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2"/>
                </a:solidFill>
              </a:rPr>
              <a:t>東大 2026</a:t>
            </a:r>
            <a:endParaRPr lang="zh-TW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4400" b="1" dirty="0">
                <a:solidFill>
                  <a:schemeClr val="tx1"/>
                </a:solidFill>
              </a:rPr>
              <a:t>Step by step，建構你的第一手教材</a:t>
            </a:r>
            <a:endParaRPr lang="zh-TW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用 Plan → Do → Check → Adjust 四個步驟，一步一步完成</a:t>
            </a:r>
            <a:endParaRPr lang="zh-TW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示範教材：小朋友的寒假國語特攻隊</a:t>
            </a:r>
            <a:endParaRPr lang="zh-TW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課程地圖：Plan → Do → Check → Adjust</a:t>
            </a:r>
            <a:endParaRPr lang="zh-TW" sz="3000" dirty="0"/>
          </a:p>
        </p:txBody>
      </p:sp>
      <p:pic>
        <p:nvPicPr>
          <p:cNvPr id="5" name="Image 0" descr="指南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411480" cy="411480"/>
          </a:xfrm>
          <a:prstGeom prst="rect">
            <a:avLst/>
          </a:prstGeom>
        </p:spPr>
      </p:pic>
      <p:sp>
        <p:nvSpPr>
          <p:cNvPr id="6" name="Plan 卡片"/>
          <p:cNvSpPr/>
          <p:nvPr/>
        </p:nvSpPr>
        <p:spPr>
          <a:xfrm>
            <a:off x="548640" y="1554480"/>
            <a:ext cx="2514600" cy="3886200"/>
          </a:xfrm>
          <a:prstGeom prst="roundRect">
            <a:avLst>
              <a:gd name="adj" fmla="val 4364"/>
            </a:avLst>
          </a:prstGeom>
          <a:solidFill>
            <a:schemeClr val="accent1">
              <a:alpha val="8000"/>
            </a:schemeClr>
          </a:solidFill>
          <a:ln/>
        </p:spPr>
      </p:sp>
      <p:pic>
        <p:nvPicPr>
          <p:cNvPr id="7" name="Image 1" descr="水彩色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37360"/>
            <a:ext cx="914400" cy="9144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13232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P</a:t>
            </a:r>
            <a:endParaRPr lang="zh-TW" sz="3000" dirty="0"/>
          </a:p>
        </p:txBody>
      </p:sp>
      <p:sp>
        <p:nvSpPr>
          <p:cNvPr id="9" name="Text 4"/>
          <p:cNvSpPr txBox="1"/>
          <p:nvPr/>
        </p:nvSpPr>
        <p:spPr>
          <a:xfrm>
            <a:off x="1755648" y="18470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Plan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計畫</a:t>
            </a:r>
            <a:endParaRPr lang="zh-TW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749808" y="2880360"/>
            <a:ext cx="2148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1　主題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2　相關資源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3　開發環境確認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4　起手式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5　給 AI 的提示詞框架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6　素材來源</a:t>
            </a:r>
            <a:endParaRPr lang="zh-TW" sz="1400" dirty="0"/>
          </a:p>
        </p:txBody>
      </p:sp>
      <p:pic>
        <p:nvPicPr>
          <p:cNvPr id="11" name="Image 2" descr="下一步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3387852"/>
            <a:ext cx="219456" cy="219456"/>
          </a:xfrm>
          <a:prstGeom prst="rect">
            <a:avLst/>
          </a:prstGeom>
        </p:spPr>
      </p:pic>
      <p:sp>
        <p:nvSpPr>
          <p:cNvPr id="12" name="Do 卡片"/>
          <p:cNvSpPr/>
          <p:nvPr/>
        </p:nvSpPr>
        <p:spPr>
          <a:xfrm>
            <a:off x="3410712" y="1554480"/>
            <a:ext cx="2514600" cy="3886200"/>
          </a:xfrm>
          <a:prstGeom prst="roundRect">
            <a:avLst>
              <a:gd name="adj" fmla="val 4364"/>
            </a:avLst>
          </a:prstGeom>
          <a:solidFill>
            <a:schemeClr val="accent2">
              <a:alpha val="8000"/>
            </a:schemeClr>
          </a:solidFill>
          <a:ln/>
        </p:spPr>
      </p:sp>
      <p:pic>
        <p:nvPicPr>
          <p:cNvPr id="13" name="Image 3" descr="水彩色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737360"/>
            <a:ext cx="914400" cy="914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575304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D</a:t>
            </a:r>
            <a:endParaRPr lang="zh-TW" sz="3000" dirty="0"/>
          </a:p>
        </p:txBody>
      </p:sp>
      <p:sp>
        <p:nvSpPr>
          <p:cNvPr id="15" name="Text 8"/>
          <p:cNvSpPr txBox="1"/>
          <p:nvPr/>
        </p:nvSpPr>
        <p:spPr>
          <a:xfrm>
            <a:off x="4617720" y="18470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Do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執行</a:t>
            </a:r>
            <a:endParaRPr lang="zh-TW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3611880" y="2880360"/>
            <a:ext cx="2148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7　執行：建立專案並同步到 GitHub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8　到你的 AI 仿照 prompt 產生教材</a:t>
            </a:r>
            <a:endParaRPr lang="zh-TW" sz="1400" dirty="0"/>
          </a:p>
        </p:txBody>
      </p:sp>
      <p:pic>
        <p:nvPicPr>
          <p:cNvPr id="17" name="Image 4" descr="下一步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387852"/>
            <a:ext cx="219456" cy="219456"/>
          </a:xfrm>
          <a:prstGeom prst="rect">
            <a:avLst/>
          </a:prstGeom>
        </p:spPr>
      </p:pic>
      <p:sp>
        <p:nvSpPr>
          <p:cNvPr id="18" name="Check 卡片"/>
          <p:cNvSpPr/>
          <p:nvPr/>
        </p:nvSpPr>
        <p:spPr>
          <a:xfrm>
            <a:off x="6272784" y="1554480"/>
            <a:ext cx="2514600" cy="3886200"/>
          </a:xfrm>
          <a:prstGeom prst="roundRect">
            <a:avLst>
              <a:gd name="adj" fmla="val 4364"/>
            </a:avLst>
          </a:prstGeom>
          <a:solidFill>
            <a:schemeClr val="accent3">
              <a:alpha val="8000"/>
            </a:schemeClr>
          </a:solidFill>
          <a:ln/>
        </p:spPr>
      </p:sp>
      <p:pic>
        <p:nvPicPr>
          <p:cNvPr id="19" name="Image 5" descr="水彩色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1737360"/>
            <a:ext cx="914400" cy="9144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437376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C</a:t>
            </a:r>
            <a:endParaRPr lang="zh-TW" sz="3000" dirty="0"/>
          </a:p>
        </p:txBody>
      </p:sp>
      <p:sp>
        <p:nvSpPr>
          <p:cNvPr id="21" name="Text 12"/>
          <p:cNvSpPr txBox="1"/>
          <p:nvPr/>
        </p:nvSpPr>
        <p:spPr>
          <a:xfrm>
            <a:off x="7479792" y="18470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accent3"/>
                </a:solidFill>
              </a:rPr>
              <a:t>Check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查核</a:t>
            </a:r>
            <a:endParaRPr lang="zh-TW" sz="1600" dirty="0"/>
          </a:p>
        </p:txBody>
      </p:sp>
      <p:sp>
        <p:nvSpPr>
          <p:cNvPr id="22" name="Text 13"/>
          <p:cNvSpPr txBox="1"/>
          <p:nvPr/>
        </p:nvSpPr>
        <p:spPr>
          <a:xfrm>
            <a:off x="6473952" y="2880360"/>
            <a:ext cx="2148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9　先看一下 AI 口述的工作過程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10　部署到 Netlify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11　在你的 AI 下這樣的指令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12　檢查 Netlify 狀態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13　Enjoy your own achievement</a:t>
            </a:r>
            <a:endParaRPr lang="zh-TW" sz="1400" dirty="0"/>
          </a:p>
        </p:txBody>
      </p:sp>
      <p:pic>
        <p:nvPicPr>
          <p:cNvPr id="23" name="Image 6" descr="下一步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2" y="3387852"/>
            <a:ext cx="219456" cy="219456"/>
          </a:xfrm>
          <a:prstGeom prst="rect">
            <a:avLst/>
          </a:prstGeom>
        </p:spPr>
      </p:pic>
      <p:sp>
        <p:nvSpPr>
          <p:cNvPr id="24" name="Adjust 卡片"/>
          <p:cNvSpPr/>
          <p:nvPr/>
        </p:nvSpPr>
        <p:spPr>
          <a:xfrm>
            <a:off x="9134856" y="1554480"/>
            <a:ext cx="2514600" cy="3886200"/>
          </a:xfrm>
          <a:prstGeom prst="roundRect">
            <a:avLst>
              <a:gd name="adj" fmla="val 4364"/>
            </a:avLst>
          </a:prstGeom>
          <a:solidFill>
            <a:schemeClr val="accent4">
              <a:alpha val="8000"/>
            </a:schemeClr>
          </a:solidFill>
          <a:ln/>
        </p:spPr>
      </p:sp>
      <p:pic>
        <p:nvPicPr>
          <p:cNvPr id="25" name="Image 7" descr="水彩色塊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9448" y="1737360"/>
            <a:ext cx="914400" cy="9144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299448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A</a:t>
            </a:r>
            <a:endParaRPr lang="zh-TW" sz="3000" dirty="0"/>
          </a:p>
        </p:txBody>
      </p:sp>
      <p:sp>
        <p:nvSpPr>
          <p:cNvPr id="27" name="Text 16"/>
          <p:cNvSpPr txBox="1"/>
          <p:nvPr/>
        </p:nvSpPr>
        <p:spPr>
          <a:xfrm>
            <a:off x="10341864" y="18470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accent4"/>
                </a:solidFill>
              </a:rPr>
              <a:t>Adjust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調整</a:t>
            </a:r>
            <a:endParaRPr lang="zh-TW" sz="1600" dirty="0"/>
          </a:p>
        </p:txBody>
      </p:sp>
      <p:sp>
        <p:nvSpPr>
          <p:cNvPr id="28" name="Text 17"/>
          <p:cNvSpPr txBox="1"/>
          <p:nvPr/>
        </p:nvSpPr>
        <p:spPr>
          <a:xfrm>
            <a:off x="9336024" y="2880360"/>
            <a:ext cx="2148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14　回頭調整 Plan 與 prompt</a:t>
            </a:r>
            <a:endParaRPr lang="zh-TW" sz="1400" dirty="0"/>
          </a:p>
          <a:p>
            <a:pPr indent="0" marL="0">
              <a:spcAft>
                <a:spcPts val="9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15　再跑一輪，每一版都留下紀錄</a:t>
            </a:r>
            <a:endParaRPr lang="zh-TW" sz="1400" dirty="0"/>
          </a:p>
        </p:txBody>
      </p:sp>
      <p:sp>
        <p:nvSpPr>
          <p:cNvPr id="29" name="Shape 18"/>
          <p:cNvSpPr/>
          <p:nvPr/>
        </p:nvSpPr>
        <p:spPr>
          <a:xfrm>
            <a:off x="10392156" y="5440680"/>
            <a:ext cx="0" cy="4572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1805940" y="5897880"/>
            <a:ext cx="858621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1805940" y="5440680"/>
            <a:ext cx="0" cy="4572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32" name="Text 21"/>
          <p:cNvSpPr txBox="1"/>
          <p:nvPr/>
        </p:nvSpPr>
        <p:spPr>
          <a:xfrm>
            <a:off x="3931920" y="5715000"/>
            <a:ext cx="434340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先求有，再求好：回到 Plan，再跑一輪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節卡片"/>
          <p:cNvSpPr/>
          <p:nvPr/>
        </p:nvSpPr>
        <p:spPr>
          <a:xfrm>
            <a:off x="640080" y="822960"/>
            <a:ext cx="5029200" cy="4645152"/>
          </a:xfrm>
          <a:prstGeom prst="roundRect">
            <a:avLst>
              <a:gd name="adj" fmla="val 2362"/>
            </a:avLst>
          </a:prstGeom>
          <a:solidFill>
            <a:schemeClr val="bg1">
              <a:alpha val="92000"/>
            </a:schemeClr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1417320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1430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5400" b="1" dirty="0">
                <a:solidFill>
                  <a:schemeClr val="tx1"/>
                </a:solidFill>
              </a:rPr>
              <a:t>P</a:t>
            </a:r>
            <a:endParaRPr lang="zh-TW" sz="5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69748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600" b="1" dirty="0">
                <a:solidFill>
                  <a:schemeClr val="accent1"/>
                </a:solidFill>
              </a:rPr>
              <a:t>Plan</a:t>
            </a:r>
            <a:endParaRPr lang="zh-TW" sz="3600" dirty="0"/>
          </a:p>
          <a:p>
            <a:pPr algn="l" indent="0" marL="0">
              <a:buNone/>
            </a:pPr>
            <a:r>
              <a:rPr lang="zh-TW" altLang="en-US" sz="2400" b="1" dirty="0">
                <a:solidFill>
                  <a:schemeClr val="tx2"/>
                </a:solidFill>
              </a:rPr>
              <a:t>計畫</a:t>
            </a:r>
            <a:endParaRPr lang="zh-TW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2880360"/>
            <a:ext cx="4343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1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主題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2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相關資源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3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開發環境確認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4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起手式（不能外包給 AI 的）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5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給 AI 的提示詞框架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6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素材來源</a:t>
            </a:r>
            <a:endParaRPr lang="zh-TW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主題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accent1"/>
                </a:solidFill>
              </a:rPr>
              <a:t>Step by step，</a:t>
            </a:r>
            <a:endParaRPr lang="zh-TW" sz="1600" dirty="0"/>
          </a:p>
          <a:p>
            <a:pPr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建構你的第一手教材</a:t>
            </a:r>
            <a:endParaRPr lang="zh-TW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26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（搭配水彩畫風的 AI 風景圖）</a:t>
            </a:r>
            <a:endParaRPr lang="zh-TW" sz="1600" dirty="0"/>
          </a:p>
        </p:txBody>
      </p:sp>
      <p:sp>
        <p:nvSpPr>
          <p:cNvPr id="7" name="示範教材卡片"/>
          <p:cNvSpPr/>
          <p:nvPr/>
        </p:nvSpPr>
        <p:spPr>
          <a:xfrm>
            <a:off x="548640" y="361188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accent1">
              <a:alpha val="9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本次示範教材</a:t>
            </a:r>
            <a:endParaRPr lang="zh-TW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小朋友的寒假國語特攻隊</a:t>
            </a:r>
            <a:endParaRPr lang="zh-TW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6634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第一課　說文解字：</a:t>
            </a:r>
            <a:pPr indent="0" marL="0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挑選生字組成短文，搭配情境圖，解釋生字詞語</a:t>
            </a:r>
            <a:endParaRPr lang="zh-TW" sz="1400" dirty="0"/>
          </a:p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第二課　成語猜謎：</a:t>
            </a:r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把成語故事畫成情境圖，讓小朋友猜成語</a:t>
            </a:r>
            <a:endParaRPr lang="zh-TW" sz="1400" dirty="0"/>
          </a:p>
        </p:txBody>
      </p:sp>
      <p:sp>
        <p:nvSpPr>
          <p:cNvPr id="11" name="畫框"/>
          <p:cNvSpPr/>
          <p:nvPr/>
        </p:nvSpPr>
        <p:spPr>
          <a:xfrm>
            <a:off x="6281928" y="1527048"/>
            <a:ext cx="5431536" cy="3118104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水彩畫風的山景示意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00200"/>
            <a:ext cx="5285232" cy="2971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55080" y="470916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水彩畫風風景圖（示意）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2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相關資源</a:t>
            </a:r>
            <a:endParaRPr lang="zh-TW" sz="3000" dirty="0"/>
          </a:p>
        </p:txBody>
      </p:sp>
      <p:sp>
        <p:nvSpPr>
          <p:cNvPr id="5" name="教育部小學生字詞彙表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圖示底圓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7" name="Image 0" descr="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教育部小學生字詞彙表</a:t>
            </a:r>
            <a:endParaRPr lang="zh-TW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以此為素材來源，挑選適合年級的生字與詞彙</a:t>
            </a:r>
            <a:endParaRPr lang="zh-TW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u="sng" dirty="0">
                <a:solidFill>
                  <a:schemeClr val="accent1"/>
                </a:solidFill>
                <a:hlinkClick r:id="rId2" invalidUrl="" action="" tgtFrame="" tooltip="教育部小學生字詞彙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pedia.cloud.edu.tw/Bookmark/Textword</a:t>
            </a:r>
            <a:endParaRPr lang="zh-TW" sz="1400" dirty="0"/>
          </a:p>
        </p:txBody>
      </p:sp>
      <p:sp>
        <p:nvSpPr>
          <p:cNvPr id="11" name="教育部語文資源"/>
          <p:cNvSpPr/>
          <p:nvPr/>
        </p:nvSpPr>
        <p:spPr>
          <a:xfrm>
            <a:off x="6245352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圖示底圓"/>
          <p:cNvSpPr/>
          <p:nvPr/>
        </p:nvSpPr>
        <p:spPr>
          <a:xfrm>
            <a:off x="6565392" y="1874520"/>
            <a:ext cx="914400" cy="9144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3" name="Image 1" descr="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09397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65392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教育部語文資源</a:t>
            </a:r>
            <a:endParaRPr lang="zh-TW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6565392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查字典、找成語時的參考來源</a:t>
            </a:r>
            <a:endParaRPr lang="zh-TW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565392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u="sng" dirty="0">
                <a:solidFill>
                  <a:schemeClr val="accent1"/>
                </a:solidFill>
                <a:hlinkClick r:id="rId4" invalidUrl="" action="" tgtFrame="" tooltip="教育部語文資源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language.moe.gov.tw</a:t>
            </a:r>
            <a:endParaRPr lang="zh-TW" sz="1400" dirty="0"/>
          </a:p>
        </p:txBody>
      </p:sp>
      <p:sp>
        <p:nvSpPr>
          <p:cNvPr id="17" name="提示"/>
          <p:cNvSpPr/>
          <p:nvPr/>
        </p:nvSpPr>
        <p:spPr>
          <a:xfrm>
            <a:off x="548640" y="521208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18" name="Image 2" descr="提示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58384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52120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這兩個連結也會寫進給 AI 的 prompt（第 8 項），讓 AI 以教育部資源為準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3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開發環境確認</a:t>
            </a:r>
            <a:endParaRPr lang="zh-TW" sz="3000" dirty="0"/>
          </a:p>
        </p:txBody>
      </p:sp>
      <p:sp>
        <p:nvSpPr>
          <p:cNvPr id="5" name="說明頁連結"/>
          <p:cNvSpPr/>
          <p:nvPr/>
        </p:nvSpPr>
        <p:spPr>
          <a:xfrm>
            <a:off x="548640" y="1600200"/>
            <a:ext cx="110916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圖示底圓"/>
          <p:cNvSpPr/>
          <p:nvPr/>
        </p:nvSpPr>
        <p:spPr>
          <a:xfrm>
            <a:off x="822960" y="1801368"/>
            <a:ext cx="914400" cy="9144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7" name="Image 0" descr="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20824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65960" y="17830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依照說明頁確認開發環境</a:t>
            </a:r>
            <a:endParaRPr lang="zh-TW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965960" y="22860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u="sng" dirty="0">
                <a:solidFill>
                  <a:schemeClr val="accent1"/>
                </a:solidFill>
                <a:hlinkClick r:id="rId2" invalidUrl="" action="" tgtFrame="" tooltip="Netlify 與 GitHub 設定說明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matt-at-dusseldorf.netlify.app/netlify-github/</a:t>
            </a:r>
            <a:endParaRPr lang="zh-TW" sz="1600" dirty="0"/>
          </a:p>
        </p:txBody>
      </p:sp>
      <p:sp>
        <p:nvSpPr>
          <p:cNvPr id="10" name="GitHub"/>
          <p:cNvSpPr/>
          <p:nvPr/>
        </p:nvSpPr>
        <p:spPr>
          <a:xfrm>
            <a:off x="548640" y="3337560"/>
            <a:ext cx="344728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圖示底圓"/>
          <p:cNvSpPr/>
          <p:nvPr/>
        </p:nvSpPr>
        <p:spPr>
          <a:xfrm>
            <a:off x="1810512" y="3566160"/>
            <a:ext cx="914400" cy="9144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2" name="Image 1" descr="githu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37856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1520" y="45720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GitHub</a:t>
            </a:r>
            <a:endParaRPr lang="zh-TW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5029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在雲端存放你的教材專案</a:t>
            </a:r>
            <a:endParaRPr lang="zh-TW" sz="1500" dirty="0"/>
          </a:p>
        </p:txBody>
      </p:sp>
      <p:pic>
        <p:nvPicPr>
          <p:cNvPr id="15" name="Image 2" descr="下一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4480560"/>
            <a:ext cx="201168" cy="201168"/>
          </a:xfrm>
          <a:prstGeom prst="rect">
            <a:avLst/>
          </a:prstGeom>
        </p:spPr>
      </p:pic>
      <p:sp>
        <p:nvSpPr>
          <p:cNvPr id="16" name="GitHub Desktop"/>
          <p:cNvSpPr/>
          <p:nvPr/>
        </p:nvSpPr>
        <p:spPr>
          <a:xfrm>
            <a:off x="4370832" y="3337560"/>
            <a:ext cx="344728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圖示底圓"/>
          <p:cNvSpPr/>
          <p:nvPr/>
        </p:nvSpPr>
        <p:spPr>
          <a:xfrm>
            <a:off x="5632704" y="3566160"/>
            <a:ext cx="914400" cy="9144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8" name="Image 3" descr="deskt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7856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553712" y="45720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GitHub Desktop</a:t>
            </a:r>
            <a:endParaRPr lang="zh-TW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4553712" y="5029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在電腦上把檔案同步到 GitHub</a:t>
            </a:r>
            <a:endParaRPr lang="zh-TW" sz="1500" dirty="0"/>
          </a:p>
        </p:txBody>
      </p:sp>
      <p:pic>
        <p:nvPicPr>
          <p:cNvPr id="21" name="Image 4" descr="下一步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4480560"/>
            <a:ext cx="201168" cy="201168"/>
          </a:xfrm>
          <a:prstGeom prst="rect">
            <a:avLst/>
          </a:prstGeom>
        </p:spPr>
      </p:pic>
      <p:sp>
        <p:nvSpPr>
          <p:cNvPr id="22" name="Netlify"/>
          <p:cNvSpPr/>
          <p:nvPr/>
        </p:nvSpPr>
        <p:spPr>
          <a:xfrm>
            <a:off x="8193024" y="3337560"/>
            <a:ext cx="344728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3" name="圖示底圓"/>
          <p:cNvSpPr/>
          <p:nvPr/>
        </p:nvSpPr>
        <p:spPr>
          <a:xfrm>
            <a:off x="9454896" y="3566160"/>
            <a:ext cx="914400" cy="9144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4" name="Image 5" descr="clou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352" y="3785616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75904" y="45720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Netlify</a:t>
            </a:r>
            <a:endParaRPr lang="zh-TW" sz="2000" dirty="0"/>
          </a:p>
        </p:txBody>
      </p:sp>
      <p:sp>
        <p:nvSpPr>
          <p:cNvPr id="26" name="Text 17"/>
          <p:cNvSpPr txBox="1"/>
          <p:nvPr/>
        </p:nvSpPr>
        <p:spPr>
          <a:xfrm>
            <a:off x="8375904" y="5029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把教材網頁部署上線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4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起手式：不能外包給 AI 的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這些由老師自己決定，再交給 AI 執行</a:t>
            </a:r>
            <a:endParaRPr lang="zh-TW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課程學習目標</a:t>
            </a:r>
            <a:endParaRPr lang="zh-TW" sz="1800" dirty="0"/>
          </a:p>
        </p:txBody>
      </p:sp>
      <p:sp>
        <p:nvSpPr>
          <p:cNvPr id="7" name="課程學習目標欄位"/>
          <p:cNvSpPr/>
          <p:nvPr/>
        </p:nvSpPr>
        <p:spPr>
          <a:xfrm>
            <a:off x="2423160" y="1965960"/>
            <a:ext cx="443484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2606040" y="1965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『　　　　』</a:t>
            </a:r>
            <a:endParaRPr lang="zh-TW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900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教學對象</a:t>
            </a:r>
            <a:endParaRPr lang="zh-TW" sz="1800" dirty="0"/>
          </a:p>
        </p:txBody>
      </p:sp>
      <p:sp>
        <p:nvSpPr>
          <p:cNvPr id="10" name="教學對象欄位"/>
          <p:cNvSpPr/>
          <p:nvPr/>
        </p:nvSpPr>
        <p:spPr>
          <a:xfrm>
            <a:off x="2423160" y="2990088"/>
            <a:ext cx="443484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2606040" y="29900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示範：國小三年級</a:t>
            </a:r>
            <a:endParaRPr lang="zh-TW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0142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課綱</a:t>
            </a:r>
            <a:endParaRPr lang="zh-TW" sz="1800" dirty="0"/>
          </a:p>
        </p:txBody>
      </p:sp>
      <p:sp>
        <p:nvSpPr>
          <p:cNvPr id="13" name="課綱欄位"/>
          <p:cNvSpPr/>
          <p:nvPr/>
        </p:nvSpPr>
        <p:spPr>
          <a:xfrm>
            <a:off x="2423160" y="4014216"/>
            <a:ext cx="443484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606040" y="401421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『　　　　』</a:t>
            </a:r>
            <a:endParaRPr lang="zh-TW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0383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教程清單</a:t>
            </a:r>
            <a:endParaRPr lang="zh-TW" sz="1800" dirty="0"/>
          </a:p>
        </p:txBody>
      </p:sp>
      <p:sp>
        <p:nvSpPr>
          <p:cNvPr id="16" name="教程清單欄位"/>
          <p:cNvSpPr/>
          <p:nvPr/>
        </p:nvSpPr>
        <p:spPr>
          <a:xfrm>
            <a:off x="2423160" y="5038344"/>
            <a:ext cx="443484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2606040" y="50383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示範：第一課 說文解字、第二課 成語猜謎</a:t>
            </a:r>
            <a:endParaRPr lang="zh-TW" sz="1400" dirty="0"/>
          </a:p>
        </p:txBody>
      </p:sp>
      <p:sp>
        <p:nvSpPr>
          <p:cNvPr id="18" name="選擇屬性"/>
          <p:cNvSpPr/>
          <p:nvPr/>
        </p:nvSpPr>
        <p:spPr>
          <a:xfrm>
            <a:off x="7269480" y="1463040"/>
            <a:ext cx="4370832" cy="4617720"/>
          </a:xfrm>
          <a:prstGeom prst="roundRect">
            <a:avLst>
              <a:gd name="adj" fmla="val 2510"/>
            </a:avLst>
          </a:prstGeom>
          <a:solidFill>
            <a:schemeClr val="accent1">
              <a:alpha val="9000"/>
            </a:schemeClr>
          </a:solidFill>
          <a:ln/>
        </p:spPr>
      </p:sp>
      <p:sp>
        <p:nvSpPr>
          <p:cNvPr id="19" name="圖示底圓"/>
          <p:cNvSpPr/>
          <p:nvPr/>
        </p:nvSpPr>
        <p:spPr>
          <a:xfrm>
            <a:off x="7498080" y="1645920"/>
            <a:ext cx="685800" cy="6858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0" name="Image 0" descr="pa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2" y="1810512"/>
            <a:ext cx="356616" cy="35661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321040" y="1645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選擇屬性</a:t>
            </a:r>
            <a:endParaRPr lang="zh-TW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543800" y="26060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課程中的人物角色安排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示範：小學生＋可愛動物夥伴</a:t>
            </a:r>
            <a:endParaRPr lang="zh-TW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7543800" y="34564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背景畫風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示範：日系 Q 版卡通</a:t>
            </a:r>
            <a:endParaRPr lang="zh-TW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543800" y="430682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題型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示範：看圖猜謎＋選擇題</a:t>
            </a:r>
            <a:endParaRPr lang="zh-TW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543800" y="515721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等等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示範：學習情境：冒險闖關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5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給 AI 的提示詞框架</a:t>
            </a:r>
            <a:endParaRPr lang="zh-TW" sz="3000" dirty="0"/>
          </a:p>
        </p:txBody>
      </p:sp>
      <p:sp>
        <p:nvSpPr>
          <p:cNvPr id="5" name="先求有，再求好"/>
          <p:cNvSpPr/>
          <p:nvPr/>
        </p:nvSpPr>
        <p:spPr>
          <a:xfrm>
            <a:off x="548640" y="1828800"/>
            <a:ext cx="3447288" cy="3749040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圖示底圓"/>
          <p:cNvSpPr/>
          <p:nvPr/>
        </p:nvSpPr>
        <p:spPr>
          <a:xfrm>
            <a:off x="868680" y="214884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7" name="Image 0" descr="seed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2" y="2390242"/>
            <a:ext cx="523037" cy="5230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926080" y="20574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4800" b="1" dirty="0">
                <a:solidFill>
                  <a:schemeClr val="accent1"/>
                </a:solidFill>
              </a:rPr>
              <a:t>1</a:t>
            </a:r>
            <a:endParaRPr lang="zh-TW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先求有，再求好</a:t>
            </a:r>
            <a:endParaRPr lang="zh-TW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dirty="0">
                <a:solidFill>
                  <a:schemeClr val="tx2"/>
                </a:solidFill>
              </a:rPr>
              <a:t>先跟 AI 練出默契，找出互補的細節</a:t>
            </a:r>
            <a:endParaRPr lang="zh-TW" sz="1700" dirty="0"/>
          </a:p>
        </p:txBody>
      </p:sp>
      <p:sp>
        <p:nvSpPr>
          <p:cNvPr id="11" name="不能只有標題，要有大綱"/>
          <p:cNvSpPr/>
          <p:nvPr/>
        </p:nvSpPr>
        <p:spPr>
          <a:xfrm>
            <a:off x="4370832" y="1828800"/>
            <a:ext cx="3447288" cy="3749040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圖示底圓"/>
          <p:cNvSpPr/>
          <p:nvPr/>
        </p:nvSpPr>
        <p:spPr>
          <a:xfrm>
            <a:off x="4690872" y="214884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3" name="Image 1" descr="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274" y="2390242"/>
            <a:ext cx="523037" cy="5230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48272" y="20574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4800" b="1" dirty="0">
                <a:solidFill>
                  <a:schemeClr val="accent1"/>
                </a:solidFill>
              </a:rPr>
              <a:t>2</a:t>
            </a:r>
            <a:endParaRPr lang="zh-TW" sz="4800" dirty="0"/>
          </a:p>
        </p:txBody>
      </p:sp>
      <p:sp>
        <p:nvSpPr>
          <p:cNvPr id="15" name="Text 10"/>
          <p:cNvSpPr txBox="1"/>
          <p:nvPr/>
        </p:nvSpPr>
        <p:spPr>
          <a:xfrm>
            <a:off x="4645152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不能只有標題，要有大綱</a:t>
            </a:r>
            <a:endParaRPr lang="zh-TW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645152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dirty="0">
                <a:solidFill>
                  <a:schemeClr val="tx2"/>
                </a:solidFill>
              </a:rPr>
              <a:t>訂出階梯與邊界</a:t>
            </a:r>
            <a:endParaRPr lang="zh-TW" sz="1700" dirty="0"/>
          </a:p>
        </p:txBody>
      </p:sp>
      <p:sp>
        <p:nvSpPr>
          <p:cNvPr id="17" name="AI 是一分錢一分貨"/>
          <p:cNvSpPr/>
          <p:nvPr/>
        </p:nvSpPr>
        <p:spPr>
          <a:xfrm>
            <a:off x="8193024" y="1828800"/>
            <a:ext cx="3447288" cy="3749040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圖示底圓"/>
          <p:cNvSpPr/>
          <p:nvPr/>
        </p:nvSpPr>
        <p:spPr>
          <a:xfrm>
            <a:off x="8513064" y="214884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9" name="Image 2" descr="co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2390242"/>
            <a:ext cx="523037" cy="5230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570464" y="20574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4800" b="1" dirty="0">
                <a:solidFill>
                  <a:schemeClr val="accent1"/>
                </a:solidFill>
              </a:rPr>
              <a:t>3</a:t>
            </a:r>
            <a:endParaRPr lang="zh-TW" sz="4800" dirty="0"/>
          </a:p>
        </p:txBody>
      </p:sp>
      <p:sp>
        <p:nvSpPr>
          <p:cNvPr id="21" name="Text 15"/>
          <p:cNvSpPr txBox="1"/>
          <p:nvPr/>
        </p:nvSpPr>
        <p:spPr>
          <a:xfrm>
            <a:off x="8467344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AI 是一分錢一分貨</a:t>
            </a:r>
            <a:endParaRPr lang="zh-TW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467344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dirty="0">
                <a:solidFill>
                  <a:schemeClr val="tx2"/>
                </a:solidFill>
              </a:rPr>
              <a:t>但想法多不一定抓得到重點</a:t>
            </a:r>
            <a:endParaRPr lang="zh-TW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6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素材來源</a:t>
            </a:r>
            <a:endParaRPr lang="zh-TW" sz="3000" dirty="0"/>
          </a:p>
        </p:txBody>
      </p:sp>
      <p:sp>
        <p:nvSpPr>
          <p:cNvPr id="5" name="AI 圖片"/>
          <p:cNvSpPr/>
          <p:nvPr/>
        </p:nvSpPr>
        <p:spPr>
          <a:xfrm>
            <a:off x="548640" y="1691640"/>
            <a:ext cx="3447288" cy="4206240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圖示底圓"/>
          <p:cNvSpPr/>
          <p:nvPr/>
        </p:nvSpPr>
        <p:spPr>
          <a:xfrm>
            <a:off x="868680" y="2011680"/>
            <a:ext cx="914400" cy="9144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7" name="Image 0" descr="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23113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AI 圖片</a:t>
            </a:r>
            <a:endParaRPr lang="zh-TW" sz="2200" dirty="0"/>
          </a:p>
        </p:txBody>
      </p:sp>
      <p:sp>
        <p:nvSpPr>
          <p:cNvPr id="9" name="Gemini"/>
          <p:cNvSpPr/>
          <p:nvPr/>
        </p:nvSpPr>
        <p:spPr>
          <a:xfrm>
            <a:off x="868680" y="3840480"/>
            <a:ext cx="2807208" cy="594360"/>
          </a:xfrm>
          <a:prstGeom prst="roundRect">
            <a:avLst>
              <a:gd name="adj" fmla="val 4615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051560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Gemini</a:t>
            </a:r>
            <a:endParaRPr lang="zh-TW" sz="1600" dirty="0"/>
          </a:p>
        </p:txBody>
      </p:sp>
      <p:sp>
        <p:nvSpPr>
          <p:cNvPr id="11" name="ChatGPT"/>
          <p:cNvSpPr/>
          <p:nvPr/>
        </p:nvSpPr>
        <p:spPr>
          <a:xfrm>
            <a:off x="868680" y="4617720"/>
            <a:ext cx="2807208" cy="594360"/>
          </a:xfrm>
          <a:prstGeom prst="roundRect">
            <a:avLst>
              <a:gd name="adj" fmla="val 4615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051560" y="4617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ChatGPT</a:t>
            </a:r>
            <a:endParaRPr lang="zh-TW" sz="1600" dirty="0"/>
          </a:p>
        </p:txBody>
      </p:sp>
      <p:sp>
        <p:nvSpPr>
          <p:cNvPr id="13" name="AI 聲音"/>
          <p:cNvSpPr/>
          <p:nvPr/>
        </p:nvSpPr>
        <p:spPr>
          <a:xfrm>
            <a:off x="4370832" y="1691640"/>
            <a:ext cx="3447288" cy="4206240"/>
          </a:xfrm>
          <a:prstGeom prst="roundRect">
            <a:avLst>
              <a:gd name="adj" fmla="val 318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圖示底圓"/>
          <p:cNvSpPr/>
          <p:nvPr/>
        </p:nvSpPr>
        <p:spPr>
          <a:xfrm>
            <a:off x="4690872" y="2011680"/>
            <a:ext cx="914400" cy="914400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5" name="Image 1" descr="mus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23113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90872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AI 聲音</a:t>
            </a:r>
            <a:endParaRPr lang="zh-TW" sz="2200" dirty="0"/>
          </a:p>
        </p:txBody>
      </p:sp>
      <p:sp>
        <p:nvSpPr>
          <p:cNvPr id="17" name="配樂"/>
          <p:cNvSpPr/>
          <p:nvPr/>
        </p:nvSpPr>
        <p:spPr>
          <a:xfrm>
            <a:off x="4690872" y="3840480"/>
            <a:ext cx="2807208" cy="594360"/>
          </a:xfrm>
          <a:prstGeom prst="roundRect">
            <a:avLst>
              <a:gd name="adj" fmla="val 4615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873752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配樂：</a:t>
            </a:r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Suno</a:t>
            </a:r>
            <a:endParaRPr lang="zh-TW" sz="1600" dirty="0"/>
          </a:p>
        </p:txBody>
      </p:sp>
      <p:sp>
        <p:nvSpPr>
          <p:cNvPr id="19" name="音效"/>
          <p:cNvSpPr/>
          <p:nvPr/>
        </p:nvSpPr>
        <p:spPr>
          <a:xfrm>
            <a:off x="4690872" y="4617720"/>
            <a:ext cx="2807208" cy="594360"/>
          </a:xfrm>
          <a:prstGeom prst="roundRect">
            <a:avLst>
              <a:gd name="adj" fmla="val 4615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873752" y="4617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音效：</a:t>
            </a:r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ElevenLabs</a:t>
            </a:r>
            <a:endParaRPr lang="zh-TW" sz="1600" dirty="0"/>
          </a:p>
        </p:txBody>
      </p:sp>
      <p:sp>
        <p:nvSpPr>
          <p:cNvPr id="21" name="文案"/>
          <p:cNvSpPr/>
          <p:nvPr/>
        </p:nvSpPr>
        <p:spPr>
          <a:xfrm>
            <a:off x="8193024" y="1691640"/>
            <a:ext cx="3447288" cy="4206240"/>
          </a:xfrm>
          <a:prstGeom prst="roundRect">
            <a:avLst>
              <a:gd name="adj" fmla="val 318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圖示底圓"/>
          <p:cNvSpPr/>
          <p:nvPr/>
        </p:nvSpPr>
        <p:spPr>
          <a:xfrm>
            <a:off x="8513064" y="2011680"/>
            <a:ext cx="914400" cy="914400"/>
          </a:xfrm>
          <a:prstGeom prst="ellipse">
            <a:avLst/>
          </a:prstGeom>
          <a:solidFill>
            <a:schemeClr val="bg1">
              <a:alpha val="85000"/>
            </a:schemeClr>
          </a:solidFill>
          <a:ln/>
        </p:spPr>
      </p:sp>
      <p:pic>
        <p:nvPicPr>
          <p:cNvPr id="23" name="Image 2" descr="筆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22402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513064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bg1"/>
                </a:solidFill>
              </a:rPr>
              <a:t>文案</a:t>
            </a:r>
            <a:endParaRPr lang="zh-TW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8513064" y="3840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1"/>
                </a:solidFill>
              </a:rPr>
              <a:t>建議還是要由你的大腦駕馭 AI，不是放任 AI 天馬行空</a:t>
            </a:r>
            <a:endParaRPr lang="zh-TW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節卡片"/>
          <p:cNvSpPr/>
          <p:nvPr/>
        </p:nvSpPr>
        <p:spPr>
          <a:xfrm>
            <a:off x="640080" y="822960"/>
            <a:ext cx="5029200" cy="3255264"/>
          </a:xfrm>
          <a:prstGeom prst="roundRect">
            <a:avLst>
              <a:gd name="adj" fmla="val 3371"/>
            </a:avLst>
          </a:prstGeom>
          <a:solidFill>
            <a:schemeClr val="bg1">
              <a:alpha val="92000"/>
            </a:schemeClr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1417320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1430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5400" b="1" dirty="0">
                <a:solidFill>
                  <a:schemeClr val="tx1"/>
                </a:solidFill>
              </a:rPr>
              <a:t>D</a:t>
            </a:r>
            <a:endParaRPr lang="zh-TW" sz="5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69748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600" b="1" dirty="0">
                <a:solidFill>
                  <a:schemeClr val="accent2"/>
                </a:solidFill>
              </a:rPr>
              <a:t>Do</a:t>
            </a:r>
            <a:endParaRPr lang="zh-TW" sz="3600" dirty="0"/>
          </a:p>
          <a:p>
            <a:pPr algn="l" indent="0" marL="0">
              <a:buNone/>
            </a:pPr>
            <a:r>
              <a:rPr lang="zh-TW" altLang="en-US" sz="2400" b="1" dirty="0">
                <a:solidFill>
                  <a:schemeClr val="tx2"/>
                </a:solidFill>
              </a:rPr>
              <a:t>執行</a:t>
            </a:r>
            <a:endParaRPr lang="zh-TW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2880360"/>
            <a:ext cx="4343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7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執行：建立專案並同步到 GitHub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8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到你的 AI 仿照 prompt 產生教材</a:t>
            </a:r>
            <a:endParaRPr lang="zh-TW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7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執行：四個步驟建立專案</a:t>
            </a:r>
            <a:endParaRPr lang="zh-TW" sz="3000" dirty="0"/>
          </a:p>
        </p:txBody>
      </p:sp>
      <p:sp>
        <p:nvSpPr>
          <p:cNvPr id="5" name="建立專案概念"/>
          <p:cNvSpPr/>
          <p:nvPr/>
        </p:nvSpPr>
        <p:spPr>
          <a:xfrm>
            <a:off x="548640" y="169164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圖示底圓"/>
          <p:cNvSpPr/>
          <p:nvPr/>
        </p:nvSpPr>
        <p:spPr>
          <a:xfrm>
            <a:off x="822960" y="1965960"/>
            <a:ext cx="868680" cy="86868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7" name="Image 0" descr="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174443"/>
            <a:ext cx="451714" cy="45171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74520" y="19659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2400" b="1" dirty="0">
                <a:solidFill>
                  <a:schemeClr val="accent2"/>
                </a:solidFill>
              </a:rPr>
              <a:t>7.1</a:t>
            </a:r>
            <a:endParaRPr lang="zh-TW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建立專案概念</a:t>
            </a:r>
            <a:endParaRPr lang="zh-TW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886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準備一個電腦上的資料夾</a:t>
            </a:r>
            <a:endParaRPr lang="zh-TW" sz="1400" dirty="0"/>
          </a:p>
        </p:txBody>
      </p:sp>
      <p:pic>
        <p:nvPicPr>
          <p:cNvPr id="11" name="Image 1" descr="下一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3364992"/>
            <a:ext cx="219456" cy="219456"/>
          </a:xfrm>
          <a:prstGeom prst="rect">
            <a:avLst/>
          </a:prstGeom>
        </p:spPr>
      </p:pic>
      <p:sp>
        <p:nvSpPr>
          <p:cNvPr id="12" name="到 GitHub 建立專案"/>
          <p:cNvSpPr/>
          <p:nvPr/>
        </p:nvSpPr>
        <p:spPr>
          <a:xfrm>
            <a:off x="3410712" y="169164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圖示底圓"/>
          <p:cNvSpPr/>
          <p:nvPr/>
        </p:nvSpPr>
        <p:spPr>
          <a:xfrm>
            <a:off x="3685032" y="1965960"/>
            <a:ext cx="868680" cy="86868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14" name="Image 2" descr="githu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15" y="2174443"/>
            <a:ext cx="451714" cy="45171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36592" y="19659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2400" b="1" dirty="0">
                <a:solidFill>
                  <a:schemeClr val="accent2"/>
                </a:solidFill>
              </a:rPr>
              <a:t>7.2</a:t>
            </a:r>
            <a:endParaRPr lang="zh-TW" sz="2400" dirty="0"/>
          </a:p>
        </p:txBody>
      </p:sp>
      <p:sp>
        <p:nvSpPr>
          <p:cNvPr id="16" name="Text 10"/>
          <p:cNvSpPr txBox="1"/>
          <p:nvPr/>
        </p:nvSpPr>
        <p:spPr>
          <a:xfrm>
            <a:off x="3639312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到 GitHub 建立專案</a:t>
            </a:r>
            <a:endParaRPr lang="zh-TW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3639312" y="3886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用 GitHub Desktop clone 到電腦，確認本地資料夾</a:t>
            </a:r>
            <a:endParaRPr lang="zh-TW" sz="1400" dirty="0"/>
          </a:p>
        </p:txBody>
      </p:sp>
      <p:pic>
        <p:nvPicPr>
          <p:cNvPr id="18" name="Image 3" descr="下一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364992"/>
            <a:ext cx="219456" cy="219456"/>
          </a:xfrm>
          <a:prstGeom prst="rect">
            <a:avLst/>
          </a:prstGeom>
        </p:spPr>
      </p:pic>
      <p:sp>
        <p:nvSpPr>
          <p:cNvPr id="19" name="建立你的本地資料夾"/>
          <p:cNvSpPr/>
          <p:nvPr/>
        </p:nvSpPr>
        <p:spPr>
          <a:xfrm>
            <a:off x="6272784" y="169164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圖示底圓"/>
          <p:cNvSpPr/>
          <p:nvPr/>
        </p:nvSpPr>
        <p:spPr>
          <a:xfrm>
            <a:off x="6547104" y="1965960"/>
            <a:ext cx="868680" cy="86868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21" name="Image 4" descr="folderPlu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587" y="2174443"/>
            <a:ext cx="451714" cy="45171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598664" y="19659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2400" b="1" dirty="0">
                <a:solidFill>
                  <a:schemeClr val="accent2"/>
                </a:solidFill>
              </a:rPr>
              <a:t>7.3</a:t>
            </a:r>
            <a:endParaRPr lang="zh-TW" sz="2400" dirty="0"/>
          </a:p>
        </p:txBody>
      </p:sp>
      <p:sp>
        <p:nvSpPr>
          <p:cNvPr id="23" name="Text 15"/>
          <p:cNvSpPr txBox="1"/>
          <p:nvPr/>
        </p:nvSpPr>
        <p:spPr>
          <a:xfrm>
            <a:off x="6501384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建立你的本地資料夾</a:t>
            </a:r>
            <a:endParaRPr lang="zh-TW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6501384" y="3886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把資料檔案分門別類放入</a:t>
            </a:r>
            <a:endParaRPr lang="zh-TW" sz="1400" dirty="0"/>
          </a:p>
        </p:txBody>
      </p:sp>
      <p:pic>
        <p:nvPicPr>
          <p:cNvPr id="25" name="Image 5" descr="下一步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3364992"/>
            <a:ext cx="219456" cy="219456"/>
          </a:xfrm>
          <a:prstGeom prst="rect">
            <a:avLst/>
          </a:prstGeom>
        </p:spPr>
      </p:pic>
      <p:sp>
        <p:nvSpPr>
          <p:cNvPr id="26" name="同步到 GitHub"/>
          <p:cNvSpPr/>
          <p:nvPr/>
        </p:nvSpPr>
        <p:spPr>
          <a:xfrm>
            <a:off x="9134856" y="169164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圖示底圓"/>
          <p:cNvSpPr/>
          <p:nvPr/>
        </p:nvSpPr>
        <p:spPr>
          <a:xfrm>
            <a:off x="9409176" y="1965960"/>
            <a:ext cx="868680" cy="86868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28" name="Image 6" descr="syn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7659" y="2174443"/>
            <a:ext cx="451714" cy="45171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460736" y="19659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2400" b="1" dirty="0">
                <a:solidFill>
                  <a:schemeClr val="accent2"/>
                </a:solidFill>
              </a:rPr>
              <a:t>7.4</a:t>
            </a:r>
            <a:endParaRPr lang="zh-TW" sz="2400" dirty="0"/>
          </a:p>
        </p:txBody>
      </p:sp>
      <p:sp>
        <p:nvSpPr>
          <p:cNvPr id="30" name="Text 20"/>
          <p:cNvSpPr txBox="1"/>
          <p:nvPr/>
        </p:nvSpPr>
        <p:spPr>
          <a:xfrm>
            <a:off x="9363456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同步到 GitHub</a:t>
            </a:r>
            <a:endParaRPr lang="zh-TW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9363456" y="3886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填入本次更新摘要，commit and push</a:t>
            </a:r>
            <a:endParaRPr lang="zh-TW" sz="1400" dirty="0"/>
          </a:p>
        </p:txBody>
      </p:sp>
      <p:sp>
        <p:nvSpPr>
          <p:cNvPr id="32" name="下一步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33" name="Text 23"/>
          <p:cNvSpPr txBox="1"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2"/>
                </a:solidFill>
              </a:rPr>
              <a:t>接下來（第 8 項）：</a:t>
            </a:r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把 prompt 交給 AI，產出可以部署到 Netlify 的教材網頁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7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2"/>
                </a:solidFill>
              </a:rPr>
              <a:t>7.1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建立專案概念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7.1.1　</a:t>
            </a:r>
            <a:pPr indent="0" marL="0"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準備一個電腦上的資料夾</a:t>
            </a:r>
            <a:endParaRPr lang="zh-TW" sz="1800" dirty="0"/>
          </a:p>
        </p:txBody>
      </p:sp>
      <p:sp>
        <p:nvSpPr>
          <p:cNvPr id="6" name="專案資料夾"/>
          <p:cNvSpPr/>
          <p:nvPr/>
        </p:nvSpPr>
        <p:spPr>
          <a:xfrm>
            <a:off x="914400" y="2240280"/>
            <a:ext cx="4937760" cy="868680"/>
          </a:xfrm>
          <a:prstGeom prst="roundRect">
            <a:avLst>
              <a:gd name="adj" fmla="val 12632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7" name="Image 0" descr="資料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231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0" y="23134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專案名稱 ex.</a:t>
            </a:r>
            <a:endParaRPr lang="zh-TW" sz="1600" dirty="0"/>
          </a:p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東大 2026_Step-by-Step</a:t>
            </a:r>
            <a:endParaRPr lang="zh-TW" sz="1600" dirty="0"/>
          </a:p>
        </p:txBody>
      </p:sp>
      <p:sp>
        <p:nvSpPr>
          <p:cNvPr id="9" name="Shape 5"/>
          <p:cNvSpPr/>
          <p:nvPr/>
        </p:nvSpPr>
        <p:spPr>
          <a:xfrm>
            <a:off x="1417320" y="3108960"/>
            <a:ext cx="0" cy="2377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417320" y="3931920"/>
            <a:ext cx="5943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1" name="doc"/>
          <p:cNvSpPr/>
          <p:nvPr/>
        </p:nvSpPr>
        <p:spPr>
          <a:xfrm>
            <a:off x="2103120" y="3520440"/>
            <a:ext cx="27432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資料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7033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8036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doc</a:t>
            </a:r>
            <a:endParaRPr lang="zh-TW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5120640" y="35204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放文字資料，例如課程大綱「課程.txt」</a:t>
            </a:r>
            <a:endParaRPr lang="zh-TW" sz="1600" dirty="0"/>
          </a:p>
        </p:txBody>
      </p:sp>
      <p:sp>
        <p:nvSpPr>
          <p:cNvPr id="15" name="Shape 10"/>
          <p:cNvSpPr/>
          <p:nvPr/>
        </p:nvSpPr>
        <p:spPr>
          <a:xfrm>
            <a:off x="1417320" y="5120640"/>
            <a:ext cx="5943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6" name="resource"/>
          <p:cNvSpPr/>
          <p:nvPr/>
        </p:nvSpPr>
        <p:spPr>
          <a:xfrm>
            <a:off x="2103120" y="4709160"/>
            <a:ext cx="27432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資料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8920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880360" y="4709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resource</a:t>
            </a:r>
            <a:endParaRPr lang="zh-TW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120640" y="47091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放圖片等素材，例如課程主視覺海報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7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2"/>
                </a:solidFill>
              </a:rPr>
              <a:t>7.2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到 GitHub 建立專案</a:t>
            </a:r>
            <a:endParaRPr lang="zh-TW" sz="3000" dirty="0"/>
          </a:p>
        </p:txBody>
      </p:sp>
      <p:sp>
        <p:nvSpPr>
          <p:cNvPr id="5" name="編號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1</a:t>
            </a:r>
            <a:endParaRPr lang="zh-TW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Owner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選擇自己的帳號</a:t>
            </a:r>
            <a:endParaRPr lang="zh-TW" sz="1800" dirty="0"/>
          </a:p>
        </p:txBody>
      </p:sp>
      <p:sp>
        <p:nvSpPr>
          <p:cNvPr id="8" name="編號"/>
          <p:cNvSpPr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2</a:t>
            </a:r>
            <a:endParaRPr lang="zh-TW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77063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Repository name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輸入專案名稱，例：NTTU2026-step-by-step</a:t>
            </a:r>
            <a:endParaRPr lang="zh-TW" sz="1800" dirty="0"/>
          </a:p>
        </p:txBody>
      </p:sp>
      <p:sp>
        <p:nvSpPr>
          <p:cNvPr id="11" name="編號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3</a:t>
            </a:r>
            <a:endParaRPr lang="zh-TW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84962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Choose visibility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選擇 Public</a:t>
            </a:r>
            <a:endParaRPr lang="zh-TW" sz="1800" dirty="0"/>
          </a:p>
        </p:txBody>
      </p:sp>
      <p:sp>
        <p:nvSpPr>
          <p:cNvPr id="14" name="編號"/>
          <p:cNvSpPr/>
          <p:nvPr/>
        </p:nvSpPr>
        <p:spPr>
          <a:xfrm>
            <a:off x="548640" y="49743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4</a:t>
            </a:r>
            <a:endParaRPr lang="zh-TW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92861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Create repository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按下綠色按鈕，建立專案</a:t>
            </a:r>
            <a:endParaRPr lang="zh-TW" sz="1800" dirty="0"/>
          </a:p>
        </p:txBody>
      </p:sp>
      <p:sp>
        <p:nvSpPr>
          <p:cNvPr id="17" name="截圖外框"/>
          <p:cNvSpPr/>
          <p:nvPr/>
        </p:nvSpPr>
        <p:spPr>
          <a:xfrm>
            <a:off x="6405906" y="1417320"/>
            <a:ext cx="4954980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GitHub 建立新專案的畫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626" y="1463040"/>
            <a:ext cx="4863540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7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2"/>
                </a:solidFill>
              </a:rPr>
              <a:t>7.2.1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從 GitHub Desktop clone 下來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508760"/>
            <a:ext cx="7406640" cy="1348625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GitHub Quick setup 畫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7315200" cy="12571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75320" y="1554480"/>
            <a:ext cx="3364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2"/>
                </a:solidFill>
              </a:rPr>
              <a:t>7.2.1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在 Quick setup 點「Set up in GitHub Desktop」</a:t>
            </a:r>
            <a:endParaRPr lang="zh-TW" sz="1600" dirty="0"/>
          </a:p>
        </p:txBody>
      </p:sp>
      <p:sp>
        <p:nvSpPr>
          <p:cNvPr id="8" name="截圖外框"/>
          <p:cNvSpPr/>
          <p:nvPr/>
        </p:nvSpPr>
        <p:spPr>
          <a:xfrm>
            <a:off x="548640" y="3246120"/>
            <a:ext cx="4902615" cy="29260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GitHub Desktop 的 Clone a Repository 視窗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91840"/>
            <a:ext cx="4811175" cy="2834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35040" y="329184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2"/>
                </a:solidFill>
              </a:rPr>
              <a:t>7.2.2</a:t>
            </a:r>
            <a:endParaRPr lang="zh-TW" sz="1600" dirty="0"/>
          </a:p>
          <a:p>
            <a:pPr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確認下載下來後的本地資料夾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Local Path 就是專案在你電腦上的位置，確認後按 Clone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7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2"/>
                </a:solidFill>
              </a:rPr>
              <a:t>7.2.3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下載完成會看到如下畫面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417320"/>
            <a:ext cx="6109540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lone 完成後的 GitHub Desktop 畫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6018100" cy="4663440"/>
          </a:xfrm>
          <a:prstGeom prst="rect">
            <a:avLst/>
          </a:prstGeom>
        </p:spPr>
      </p:pic>
      <p:sp>
        <p:nvSpPr>
          <p:cNvPr id="7" name="Current Repository"/>
          <p:cNvSpPr/>
          <p:nvPr/>
        </p:nvSpPr>
        <p:spPr>
          <a:xfrm>
            <a:off x="7178040" y="1554480"/>
            <a:ext cx="44622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編號"/>
          <p:cNvSpPr/>
          <p:nvPr/>
        </p:nvSpPr>
        <p:spPr>
          <a:xfrm>
            <a:off x="7406640" y="1737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06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zh-TW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1691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Current Repository</a:t>
            </a:r>
            <a:endParaRPr lang="zh-TW" sz="17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目前的專案：NTTU2026-step-by-step</a:t>
            </a:r>
            <a:endParaRPr lang="zh-TW" sz="1700" dirty="0"/>
          </a:p>
        </p:txBody>
      </p:sp>
      <p:sp>
        <p:nvSpPr>
          <p:cNvPr id="11" name="Current Branch"/>
          <p:cNvSpPr/>
          <p:nvPr/>
        </p:nvSpPr>
        <p:spPr>
          <a:xfrm>
            <a:off x="7178040" y="3017520"/>
            <a:ext cx="44622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編號"/>
          <p:cNvSpPr/>
          <p:nvPr/>
        </p:nvSpPr>
        <p:spPr>
          <a:xfrm>
            <a:off x="7406640" y="32004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06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zh-TW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3154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Current Branch</a:t>
            </a:r>
            <a:endParaRPr lang="zh-TW" sz="17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目前的分支：main</a:t>
            </a:r>
            <a:endParaRPr lang="zh-TW" sz="1700" dirty="0"/>
          </a:p>
        </p:txBody>
      </p:sp>
      <p:sp>
        <p:nvSpPr>
          <p:cNvPr id="15" name="No local changes"/>
          <p:cNvSpPr/>
          <p:nvPr/>
        </p:nvSpPr>
        <p:spPr>
          <a:xfrm>
            <a:off x="7178040" y="4480560"/>
            <a:ext cx="44622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編號"/>
          <p:cNvSpPr/>
          <p:nvPr/>
        </p:nvSpPr>
        <p:spPr>
          <a:xfrm>
            <a:off x="7406640" y="46634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06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zh-TW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955280" y="46177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No local changes</a:t>
            </a:r>
            <a:endParaRPr lang="zh-TW" sz="17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資料夾還沒有任何變更</a:t>
            </a:r>
            <a:endParaRPr lang="zh-TW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7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2"/>
                </a:solidFill>
              </a:rPr>
              <a:t>7.3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建立你的本地資料夾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在專案資料夾建立 doc 與 resource</a:t>
            </a:r>
            <a:endParaRPr lang="zh-TW" sz="1600" dirty="0"/>
          </a:p>
        </p:txBody>
      </p:sp>
      <p:sp>
        <p:nvSpPr>
          <p:cNvPr id="6" name="截圖外框"/>
          <p:cNvSpPr/>
          <p:nvPr/>
        </p:nvSpPr>
        <p:spPr>
          <a:xfrm>
            <a:off x="548640" y="1874520"/>
            <a:ext cx="4710918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Finder 中的 doc 與 resource 資料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0240"/>
            <a:ext cx="4619478" cy="1691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3931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2"/>
                </a:solidFill>
              </a:rPr>
              <a:t>7.3.1　</a:t>
            </a:r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把資料檔案分門別類放入</a:t>
            </a:r>
            <a:endParaRPr lang="zh-TW" sz="1600" dirty="0"/>
          </a:p>
        </p:txBody>
      </p:sp>
      <p:sp>
        <p:nvSpPr>
          <p:cNvPr id="9" name="截圖外框"/>
          <p:cNvSpPr/>
          <p:nvPr/>
        </p:nvSpPr>
        <p:spPr>
          <a:xfrm>
            <a:off x="548640" y="4343400"/>
            <a:ext cx="3520032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doc 與 resource 資料夾內的檔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389120"/>
            <a:ext cx="3428592" cy="1691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doc／課程.txt：課程大綱</a:t>
            </a:r>
            <a:endParaRPr lang="zh-TW" sz="1600" dirty="0"/>
          </a:p>
        </p:txBody>
      </p:sp>
      <p:sp>
        <p:nvSpPr>
          <p:cNvPr id="12" name="截圖外框"/>
          <p:cNvSpPr/>
          <p:nvPr/>
        </p:nvSpPr>
        <p:spPr>
          <a:xfrm>
            <a:off x="6263640" y="1874520"/>
            <a:ext cx="3945589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課程.txt 的內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3854149" cy="1691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0936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resource：課程主視覺海報</a:t>
            </a:r>
            <a:endParaRPr lang="zh-TW" sz="1600" dirty="0"/>
          </a:p>
        </p:txBody>
      </p:sp>
      <p:sp>
        <p:nvSpPr>
          <p:cNvPr id="15" name="截圖外框"/>
          <p:cNvSpPr/>
          <p:nvPr/>
        </p:nvSpPr>
        <p:spPr>
          <a:xfrm>
            <a:off x="6263640" y="4343400"/>
            <a:ext cx="3126191" cy="17830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小朋友的寒假國語特攻隊海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389120"/>
            <a:ext cx="3034751" cy="1691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7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2"/>
                </a:solidFill>
              </a:rPr>
              <a:t>7.4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透過 GitHub Desktop 同步到 GitHub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GitHub Desktop 列出新增的檔案</a:t>
            </a:r>
            <a:endParaRPr lang="zh-TW" sz="1600" dirty="0"/>
          </a:p>
        </p:txBody>
      </p:sp>
      <p:sp>
        <p:nvSpPr>
          <p:cNvPr id="6" name="截圖外框"/>
          <p:cNvSpPr/>
          <p:nvPr/>
        </p:nvSpPr>
        <p:spPr>
          <a:xfrm>
            <a:off x="548640" y="1874520"/>
            <a:ext cx="5394960" cy="3244528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GitHub Desktop 列出變更的檔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0240"/>
            <a:ext cx="5303520" cy="31530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2"/>
                </a:solidFill>
              </a:rPr>
              <a:t>7.4.1　</a:t>
            </a:r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填入本次更新摘要</a:t>
            </a:r>
            <a:endParaRPr lang="zh-TW" sz="1600" dirty="0"/>
          </a:p>
        </p:txBody>
      </p:sp>
      <p:sp>
        <p:nvSpPr>
          <p:cNvPr id="9" name="截圖外框"/>
          <p:cNvSpPr/>
          <p:nvPr/>
        </p:nvSpPr>
        <p:spPr>
          <a:xfrm>
            <a:off x="6263640" y="1874520"/>
            <a:ext cx="5394960" cy="3010432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填寫更新摘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20240"/>
            <a:ext cx="5303520" cy="2918992"/>
          </a:xfrm>
          <a:prstGeom prst="rect">
            <a:avLst/>
          </a:prstGeom>
        </p:spPr>
      </p:pic>
      <p:sp>
        <p:nvSpPr>
          <p:cNvPr id="11" name="提示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12" name="Image 2" descr="提示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86984"/>
            <a:ext cx="384048" cy="38404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5440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摘要寫清楚這次改了什麼，日後回頭找版本才看得懂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7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2"/>
                </a:solidFill>
              </a:rPr>
              <a:t>7.4.2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commit and push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463040"/>
            <a:ext cx="7406640" cy="4534853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GitHub Desktop 的 Commit 與 Publish branch 按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7315200" cy="4443413"/>
          </a:xfrm>
          <a:prstGeom prst="rect">
            <a:avLst/>
          </a:prstGeom>
        </p:spPr>
      </p:pic>
      <p:sp>
        <p:nvSpPr>
          <p:cNvPr id="7" name="Commit to main"/>
          <p:cNvSpPr/>
          <p:nvPr/>
        </p:nvSpPr>
        <p:spPr>
          <a:xfrm>
            <a:off x="8229600" y="1554480"/>
            <a:ext cx="34107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編號"/>
          <p:cNvSpPr/>
          <p:nvPr/>
        </p:nvSpPr>
        <p:spPr>
          <a:xfrm>
            <a:off x="8412480" y="17556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41248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1</a:t>
            </a:r>
            <a:endParaRPr lang="zh-TW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6112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Commit to main</a:t>
            </a:r>
            <a:endParaRPr lang="zh-TW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把這次的變更存成一個版本</a:t>
            </a:r>
            <a:endParaRPr lang="zh-TW" sz="1500" dirty="0"/>
          </a:p>
        </p:txBody>
      </p:sp>
      <p:sp>
        <p:nvSpPr>
          <p:cNvPr id="12" name="Publish branch"/>
          <p:cNvSpPr/>
          <p:nvPr/>
        </p:nvSpPr>
        <p:spPr>
          <a:xfrm>
            <a:off x="8229600" y="3383280"/>
            <a:ext cx="34107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編號"/>
          <p:cNvSpPr/>
          <p:nvPr/>
        </p:nvSpPr>
        <p:spPr>
          <a:xfrm>
            <a:off x="8412480" y="35844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41248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2</a:t>
            </a:r>
            <a:endParaRPr lang="zh-TW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96112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Publish branch</a:t>
            </a:r>
            <a:endParaRPr lang="zh-TW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8412480" y="4114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把專案推上 GitHub；之後會變成 Push origin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8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到你的 AI 仿照以下的 prompt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ChatGPT、Claude 或 Gemini 都可以　｜　完整 prompt 文字放在這一頁的備忘稿，可直接複製</a:t>
            </a:r>
            <a:endParaRPr lang="zh-TW" sz="1400" dirty="0"/>
          </a:p>
        </p:txBody>
      </p:sp>
      <p:sp>
        <p:nvSpPr>
          <p:cNvPr id="6" name="角色設定"/>
          <p:cNvSpPr/>
          <p:nvPr/>
        </p:nvSpPr>
        <p:spPr>
          <a:xfrm>
            <a:off x="548640" y="1965960"/>
            <a:ext cx="4480560" cy="4114800"/>
          </a:xfrm>
          <a:prstGeom prst="roundRect">
            <a:avLst>
              <a:gd name="adj" fmla="val 2667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7" name="圖示底圓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8" name="Image 0" descr="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38109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1945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小朋友的寒假國語特攻隊</a:t>
            </a:r>
            <a:endParaRPr lang="zh-TW" sz="1600" dirty="0"/>
          </a:p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角色設定</a:t>
            </a:r>
            <a:endParaRPr lang="zh-TW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4612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你是一位熟悉台灣國小國語文教學的兒童教材設計師，擅長將生字、詞語與成語故事轉化為有趣的冒險闖關遊戲。</a:t>
            </a:r>
            <a:endParaRPr lang="zh-TW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965960"/>
          <a:ext cx="62910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873752"/>
              </a:tblGrid>
              <a:tr h="502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課程參數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教學年級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國小三年級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人物角色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小學生＋可愛動物夥伴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背景畫風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日系 Q 版卡通，色彩鮮明、活潑可愛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學習情境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冒險闖關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教材難度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適中，循序漸進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題型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看圖猜謎＋選擇題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輸出內容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情境圖生成描述、生字詞語解釋、互動測驗及答案解析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8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prompt 內容：第一課與第二課</a:t>
            </a:r>
            <a:endParaRPr lang="zh-TW" sz="3000" dirty="0"/>
          </a:p>
        </p:txBody>
      </p:sp>
      <p:sp>
        <p:nvSpPr>
          <p:cNvPr id="5" name="第一課：說文解字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圖示底圓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7" name="Image 0" descr="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737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第一課：說文解字</a:t>
            </a:r>
            <a:endParaRPr lang="zh-TW" sz="2200" dirty="0"/>
          </a:p>
        </p:txBody>
      </p:sp>
      <p:sp>
        <p:nvSpPr>
          <p:cNvPr id="9" name="編號"/>
          <p:cNvSpPr/>
          <p:nvPr/>
        </p:nvSpPr>
        <p:spPr>
          <a:xfrm>
            <a:off x="822960" y="27340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2296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6974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選出 3～5 個適合國小三年級的目標生字。</a:t>
            </a:r>
            <a:endParaRPr lang="zh-TW" sz="1400" dirty="0"/>
          </a:p>
        </p:txBody>
      </p:sp>
      <p:sp>
        <p:nvSpPr>
          <p:cNvPr id="12" name="編號"/>
          <p:cNvSpPr/>
          <p:nvPr/>
        </p:nvSpPr>
        <p:spPr>
          <a:xfrm>
            <a:off x="822960" y="34107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296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33741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將生字融入一篇約 80～120 字的趣味短文。</a:t>
            </a:r>
            <a:endParaRPr lang="zh-TW" sz="1400" dirty="0"/>
          </a:p>
        </p:txBody>
      </p:sp>
      <p:sp>
        <p:nvSpPr>
          <p:cNvPr id="15" name="編號"/>
          <p:cNvSpPr/>
          <p:nvPr/>
        </p:nvSpPr>
        <p:spPr>
          <a:xfrm>
            <a:off x="822960" y="408736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2296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325880" y="40507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設計日系 Q 版卡通情境圖，呈現短文中的人物、場景與事件。</a:t>
            </a:r>
            <a:endParaRPr lang="zh-TW" sz="1400" dirty="0"/>
          </a:p>
        </p:txBody>
      </p:sp>
      <p:sp>
        <p:nvSpPr>
          <p:cNvPr id="18" name="編號"/>
          <p:cNvSpPr/>
          <p:nvPr/>
        </p:nvSpPr>
        <p:spPr>
          <a:xfrm>
            <a:off x="822960" y="47640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22960" y="4764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325880" y="47274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解釋每個生字的字義、常用詞語，並提供簡單例句。</a:t>
            </a:r>
            <a:endParaRPr lang="zh-TW" sz="1400" dirty="0"/>
          </a:p>
        </p:txBody>
      </p:sp>
      <p:sp>
        <p:nvSpPr>
          <p:cNvPr id="21" name="編號"/>
          <p:cNvSpPr/>
          <p:nvPr/>
        </p:nvSpPr>
        <p:spPr>
          <a:xfrm>
            <a:off x="822960" y="54406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2296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325880" y="54041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設計 2 道選擇題，測試學生對生字或詞語的理解。</a:t>
            </a:r>
            <a:endParaRPr lang="zh-TW" sz="1400" dirty="0"/>
          </a:p>
        </p:txBody>
      </p:sp>
      <p:sp>
        <p:nvSpPr>
          <p:cNvPr id="24" name="第二課：成語猜謎"/>
          <p:cNvSpPr/>
          <p:nvPr/>
        </p:nvSpPr>
        <p:spPr>
          <a:xfrm>
            <a:off x="6245352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圖示底圓"/>
          <p:cNvSpPr/>
          <p:nvPr/>
        </p:nvSpPr>
        <p:spPr>
          <a:xfrm>
            <a:off x="6519672" y="1737360"/>
            <a:ext cx="731520" cy="73152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26" name="Image 1" descr="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1912925"/>
            <a:ext cx="380390" cy="38039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388352" y="1737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第二課：成語猜謎</a:t>
            </a:r>
            <a:endParaRPr lang="zh-TW" sz="2200" dirty="0"/>
          </a:p>
        </p:txBody>
      </p:sp>
      <p:sp>
        <p:nvSpPr>
          <p:cNvPr id="28" name="編號"/>
          <p:cNvSpPr/>
          <p:nvPr/>
        </p:nvSpPr>
        <p:spPr>
          <a:xfrm>
            <a:off x="6519672" y="27340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519672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022592" y="26974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選出 1～2 個適合國小三年級的成語。</a:t>
            </a:r>
            <a:endParaRPr lang="zh-TW" sz="1400" dirty="0"/>
          </a:p>
        </p:txBody>
      </p:sp>
      <p:sp>
        <p:nvSpPr>
          <p:cNvPr id="31" name="編號"/>
          <p:cNvSpPr/>
          <p:nvPr/>
        </p:nvSpPr>
        <p:spPr>
          <a:xfrm>
            <a:off x="6519672" y="34107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51967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7022592" y="33741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提供正確的成語典故或故事背景。</a:t>
            </a:r>
            <a:endParaRPr lang="zh-TW" sz="1400" dirty="0"/>
          </a:p>
        </p:txBody>
      </p:sp>
      <p:sp>
        <p:nvSpPr>
          <p:cNvPr id="34" name="編號"/>
          <p:cNvSpPr/>
          <p:nvPr/>
        </p:nvSpPr>
        <p:spPr>
          <a:xfrm>
            <a:off x="6519672" y="408736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519672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7022592" y="40507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將故事轉化為一幅有明確視覺線索的情境圖，不直接顯示成語答案。</a:t>
            </a:r>
            <a:endParaRPr lang="zh-TW" sz="1400" dirty="0"/>
          </a:p>
        </p:txBody>
      </p:sp>
      <p:sp>
        <p:nvSpPr>
          <p:cNvPr id="37" name="編號"/>
          <p:cNvSpPr/>
          <p:nvPr/>
        </p:nvSpPr>
        <p:spPr>
          <a:xfrm>
            <a:off x="6519672" y="47640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519672" y="4764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7022592" y="47274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讓學生先看圖猜成語，再揭曉答案。</a:t>
            </a:r>
            <a:endParaRPr lang="zh-TW" sz="1400" dirty="0"/>
          </a:p>
        </p:txBody>
      </p:sp>
      <p:sp>
        <p:nvSpPr>
          <p:cNvPr id="40" name="編號"/>
          <p:cNvSpPr/>
          <p:nvPr/>
        </p:nvSpPr>
        <p:spPr>
          <a:xfrm>
            <a:off x="6519672" y="54406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6519672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7022592" y="54041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解釋成語意思，提供生活例句及 2 道選擇題。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8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prompt 內容：輸出格式與生成規則</a:t>
            </a:r>
            <a:endParaRPr lang="zh-TW" sz="3000" dirty="0"/>
          </a:p>
        </p:txBody>
      </p:sp>
      <p:sp>
        <p:nvSpPr>
          <p:cNvPr id="5" name="教材輸出格式"/>
          <p:cNvSpPr/>
          <p:nvPr/>
        </p:nvSpPr>
        <p:spPr>
          <a:xfrm>
            <a:off x="548640" y="1554480"/>
            <a:ext cx="45720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教材輸出格式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每一課依序輸出：</a:t>
            </a:r>
            <a:endParaRPr lang="zh-TW" sz="1600" dirty="0"/>
          </a:p>
        </p:txBody>
      </p:sp>
      <p:sp>
        <p:nvSpPr>
          <p:cNvPr id="7" name="編號"/>
          <p:cNvSpPr/>
          <p:nvPr/>
        </p:nvSpPr>
        <p:spPr>
          <a:xfrm>
            <a:off x="822960" y="26060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A</a:t>
            </a:r>
            <a:endParaRPr lang="zh-TW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課程標題與闖關任務</a:t>
            </a:r>
            <a:endParaRPr lang="zh-TW" sz="1600" dirty="0"/>
          </a:p>
        </p:txBody>
      </p:sp>
      <p:sp>
        <p:nvSpPr>
          <p:cNvPr id="10" name="編號"/>
          <p:cNvSpPr/>
          <p:nvPr/>
        </p:nvSpPr>
        <p:spPr>
          <a:xfrm>
            <a:off x="822960" y="317296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B</a:t>
            </a:r>
            <a:endParaRPr lang="zh-TW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情境圖生成描述</a:t>
            </a:r>
            <a:endParaRPr lang="zh-TW" sz="1600" dirty="0"/>
          </a:p>
        </p:txBody>
      </p:sp>
      <p:sp>
        <p:nvSpPr>
          <p:cNvPr id="13" name="編號"/>
          <p:cNvSpPr/>
          <p:nvPr/>
        </p:nvSpPr>
        <p:spPr>
          <a:xfrm>
            <a:off x="822960" y="373989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C</a:t>
            </a:r>
            <a:endParaRPr lang="zh-TW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739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短文或成語故事</a:t>
            </a:r>
            <a:endParaRPr lang="zh-TW" sz="1600" dirty="0"/>
          </a:p>
        </p:txBody>
      </p:sp>
      <p:sp>
        <p:nvSpPr>
          <p:cNvPr id="16" name="編號"/>
          <p:cNvSpPr/>
          <p:nvPr/>
        </p:nvSpPr>
        <p:spPr>
          <a:xfrm>
            <a:off x="822960" y="43068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D</a:t>
            </a:r>
            <a:endParaRPr lang="zh-TW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306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生字詞語或成語解釋</a:t>
            </a:r>
            <a:endParaRPr lang="zh-TW" sz="1600" dirty="0"/>
          </a:p>
        </p:txBody>
      </p:sp>
      <p:sp>
        <p:nvSpPr>
          <p:cNvPr id="19" name="編號"/>
          <p:cNvSpPr/>
          <p:nvPr/>
        </p:nvSpPr>
        <p:spPr>
          <a:xfrm>
            <a:off x="822960" y="48737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E</a:t>
            </a:r>
            <a:endParaRPr lang="zh-TW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873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互動選擇題</a:t>
            </a:r>
            <a:endParaRPr lang="zh-TW" sz="1600" dirty="0"/>
          </a:p>
        </p:txBody>
      </p:sp>
      <p:sp>
        <p:nvSpPr>
          <p:cNvPr id="22" name="編號"/>
          <p:cNvSpPr/>
          <p:nvPr/>
        </p:nvSpPr>
        <p:spPr>
          <a:xfrm>
            <a:off x="822960" y="54406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F</a:t>
            </a:r>
            <a:endParaRPr lang="zh-TW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32588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正確答案與簡短解析</a:t>
            </a:r>
            <a:endParaRPr lang="zh-TW" sz="1600" dirty="0"/>
          </a:p>
        </p:txBody>
      </p:sp>
      <p:sp>
        <p:nvSpPr>
          <p:cNvPr id="25" name="生成規則"/>
          <p:cNvSpPr/>
          <p:nvPr/>
        </p:nvSpPr>
        <p:spPr>
          <a:xfrm>
            <a:off x="5440680" y="1554480"/>
            <a:ext cx="6199632" cy="4572000"/>
          </a:xfrm>
          <a:prstGeom prst="roundRect">
            <a:avLst>
              <a:gd name="adj" fmla="val 2400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715000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生成規則</a:t>
            </a:r>
            <a:endParaRPr lang="zh-TW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715000" y="2377440"/>
            <a:ext cx="57607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全程使用台灣繁體中文，必要時加入注音。</a:t>
            </a:r>
            <a:endParaRPr lang="zh-TW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用詞、句長及題目難度符合國小三年級程度。</a:t>
            </a:r>
            <a:endParaRPr lang="zh-TW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成語典故與詞義必須正確，不可捏造故事來源。</a:t>
            </a:r>
            <a:endParaRPr lang="zh-TW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圖片要有清楚的視覺焦點，人物造型與畫風保持一致。</a:t>
            </a:r>
            <a:endParaRPr lang="zh-TW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猜謎圖片不得直接出現答案文字。</a:t>
            </a:r>
            <a:endParaRPr lang="zh-TW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題目須有明確答案，錯誤選項應合理且符合學習程度。</a:t>
            </a:r>
            <a:endParaRPr lang="zh-TW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zh-TW" altLang="en-US" sz="1600" dirty="0">
                <a:solidFill>
                  <a:schemeClr val="tx1"/>
                </a:solidFill>
              </a:rPr>
              <a:t>內容以 POC 示範為主，不需要生成完整教科書。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8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prompt 內容：成品形式與相關資源</a:t>
            </a:r>
            <a:endParaRPr lang="zh-TW" sz="3000" dirty="0"/>
          </a:p>
        </p:txBody>
      </p:sp>
      <p:sp>
        <p:nvSpPr>
          <p:cNvPr id="5" name="成品形式"/>
          <p:cNvSpPr/>
          <p:nvPr/>
        </p:nvSpPr>
        <p:spPr>
          <a:xfrm>
            <a:off x="548640" y="1554480"/>
            <a:ext cx="4572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圖示底圓"/>
          <p:cNvSpPr/>
          <p:nvPr/>
        </p:nvSpPr>
        <p:spPr>
          <a:xfrm>
            <a:off x="777240" y="1755648"/>
            <a:ext cx="685800" cy="68580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7" name="Image 0" descr="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20240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755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交代成品形式</a:t>
            </a:r>
            <a:endParaRPr lang="zh-TW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606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產出完整可以執行，部署到 Netlify 的 HTML 成品，包含圖檔、CSS、JS 程式與動態效果等等</a:t>
            </a:r>
            <a:endParaRPr lang="zh-TW" sz="1600" dirty="0"/>
          </a:p>
        </p:txBody>
      </p:sp>
      <p:sp>
        <p:nvSpPr>
          <p:cNvPr id="10" name="相關資源"/>
          <p:cNvSpPr/>
          <p:nvPr/>
        </p:nvSpPr>
        <p:spPr>
          <a:xfrm>
            <a:off x="548640" y="402336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圖示底圓"/>
          <p:cNvSpPr/>
          <p:nvPr/>
        </p:nvSpPr>
        <p:spPr>
          <a:xfrm>
            <a:off x="777240" y="4206240"/>
            <a:ext cx="685800" cy="685800"/>
          </a:xfrm>
          <a:prstGeom prst="ellipse">
            <a:avLst/>
          </a:prstGeom>
          <a:solidFill>
            <a:schemeClr val="accent2">
              <a:alpha val="16000"/>
            </a:schemeClr>
          </a:solidFill>
          <a:ln/>
        </p:spPr>
      </p:sp>
      <p:pic>
        <p:nvPicPr>
          <p:cNvPr id="12" name="Image 1" descr="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37083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4206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附上相關資源</a:t>
            </a:r>
            <a:endParaRPr lang="zh-TW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50292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TW" altLang="en-US" sz="1600" u="sng" dirty="0">
                <a:solidFill>
                  <a:schemeClr val="accent1"/>
                </a:solidFill>
                <a:hlinkClick r:id="rId3" invalidUrl="" action="" tgtFrame="" tooltip="教育部小學生字詞彙表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教育部小學生字詞彙表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600" u="sng" dirty="0">
                <a:solidFill>
                  <a:schemeClr val="accent1"/>
                </a:solidFill>
                <a:hlinkClick r:id="rId4" invalidUrl="" action="" tgtFrame="" tooltip="教育部語文資源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教育部語文資源</a:t>
            </a:r>
            <a:endParaRPr lang="zh-TW" sz="1600" dirty="0"/>
          </a:p>
        </p:txBody>
      </p:sp>
      <p:sp>
        <p:nvSpPr>
          <p:cNvPr id="15" name="截圖外框"/>
          <p:cNvSpPr/>
          <p:nvPr/>
        </p:nvSpPr>
        <p:spPr>
          <a:xfrm>
            <a:off x="5440680" y="1554480"/>
            <a:ext cx="6245352" cy="3432135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在 Claude 貼上 prompt 的畫面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600200"/>
            <a:ext cx="6153912" cy="33406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5120640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範例：把 prompt 貼進 Claude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節卡片"/>
          <p:cNvSpPr/>
          <p:nvPr/>
        </p:nvSpPr>
        <p:spPr>
          <a:xfrm>
            <a:off x="640080" y="822960"/>
            <a:ext cx="5029200" cy="4297680"/>
          </a:xfrm>
          <a:prstGeom prst="roundRect">
            <a:avLst>
              <a:gd name="adj" fmla="val 2553"/>
            </a:avLst>
          </a:prstGeom>
          <a:solidFill>
            <a:schemeClr val="bg1">
              <a:alpha val="92000"/>
            </a:schemeClr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1417320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1430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5400" b="1" dirty="0">
                <a:solidFill>
                  <a:schemeClr val="tx1"/>
                </a:solidFill>
              </a:rPr>
              <a:t>C</a:t>
            </a:r>
            <a:endParaRPr lang="zh-TW" sz="5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69748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600" b="1" dirty="0">
                <a:solidFill>
                  <a:schemeClr val="accent3"/>
                </a:solidFill>
              </a:rPr>
              <a:t>Check</a:t>
            </a:r>
            <a:endParaRPr lang="zh-TW" sz="3600" dirty="0"/>
          </a:p>
          <a:p>
            <a:pPr algn="l" indent="0" marL="0">
              <a:buNone/>
            </a:pPr>
            <a:r>
              <a:rPr lang="zh-TW" altLang="en-US" sz="2400" b="1" dirty="0">
                <a:solidFill>
                  <a:schemeClr val="tx2"/>
                </a:solidFill>
              </a:rPr>
              <a:t>查核</a:t>
            </a:r>
            <a:endParaRPr lang="zh-TW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2880360"/>
            <a:ext cx="4343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9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先看一下你的 AI 口述的工作過程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10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部署到 Netlify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11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在你的 AI 下這樣的指令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12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檢查 Netlify 狀態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13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Enjoy your own achievement</a:t>
            </a:r>
            <a:endParaRPr lang="zh-TW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9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先看一下你的 AI 口述的工作過程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508760"/>
            <a:ext cx="6492240" cy="1671486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AI 回報教育部網站無法連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6400800" cy="1580046"/>
          </a:xfrm>
          <a:prstGeom prst="rect">
            <a:avLst/>
          </a:prstGeom>
        </p:spPr>
      </p:pic>
      <p:sp>
        <p:nvSpPr>
          <p:cNvPr id="7" name="截圖外框"/>
          <p:cNvSpPr/>
          <p:nvPr/>
        </p:nvSpPr>
        <p:spPr>
          <a:xfrm>
            <a:off x="548640" y="3383280"/>
            <a:ext cx="6492240" cy="2775906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AI 回報插圖修正進度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9000"/>
            <a:ext cx="6400800" cy="2684466"/>
          </a:xfrm>
          <a:prstGeom prst="rect">
            <a:avLst/>
          </a:prstGeom>
        </p:spPr>
      </p:pic>
      <p:sp>
        <p:nvSpPr>
          <p:cNvPr id="9" name="素材來源連不上時"/>
          <p:cNvSpPr/>
          <p:nvPr/>
        </p:nvSpPr>
        <p:spPr>
          <a:xfrm>
            <a:off x="7406640" y="1554480"/>
            <a:ext cx="4233672" cy="1600200"/>
          </a:xfrm>
          <a:prstGeom prst="roundRect">
            <a:avLst>
              <a:gd name="adj" fmla="val 6857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7635240" y="16916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素材來源連不上時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AI 改用三年級常見生字，並在說明中註明 → 檢查替代方案是否合理</a:t>
            </a:r>
            <a:endParaRPr lang="zh-TW" sz="1600" dirty="0"/>
          </a:p>
        </p:txBody>
      </p:sp>
      <p:sp>
        <p:nvSpPr>
          <p:cNvPr id="11" name="插圖逐張檢查"/>
          <p:cNvSpPr/>
          <p:nvPr/>
        </p:nvSpPr>
        <p:spPr>
          <a:xfrm>
            <a:off x="7406640" y="3429000"/>
            <a:ext cx="4233672" cy="2651760"/>
          </a:xfrm>
          <a:prstGeom prst="roundRect">
            <a:avLst>
              <a:gd name="adj" fmla="val 4138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635240" y="35661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插圖逐張檢查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AI 畫完角色與情境圖後，逐張找出問題並修正（例如人物被裁掉、位置不對）→ 檢查畫風與人物造型是否一致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9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AI 的工作過程：程式與畫面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508760"/>
            <a:ext cx="11091672" cy="2153984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AI 回報修正程式錯誤與測試進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11000232" cy="2062543"/>
          </a:xfrm>
          <a:prstGeom prst="rect">
            <a:avLst/>
          </a:prstGeom>
        </p:spPr>
      </p:pic>
      <p:sp>
        <p:nvSpPr>
          <p:cNvPr id="7" name="修正程式錯誤"/>
          <p:cNvSpPr/>
          <p:nvPr/>
        </p:nvSpPr>
        <p:spPr>
          <a:xfrm>
            <a:off x="548640" y="4069080"/>
            <a:ext cx="344728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圖示底圓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chemeClr val="accent3">
              <a:alpha val="16000"/>
            </a:schemeClr>
          </a:solidFill>
          <a:ln/>
        </p:spPr>
      </p:sp>
      <p:pic>
        <p:nvPicPr>
          <p:cNvPr id="9" name="Image 1" descr="b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440557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修正程式錯誤</a:t>
            </a:r>
            <a:endParaRPr lang="zh-TW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找出兩個 CSS 錯誤：圖片比例跑掉、主畫面出現多餘的焦點框，並修正</a:t>
            </a:r>
            <a:endParaRPr lang="zh-TW" sz="1400" dirty="0"/>
          </a:p>
        </p:txBody>
      </p:sp>
      <p:sp>
        <p:nvSpPr>
          <p:cNvPr id="12" name="完整闖關一次"/>
          <p:cNvSpPr/>
          <p:nvPr/>
        </p:nvSpPr>
        <p:spPr>
          <a:xfrm>
            <a:off x="4370832" y="4069080"/>
            <a:ext cx="344728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圖示底圓"/>
          <p:cNvSpPr/>
          <p:nvPr/>
        </p:nvSpPr>
        <p:spPr>
          <a:xfrm>
            <a:off x="4599432" y="4251960"/>
            <a:ext cx="640080" cy="640080"/>
          </a:xfrm>
          <a:prstGeom prst="ellipse">
            <a:avLst/>
          </a:prstGeom>
          <a:solidFill>
            <a:schemeClr val="accent3">
              <a:alpha val="16000"/>
            </a:schemeClr>
          </a:solidFill>
          <a:ln/>
        </p:spPr>
      </p:sp>
      <p:pic>
        <p:nvPicPr>
          <p:cNvPr id="14" name="Image 2" descr="gamep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51" y="440557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76672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完整闖關一次</a:t>
            </a:r>
            <a:endParaRPr lang="zh-TW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4599432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兩課、星星、徽章、證書、教師版都正常，沒有錯誤</a:t>
            </a:r>
            <a:endParaRPr lang="zh-TW" sz="1400" dirty="0"/>
          </a:p>
        </p:txBody>
      </p:sp>
      <p:sp>
        <p:nvSpPr>
          <p:cNvPr id="17" name="檢查手機版畫面"/>
          <p:cNvSpPr/>
          <p:nvPr/>
        </p:nvSpPr>
        <p:spPr>
          <a:xfrm>
            <a:off x="8193024" y="4069080"/>
            <a:ext cx="344728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圖示底圓"/>
          <p:cNvSpPr/>
          <p:nvPr/>
        </p:nvSpPr>
        <p:spPr>
          <a:xfrm>
            <a:off x="8421624" y="4251960"/>
            <a:ext cx="640080" cy="640080"/>
          </a:xfrm>
          <a:prstGeom prst="ellipse">
            <a:avLst/>
          </a:prstGeom>
          <a:solidFill>
            <a:schemeClr val="accent3">
              <a:alpha val="16000"/>
            </a:schemeClr>
          </a:solidFill>
          <a:ln/>
        </p:spPr>
      </p:sp>
      <p:pic>
        <p:nvPicPr>
          <p:cNvPr id="19" name="Image 3" descr="mobi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243" y="4405579"/>
            <a:ext cx="332842" cy="33284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198864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檢查手機版畫面</a:t>
            </a:r>
            <a:endParaRPr lang="zh-TW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8421624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確認在手機上也能正常操作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9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AI 的工作過程：完成的手機版畫面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右圖由左到右，是成品在手機上的四個畫面</a:t>
            </a:r>
            <a:endParaRPr lang="zh-TW" sz="1600" dirty="0"/>
          </a:p>
        </p:txBody>
      </p:sp>
      <p:sp>
        <p:nvSpPr>
          <p:cNvPr id="6" name="編號"/>
          <p:cNvSpPr/>
          <p:nvPr/>
        </p:nvSpPr>
        <p:spPr>
          <a:xfrm>
            <a:off x="594360" y="210312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1</a:t>
            </a:r>
            <a:endParaRPr lang="zh-TW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011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首頁與闖關地圖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兩課的入口與星星進度</a:t>
            </a:r>
            <a:endParaRPr lang="zh-TW" sz="1800" dirty="0"/>
          </a:p>
        </p:txBody>
      </p:sp>
      <p:sp>
        <p:nvSpPr>
          <p:cNvPr id="9" name="編號"/>
          <p:cNvSpPr/>
          <p:nvPr/>
        </p:nvSpPr>
        <p:spPr>
          <a:xfrm>
            <a:off x="594360" y="301752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2</a:t>
            </a:r>
            <a:endParaRPr lang="zh-TW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9260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第一課：情境圖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在圖中找出藏起來的生字</a:t>
            </a:r>
            <a:endParaRPr lang="zh-TW" sz="1800" dirty="0"/>
          </a:p>
        </p:txBody>
      </p:sp>
      <p:sp>
        <p:nvSpPr>
          <p:cNvPr id="12" name="編號"/>
          <p:cNvSpPr/>
          <p:nvPr/>
        </p:nvSpPr>
        <p:spPr>
          <a:xfrm>
            <a:off x="594360" y="393192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3931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3</a:t>
            </a:r>
            <a:endParaRPr lang="zh-TW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840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第一課：生字解說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字音、部首、筆畫、字義、常用詞語與例句</a:t>
            </a:r>
            <a:endParaRPr lang="zh-TW" sz="1800" dirty="0"/>
          </a:p>
        </p:txBody>
      </p:sp>
      <p:sp>
        <p:nvSpPr>
          <p:cNvPr id="15" name="編號"/>
          <p:cNvSpPr/>
          <p:nvPr/>
        </p:nvSpPr>
        <p:spPr>
          <a:xfrm>
            <a:off x="594360" y="484632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4846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4</a:t>
            </a:r>
            <a:endParaRPr lang="zh-TW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754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第二課：看圖猜成語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看情境圖，從四個選項選出成語</a:t>
            </a:r>
            <a:endParaRPr lang="zh-TW" sz="1800" dirty="0"/>
          </a:p>
        </p:txBody>
      </p:sp>
      <p:sp>
        <p:nvSpPr>
          <p:cNvPr id="18" name="提示"/>
          <p:cNvSpPr/>
          <p:nvPr/>
        </p:nvSpPr>
        <p:spPr>
          <a:xfrm>
            <a:off x="548640" y="5623560"/>
            <a:ext cx="6583680" cy="502920"/>
          </a:xfrm>
          <a:prstGeom prst="roundRect">
            <a:avLst>
              <a:gd name="adj" fmla="val 21818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56235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用小朋友的角度從頭玩到尾，檢查是否好懂、好操作</a:t>
            </a:r>
            <a:endParaRPr lang="zh-TW" sz="1500" dirty="0"/>
          </a:p>
        </p:txBody>
      </p:sp>
      <p:sp>
        <p:nvSpPr>
          <p:cNvPr id="20" name="截圖外框"/>
          <p:cNvSpPr/>
          <p:nvPr/>
        </p:nvSpPr>
        <p:spPr>
          <a:xfrm>
            <a:off x="7839296" y="1417320"/>
            <a:ext cx="3846736" cy="475488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成品在手機上的四個畫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5016" y="1463040"/>
            <a:ext cx="3755296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10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3"/>
                </a:solidFill>
              </a:rPr>
              <a:t>10.1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部署之前的留意：目前在哪個 branch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554480"/>
            <a:ext cx="6675120" cy="894328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AI 指令介面顯示目前的 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583680" cy="8028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606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AI 目前在開發分支：</a:t>
            </a:r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claude/happy-noether-7k5hvl</a:t>
            </a:r>
            <a:endParaRPr lang="zh-TW" sz="1500" dirty="0"/>
          </a:p>
        </p:txBody>
      </p:sp>
      <p:sp>
        <p:nvSpPr>
          <p:cNvPr id="8" name="分支示意圖"/>
          <p:cNvSpPr/>
          <p:nvPr/>
        </p:nvSpPr>
        <p:spPr>
          <a:xfrm>
            <a:off x="548640" y="3154680"/>
            <a:ext cx="66751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main</a:t>
            </a:r>
            <a:endParaRPr lang="zh-TW" sz="1500" dirty="0"/>
          </a:p>
        </p:txBody>
      </p:sp>
      <p:sp>
        <p:nvSpPr>
          <p:cNvPr id="10" name="Shape 6"/>
          <p:cNvSpPr/>
          <p:nvPr/>
        </p:nvSpPr>
        <p:spPr>
          <a:xfrm>
            <a:off x="1645920" y="3703320"/>
            <a:ext cx="5303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697480" y="3703320"/>
            <a:ext cx="640080" cy="1371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37560" y="5074920"/>
            <a:ext cx="2011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5349240" y="3703320"/>
            <a:ext cx="640080" cy="13716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14" name="版本"/>
          <p:cNvSpPr/>
          <p:nvPr/>
        </p:nvSpPr>
        <p:spPr>
          <a:xfrm>
            <a:off x="1801368" y="3584448"/>
            <a:ext cx="237744" cy="23774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版本"/>
          <p:cNvSpPr/>
          <p:nvPr/>
        </p:nvSpPr>
        <p:spPr>
          <a:xfrm>
            <a:off x="2578608" y="3584448"/>
            <a:ext cx="237744" cy="23774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版本"/>
          <p:cNvSpPr/>
          <p:nvPr/>
        </p:nvSpPr>
        <p:spPr>
          <a:xfrm>
            <a:off x="3675888" y="4956048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版本"/>
          <p:cNvSpPr/>
          <p:nvPr/>
        </p:nvSpPr>
        <p:spPr>
          <a:xfrm>
            <a:off x="4544568" y="4956048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版本"/>
          <p:cNvSpPr/>
          <p:nvPr/>
        </p:nvSpPr>
        <p:spPr>
          <a:xfrm>
            <a:off x="5824728" y="3538728"/>
            <a:ext cx="329184" cy="329184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29184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AI 在這裡產生網站</a:t>
            </a:r>
            <a:endParaRPr lang="zh-TW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0" y="4114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第 11 項</a:t>
            </a:r>
            <a:endParaRPr lang="zh-TW" sz="1200" dirty="0"/>
          </a:p>
          <a:p>
            <a:pPr indent="0" marL="0">
              <a:buNone/>
            </a:pPr>
            <a:r>
              <a:rPr lang="zh-TW" altLang="en-US" sz="1200" dirty="0">
                <a:solidFill>
                  <a:schemeClr val="tx2"/>
                </a:solidFill>
              </a:rPr>
              <a:t>合併回 main</a:t>
            </a:r>
            <a:endParaRPr lang="zh-TW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02920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Netlify 部署 main</a:t>
            </a:r>
            <a:endParaRPr lang="zh-TW" sz="1300" dirty="0"/>
          </a:p>
        </p:txBody>
      </p:sp>
      <p:sp>
        <p:nvSpPr>
          <p:cNvPr id="22" name="AI 在開發分支上工作"/>
          <p:cNvSpPr/>
          <p:nvPr/>
        </p:nvSpPr>
        <p:spPr>
          <a:xfrm>
            <a:off x="7589520" y="1600200"/>
            <a:ext cx="405079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圖示底圓"/>
          <p:cNvSpPr/>
          <p:nvPr/>
        </p:nvSpPr>
        <p:spPr>
          <a:xfrm>
            <a:off x="7772400" y="1892808"/>
            <a:ext cx="685800" cy="685800"/>
          </a:xfrm>
          <a:prstGeom prst="ellipse">
            <a:avLst/>
          </a:prstGeom>
          <a:solidFill>
            <a:schemeClr val="accent3">
              <a:alpha val="16000"/>
            </a:schemeClr>
          </a:solidFill>
          <a:ln/>
        </p:spPr>
      </p:sp>
      <p:pic>
        <p:nvPicPr>
          <p:cNvPr id="24" name="Image 1" descr="bra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2057400"/>
            <a:ext cx="356616" cy="35661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95360" y="1709928"/>
            <a:ext cx="2926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AI 在開發分支上工作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成品還沒有進到 main</a:t>
            </a:r>
            <a:endParaRPr lang="zh-TW" sz="1600" dirty="0"/>
          </a:p>
        </p:txBody>
      </p:sp>
      <p:sp>
        <p:nvSpPr>
          <p:cNvPr id="26" name="Netlify 只部署指定的 branch"/>
          <p:cNvSpPr/>
          <p:nvPr/>
        </p:nvSpPr>
        <p:spPr>
          <a:xfrm>
            <a:off x="7589520" y="3108960"/>
            <a:ext cx="405079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圖示底圓"/>
          <p:cNvSpPr/>
          <p:nvPr/>
        </p:nvSpPr>
        <p:spPr>
          <a:xfrm>
            <a:off x="7772400" y="3401568"/>
            <a:ext cx="685800" cy="685800"/>
          </a:xfrm>
          <a:prstGeom prst="ellipse">
            <a:avLst/>
          </a:prstGeom>
          <a:solidFill>
            <a:schemeClr val="accent3">
              <a:alpha val="16000"/>
            </a:schemeClr>
          </a:solidFill>
          <a:ln/>
        </p:spPr>
      </p:sp>
      <p:pic>
        <p:nvPicPr>
          <p:cNvPr id="28" name="Image 2" descr="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3566160"/>
            <a:ext cx="356616" cy="35661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595360" y="3218688"/>
            <a:ext cx="2926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Netlify 只部署指定的 branch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正式網站要用 main 部署</a:t>
            </a:r>
            <a:endParaRPr lang="zh-TW" sz="1600" dirty="0"/>
          </a:p>
        </p:txBody>
      </p:sp>
      <p:sp>
        <p:nvSpPr>
          <p:cNvPr id="30" name="先回到 AI 合併"/>
          <p:cNvSpPr/>
          <p:nvPr/>
        </p:nvSpPr>
        <p:spPr>
          <a:xfrm>
            <a:off x="7589520" y="4617720"/>
            <a:ext cx="405079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圖示底圓"/>
          <p:cNvSpPr/>
          <p:nvPr/>
        </p:nvSpPr>
        <p:spPr>
          <a:xfrm>
            <a:off x="7772400" y="4910328"/>
            <a:ext cx="685800" cy="685800"/>
          </a:xfrm>
          <a:prstGeom prst="ellipse">
            <a:avLst/>
          </a:prstGeom>
          <a:solidFill>
            <a:schemeClr val="accent3">
              <a:alpha val="16000"/>
            </a:schemeClr>
          </a:solidFill>
          <a:ln/>
        </p:spPr>
      </p:sp>
      <p:pic>
        <p:nvPicPr>
          <p:cNvPr id="32" name="Image 3" descr="termin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5074920"/>
            <a:ext cx="356616" cy="35661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595360" y="4727448"/>
            <a:ext cx="2926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先回到 AI 合併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第 11 項：請 AI 把 branch 合併到 main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10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3"/>
                </a:solidFill>
              </a:rPr>
              <a:t>10.2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檢查 Netlify 連線到 GitHub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10.2.1　</a:t>
            </a:r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在 Netlify 點擊 Add new project 按鈕</a:t>
            </a:r>
            <a:endParaRPr lang="zh-TW" sz="1600" dirty="0"/>
          </a:p>
        </p:txBody>
      </p:sp>
      <p:sp>
        <p:nvSpPr>
          <p:cNvPr id="6" name="截圖外框"/>
          <p:cNvSpPr/>
          <p:nvPr/>
        </p:nvSpPr>
        <p:spPr>
          <a:xfrm>
            <a:off x="548640" y="1874520"/>
            <a:ext cx="7955280" cy="1308646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Netlify 的 Add new project 按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0240"/>
            <a:ext cx="7863840" cy="12172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10.2.2　</a:t>
            </a:r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點擊 GitHub</a:t>
            </a:r>
            <a:endParaRPr lang="zh-TW" sz="1600" dirty="0"/>
          </a:p>
        </p:txBody>
      </p:sp>
      <p:sp>
        <p:nvSpPr>
          <p:cNvPr id="9" name="截圖外框"/>
          <p:cNvSpPr/>
          <p:nvPr/>
        </p:nvSpPr>
        <p:spPr>
          <a:xfrm>
            <a:off x="548640" y="3886200"/>
            <a:ext cx="7854048" cy="2267712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在 Import a Git repository 選 GitH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931920"/>
            <a:ext cx="7762608" cy="2176272"/>
          </a:xfrm>
          <a:prstGeom prst="rect">
            <a:avLst/>
          </a:prstGeom>
        </p:spPr>
      </p:pic>
      <p:sp>
        <p:nvSpPr>
          <p:cNvPr id="11" name="步驟進度"/>
          <p:cNvSpPr/>
          <p:nvPr/>
        </p:nvSpPr>
        <p:spPr>
          <a:xfrm>
            <a:off x="8915400" y="1508760"/>
            <a:ext cx="2724912" cy="4572000"/>
          </a:xfrm>
          <a:prstGeom prst="roundRect">
            <a:avLst>
              <a:gd name="adj" fmla="val 4027"/>
            </a:avLst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12" name="步驟"/>
          <p:cNvSpPr/>
          <p:nvPr/>
        </p:nvSpPr>
        <p:spPr>
          <a:xfrm>
            <a:off x="9098280" y="1892808"/>
            <a:ext cx="365760" cy="36576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09828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9601200" y="1645920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10.2.1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Add new project</a:t>
            </a:r>
            <a:endParaRPr lang="zh-TW" sz="1600" dirty="0"/>
          </a:p>
        </p:txBody>
      </p:sp>
      <p:sp>
        <p:nvSpPr>
          <p:cNvPr id="15" name="步驟"/>
          <p:cNvSpPr/>
          <p:nvPr/>
        </p:nvSpPr>
        <p:spPr>
          <a:xfrm>
            <a:off x="9098280" y="2752344"/>
            <a:ext cx="365760" cy="36576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09828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0" y="2505456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10.2.2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點擊 GitHub</a:t>
            </a:r>
            <a:endParaRPr lang="zh-TW" sz="1600" dirty="0"/>
          </a:p>
        </p:txBody>
      </p:sp>
      <p:sp>
        <p:nvSpPr>
          <p:cNvPr id="18" name="步驟"/>
          <p:cNvSpPr/>
          <p:nvPr/>
        </p:nvSpPr>
        <p:spPr>
          <a:xfrm>
            <a:off x="9098280" y="361188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0982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3</a:t>
            </a:r>
            <a:endParaRPr lang="zh-TW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601200" y="3364992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10.2.3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選擇專案</a:t>
            </a:r>
            <a:endParaRPr lang="zh-TW" sz="1600" dirty="0"/>
          </a:p>
        </p:txBody>
      </p:sp>
      <p:sp>
        <p:nvSpPr>
          <p:cNvPr id="21" name="步驟"/>
          <p:cNvSpPr/>
          <p:nvPr/>
        </p:nvSpPr>
        <p:spPr>
          <a:xfrm>
            <a:off x="9098280" y="4471416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09828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4</a:t>
            </a:r>
            <a:endParaRPr lang="zh-TW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601200" y="4224528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10.2.4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設定專案名稱</a:t>
            </a:r>
            <a:endParaRPr lang="zh-TW" sz="1600" dirty="0"/>
          </a:p>
        </p:txBody>
      </p:sp>
      <p:sp>
        <p:nvSpPr>
          <p:cNvPr id="24" name="步驟"/>
          <p:cNvSpPr/>
          <p:nvPr/>
        </p:nvSpPr>
        <p:spPr>
          <a:xfrm>
            <a:off x="9098280" y="5330952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09828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5</a:t>
            </a:r>
            <a:endParaRPr lang="zh-TW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9601200" y="5084064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10.2.5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選擇 branch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10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3"/>
                </a:solidFill>
              </a:rPr>
              <a:t>10.2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檢查 Netlify 連線到 GitHub（續）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463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10.2.3　</a:t>
            </a:r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選擇 GitHub 上面的專案</a:t>
            </a:r>
            <a:endParaRPr lang="zh-TW" sz="1600" dirty="0"/>
          </a:p>
        </p:txBody>
      </p:sp>
      <p:sp>
        <p:nvSpPr>
          <p:cNvPr id="6" name="截圖外框"/>
          <p:cNvSpPr/>
          <p:nvPr/>
        </p:nvSpPr>
        <p:spPr>
          <a:xfrm>
            <a:off x="548640" y="1874520"/>
            <a:ext cx="4663440" cy="1625178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選擇 GitHub 上的專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0240"/>
            <a:ext cx="4572000" cy="1533738"/>
          </a:xfrm>
          <a:prstGeom prst="rect">
            <a:avLst/>
          </a:prstGeom>
        </p:spPr>
      </p:pic>
      <p:sp>
        <p:nvSpPr>
          <p:cNvPr id="8" name="選擇 branch"/>
          <p:cNvSpPr/>
          <p:nvPr/>
        </p:nvSpPr>
        <p:spPr>
          <a:xfrm>
            <a:off x="548640" y="3840480"/>
            <a:ext cx="4663440" cy="2240280"/>
          </a:xfrm>
          <a:prstGeom prst="roundRect">
            <a:avLst>
              <a:gd name="adj" fmla="val 4898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39776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10.2.5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承接上圖，有三個 branch，我們要部署哪一個？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main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claude/fervent-bohr-hm0p2v</a:t>
            </a:r>
            <a:endParaRPr lang="zh-TW" sz="1600" dirty="0"/>
          </a:p>
          <a:p>
            <a:pPr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claude/happy-noether-7k5hvl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→ 讓我們回到 AI 指令介面（第 11 項）</a:t>
            </a:r>
            <a:endParaRPr lang="zh-TW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10.2.4</a:t>
            </a:r>
            <a:endParaRPr lang="zh-TW" sz="1500" dirty="0"/>
          </a:p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設定專案名稱（也就是網址）</a:t>
            </a:r>
            <a:endParaRPr lang="zh-TW" sz="1500" dirty="0"/>
          </a:p>
        </p:txBody>
      </p:sp>
      <p:sp>
        <p:nvSpPr>
          <p:cNvPr id="11" name="截圖外框"/>
          <p:cNvSpPr/>
          <p:nvPr/>
        </p:nvSpPr>
        <p:spPr>
          <a:xfrm>
            <a:off x="5486400" y="2148840"/>
            <a:ext cx="3200400" cy="3830387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Netlify 專案名稱與 Branch to deploy 設定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94560"/>
            <a:ext cx="3108960" cy="3738947"/>
          </a:xfrm>
          <a:prstGeom prst="rect">
            <a:avLst/>
          </a:prstGeom>
        </p:spPr>
      </p:pic>
      <p:sp>
        <p:nvSpPr>
          <p:cNvPr id="13" name="步驟進度"/>
          <p:cNvSpPr/>
          <p:nvPr/>
        </p:nvSpPr>
        <p:spPr>
          <a:xfrm>
            <a:off x="8915400" y="1508760"/>
            <a:ext cx="2724912" cy="4572000"/>
          </a:xfrm>
          <a:prstGeom prst="roundRect">
            <a:avLst>
              <a:gd name="adj" fmla="val 4027"/>
            </a:avLst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14" name="步驟"/>
          <p:cNvSpPr/>
          <p:nvPr/>
        </p:nvSpPr>
        <p:spPr>
          <a:xfrm>
            <a:off x="9098280" y="1892808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9828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1</a:t>
            </a:r>
            <a:endParaRPr lang="zh-TW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601200" y="1645920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10.2.1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Add new project</a:t>
            </a:r>
            <a:endParaRPr lang="zh-TW" sz="1600" dirty="0"/>
          </a:p>
        </p:txBody>
      </p:sp>
      <p:sp>
        <p:nvSpPr>
          <p:cNvPr id="17" name="步驟"/>
          <p:cNvSpPr/>
          <p:nvPr/>
        </p:nvSpPr>
        <p:spPr>
          <a:xfrm>
            <a:off x="9098280" y="2752344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09828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2</a:t>
            </a:r>
            <a:endParaRPr lang="zh-TW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601200" y="2505456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10.2.2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點擊 GitHub</a:t>
            </a:r>
            <a:endParaRPr lang="zh-TW" sz="1600" dirty="0"/>
          </a:p>
        </p:txBody>
      </p:sp>
      <p:sp>
        <p:nvSpPr>
          <p:cNvPr id="20" name="步驟"/>
          <p:cNvSpPr/>
          <p:nvPr/>
        </p:nvSpPr>
        <p:spPr>
          <a:xfrm>
            <a:off x="9098280" y="3611880"/>
            <a:ext cx="365760" cy="36576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0982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601200" y="3364992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10.2.3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選擇專案</a:t>
            </a:r>
            <a:endParaRPr lang="zh-TW" sz="1600" dirty="0"/>
          </a:p>
        </p:txBody>
      </p:sp>
      <p:sp>
        <p:nvSpPr>
          <p:cNvPr id="23" name="步驟"/>
          <p:cNvSpPr/>
          <p:nvPr/>
        </p:nvSpPr>
        <p:spPr>
          <a:xfrm>
            <a:off x="9098280" y="4471416"/>
            <a:ext cx="365760" cy="36576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09828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601200" y="4224528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10.2.4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設定專案名稱</a:t>
            </a:r>
            <a:endParaRPr lang="zh-TW" sz="1600" dirty="0"/>
          </a:p>
        </p:txBody>
      </p:sp>
      <p:sp>
        <p:nvSpPr>
          <p:cNvPr id="26" name="步驟"/>
          <p:cNvSpPr/>
          <p:nvPr/>
        </p:nvSpPr>
        <p:spPr>
          <a:xfrm>
            <a:off x="9098280" y="5330952"/>
            <a:ext cx="365760" cy="36576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09828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5</a:t>
            </a:r>
            <a:endParaRPr lang="zh-TW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9601200" y="5084064"/>
            <a:ext cx="190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10.2.5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選擇 branch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11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在你的 AI 下這樣的指令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508760"/>
            <a:ext cx="11091672" cy="1956098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在 AI 指令介面輸入合併到 main 的指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11000232" cy="1864658"/>
          </a:xfrm>
          <a:prstGeom prst="rect">
            <a:avLst/>
          </a:prstGeom>
        </p:spPr>
      </p:pic>
      <p:sp>
        <p:nvSpPr>
          <p:cNvPr id="7" name="指令"/>
          <p:cNvSpPr/>
          <p:nvPr/>
        </p:nvSpPr>
        <p:spPr>
          <a:xfrm>
            <a:off x="548640" y="379476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accent3">
              <a:alpha val="10000"/>
            </a:schemeClr>
          </a:solidFill>
          <a:ln/>
        </p:spPr>
      </p:sp>
      <p:pic>
        <p:nvPicPr>
          <p:cNvPr id="8" name="Image 1" descr="指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069080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379476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「把目前的 branch 合併到 main，我要在 Netlify 使用 main branch 做 production 部署」</a:t>
            </a:r>
            <a:endParaRPr lang="zh-TW" sz="2000" dirty="0"/>
          </a:p>
        </p:txBody>
      </p:sp>
      <p:sp>
        <p:nvSpPr>
          <p:cNvPr id="10" name="branch"/>
          <p:cNvSpPr/>
          <p:nvPr/>
        </p:nvSpPr>
        <p:spPr>
          <a:xfrm>
            <a:off x="548640" y="5120640"/>
            <a:ext cx="3447288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77240" y="51206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branch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AI 目前工作的開發分支</a:t>
            </a:r>
            <a:endParaRPr lang="zh-TW" sz="1600" dirty="0"/>
          </a:p>
        </p:txBody>
      </p:sp>
      <p:sp>
        <p:nvSpPr>
          <p:cNvPr id="12" name="main"/>
          <p:cNvSpPr/>
          <p:nvPr/>
        </p:nvSpPr>
        <p:spPr>
          <a:xfrm>
            <a:off x="4370832" y="5120640"/>
            <a:ext cx="3447288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4599432" y="51206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main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Netlify 正式部署用的分支</a:t>
            </a:r>
            <a:endParaRPr lang="zh-TW" sz="1600" dirty="0"/>
          </a:p>
        </p:txBody>
      </p:sp>
      <p:sp>
        <p:nvSpPr>
          <p:cNvPr id="14" name="production"/>
          <p:cNvSpPr/>
          <p:nvPr/>
        </p:nvSpPr>
        <p:spPr>
          <a:xfrm>
            <a:off x="8193024" y="5120640"/>
            <a:ext cx="3447288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421624" y="51206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production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正式上線的網站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11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accent3"/>
                </a:solidFill>
              </a:rPr>
              <a:t>11.1　</a:t>
            </a:r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大概會看到這樣的回饋內容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508760"/>
            <a:ext cx="7040880" cy="2926382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AI 回報已合併到 main 與 Netlify 設定步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6949440" cy="2834942"/>
          </a:xfrm>
          <a:prstGeom prst="rect">
            <a:avLst/>
          </a:prstGeom>
        </p:spPr>
      </p:pic>
      <p:sp>
        <p:nvSpPr>
          <p:cNvPr id="7" name="已合併進 main"/>
          <p:cNvSpPr/>
          <p:nvPr/>
        </p:nvSpPr>
        <p:spPr>
          <a:xfrm>
            <a:off x="7863840" y="1554480"/>
            <a:ext cx="3776472" cy="850392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編號"/>
          <p:cNvSpPr/>
          <p:nvPr/>
        </p:nvSpPr>
        <p:spPr>
          <a:xfrm>
            <a:off x="8028432" y="1783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02843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zh-TW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160934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已合併進 main</a:t>
            </a:r>
            <a:endParaRPr lang="zh-TW" sz="15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網站已合併進 main 並推送完成</a:t>
            </a:r>
            <a:endParaRPr lang="zh-TW" sz="1500" dirty="0"/>
          </a:p>
        </p:txBody>
      </p:sp>
      <p:sp>
        <p:nvSpPr>
          <p:cNvPr id="11" name="Branch to deploy 選 main"/>
          <p:cNvSpPr/>
          <p:nvPr/>
        </p:nvSpPr>
        <p:spPr>
          <a:xfrm>
            <a:off x="7863840" y="2542032"/>
            <a:ext cx="3776472" cy="850392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編號"/>
          <p:cNvSpPr/>
          <p:nvPr/>
        </p:nvSpPr>
        <p:spPr>
          <a:xfrm>
            <a:off x="8028432" y="27706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028432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zh-TW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549640" y="259689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Branch to deploy 選 main</a:t>
            </a:r>
            <a:endParaRPr lang="zh-TW" sz="15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建置設定不用改</a:t>
            </a:r>
            <a:endParaRPr lang="zh-TW" sz="1500" dirty="0"/>
          </a:p>
        </p:txBody>
      </p:sp>
      <p:sp>
        <p:nvSpPr>
          <p:cNvPr id="15" name="之後自動更新"/>
          <p:cNvSpPr/>
          <p:nvPr/>
        </p:nvSpPr>
        <p:spPr>
          <a:xfrm>
            <a:off x="7863840" y="3529584"/>
            <a:ext cx="3776472" cy="850392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編號"/>
          <p:cNvSpPr/>
          <p:nvPr/>
        </p:nvSpPr>
        <p:spPr>
          <a:xfrm>
            <a:off x="8028432" y="37581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028432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zh-TW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549640" y="358444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之後自動更新</a:t>
            </a:r>
            <a:endParaRPr lang="zh-TW" sz="15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每次推送到 main，正式網站自動更新</a:t>
            </a:r>
            <a:endParaRPr lang="zh-TW" sz="1500" dirty="0"/>
          </a:p>
        </p:txBody>
      </p:sp>
      <p:sp>
        <p:nvSpPr>
          <p:cNvPr id="19" name="完成部署"/>
          <p:cNvSpPr/>
          <p:nvPr/>
        </p:nvSpPr>
        <p:spPr>
          <a:xfrm>
            <a:off x="548640" y="480060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22960" y="48006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11.2　</a:t>
            </a:r>
            <a:pPr indent="0" marL="0">
              <a:spcAft>
                <a:spcPts val="400"/>
              </a:spcAft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回到 Netlify 完成部署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500" dirty="0">
                <a:solidFill>
                  <a:schemeClr val="tx2"/>
                </a:solidFill>
              </a:rPr>
              <a:t>Branch to deploy 選 main，按下右邊的按鈕</a:t>
            </a:r>
            <a:endParaRPr lang="zh-TW" sz="1800" dirty="0"/>
          </a:p>
        </p:txBody>
      </p:sp>
      <p:sp>
        <p:nvSpPr>
          <p:cNvPr id="21" name="截圖外框"/>
          <p:cNvSpPr/>
          <p:nvPr/>
        </p:nvSpPr>
        <p:spPr>
          <a:xfrm>
            <a:off x="7543800" y="4989909"/>
            <a:ext cx="3931920" cy="901541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Netlify 的 Deploy 按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5035629"/>
            <a:ext cx="3840480" cy="81010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12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檢查 Netlify 狀態</a:t>
            </a:r>
            <a:endParaRPr lang="zh-TW" sz="3000" dirty="0"/>
          </a:p>
        </p:txBody>
      </p:sp>
      <p:sp>
        <p:nvSpPr>
          <p:cNvPr id="5" name="截圖外框"/>
          <p:cNvSpPr/>
          <p:nvPr/>
        </p:nvSpPr>
        <p:spPr>
          <a:xfrm>
            <a:off x="548640" y="1508760"/>
            <a:ext cx="7315200" cy="2568582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Netlify 專案狀態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7223760" cy="2477142"/>
          </a:xfrm>
          <a:prstGeom prst="rect">
            <a:avLst/>
          </a:prstGeom>
        </p:spPr>
      </p:pic>
      <p:sp>
        <p:nvSpPr>
          <p:cNvPr id="7" name="網址"/>
          <p:cNvSpPr/>
          <p:nvPr/>
        </p:nvSpPr>
        <p:spPr>
          <a:xfrm>
            <a:off x="548640" y="4434840"/>
            <a:ext cx="7269480" cy="1645920"/>
          </a:xfrm>
          <a:prstGeom prst="roundRect">
            <a:avLst>
              <a:gd name="adj" fmla="val 6667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8" name="圖示底圓"/>
          <p:cNvSpPr/>
          <p:nvPr/>
        </p:nvSpPr>
        <p:spPr>
          <a:xfrm>
            <a:off x="777240" y="4846320"/>
            <a:ext cx="822960" cy="822960"/>
          </a:xfrm>
          <a:prstGeom prst="ellipse">
            <a:avLst/>
          </a:prstGeom>
          <a:solidFill>
            <a:schemeClr val="accent3">
              <a:alpha val="16000"/>
            </a:schemeClr>
          </a:solidFill>
          <a:ln/>
        </p:spPr>
      </p:sp>
      <p:pic>
        <p:nvPicPr>
          <p:cNvPr id="9" name="Image 1" descr="glob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" y="5043830"/>
            <a:ext cx="427939" cy="42793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828800" y="443484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綠燈代表網站已經上線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600" u="sng" dirty="0">
                <a:solidFill>
                  <a:schemeClr val="accent1"/>
                </a:solidFill>
                <a:hlinkClick r:id="rId3" invalidUrl="" action="" tgtFrame="" tooltip="教材網站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ttu2026-step-by-step.netlify.app</a:t>
            </a:r>
            <a:endParaRPr lang="zh-TW" sz="1800" dirty="0"/>
          </a:p>
        </p:txBody>
      </p:sp>
      <p:sp>
        <p:nvSpPr>
          <p:cNvPr id="11" name="網址前的綠燈"/>
          <p:cNvSpPr/>
          <p:nvPr/>
        </p:nvSpPr>
        <p:spPr>
          <a:xfrm>
            <a:off x="8138160" y="1554480"/>
            <a:ext cx="3502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編號"/>
          <p:cNvSpPr/>
          <p:nvPr/>
        </p:nvSpPr>
        <p:spPr>
          <a:xfrm>
            <a:off x="8302752" y="1837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30275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zh-TW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8823960" y="16276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網址前的綠燈</a:t>
            </a:r>
            <a:endParaRPr lang="zh-TW" sz="15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網站已經發布</a:t>
            </a:r>
            <a:endParaRPr lang="zh-TW" sz="1500" dirty="0"/>
          </a:p>
        </p:txBody>
      </p:sp>
      <p:sp>
        <p:nvSpPr>
          <p:cNvPr id="15" name="Deploys from GitHub"/>
          <p:cNvSpPr/>
          <p:nvPr/>
        </p:nvSpPr>
        <p:spPr>
          <a:xfrm>
            <a:off x="8138160" y="2697480"/>
            <a:ext cx="3502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編號"/>
          <p:cNvSpPr/>
          <p:nvPr/>
        </p:nvSpPr>
        <p:spPr>
          <a:xfrm>
            <a:off x="8302752" y="2980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30275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zh-TW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823960" y="27706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Deploys from GitHub</a:t>
            </a:r>
            <a:endParaRPr lang="zh-TW" sz="15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網站從 GitHub 部署</a:t>
            </a:r>
            <a:endParaRPr lang="zh-TW" sz="1500" dirty="0"/>
          </a:p>
        </p:txBody>
      </p:sp>
      <p:sp>
        <p:nvSpPr>
          <p:cNvPr id="19" name="Published at …"/>
          <p:cNvSpPr/>
          <p:nvPr/>
        </p:nvSpPr>
        <p:spPr>
          <a:xfrm>
            <a:off x="8138160" y="3840480"/>
            <a:ext cx="3502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編號"/>
          <p:cNvSpPr/>
          <p:nvPr/>
        </p:nvSpPr>
        <p:spPr>
          <a:xfrm>
            <a:off x="8302752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302752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zh-TW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823960" y="39136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Published at …</a:t>
            </a:r>
            <a:endParaRPr lang="zh-TW" sz="15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最近一次發布的時間</a:t>
            </a:r>
            <a:endParaRPr lang="zh-TW" sz="1500" dirty="0"/>
          </a:p>
        </p:txBody>
      </p:sp>
      <p:sp>
        <p:nvSpPr>
          <p:cNvPr id="23" name="左邊選單的 Deploys"/>
          <p:cNvSpPr/>
          <p:nvPr/>
        </p:nvSpPr>
        <p:spPr>
          <a:xfrm>
            <a:off x="8138160" y="4983480"/>
            <a:ext cx="3502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編號"/>
          <p:cNvSpPr/>
          <p:nvPr/>
        </p:nvSpPr>
        <p:spPr>
          <a:xfrm>
            <a:off x="8302752" y="5266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302752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zh-TW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823960" y="50566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左邊選單的 Deploys</a:t>
            </a:r>
            <a:endParaRPr lang="zh-TW" sz="15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查看每一次部署的紀錄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13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Enjoy your own achievement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2"/>
                </a:solidFill>
              </a:rPr>
              <a:t>打開你的教材網站</a:t>
            </a:r>
            <a:endParaRPr lang="zh-TW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600" b="1" u="sng" dirty="0">
                <a:solidFill>
                  <a:schemeClr val="accent1"/>
                </a:solidFill>
                <a:hlinkClick r:id="rId1" invalidUrl="" action="" tgtFrame="" tooltip="小朋友的寒假國語特攻隊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ttu2026-step-by-step.netlify.app</a:t>
            </a:r>
            <a:endParaRPr lang="zh-TW" sz="2600" dirty="0"/>
          </a:p>
        </p:txBody>
      </p:sp>
      <p:sp>
        <p:nvSpPr>
          <p:cNvPr id="7" name="截圖外框"/>
          <p:cNvSpPr/>
          <p:nvPr/>
        </p:nvSpPr>
        <p:spPr>
          <a:xfrm>
            <a:off x="548640" y="2834640"/>
            <a:ext cx="5832861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D5DA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小朋友的寒假國語特攻隊海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80360"/>
            <a:ext cx="5741421" cy="3200400"/>
          </a:xfrm>
          <a:prstGeom prst="rect">
            <a:avLst/>
          </a:prstGeom>
        </p:spPr>
      </p:pic>
      <p:sp>
        <p:nvSpPr>
          <p:cNvPr id="9" name="QR code"/>
          <p:cNvSpPr/>
          <p:nvPr/>
        </p:nvSpPr>
        <p:spPr>
          <a:xfrm>
            <a:off x="7818120" y="1554480"/>
            <a:ext cx="3822192" cy="4526280"/>
          </a:xfrm>
          <a:prstGeom prst="roundRect">
            <a:avLst>
              <a:gd name="adj" fmla="val 28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教材網站的 QR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2999232" cy="2999232"/>
          </a:xfrm>
          <a:prstGeom prst="rect">
            <a:avLst/>
          </a:prstGeom>
        </p:spPr>
      </p:pic>
      <p:pic>
        <p:nvPicPr>
          <p:cNvPr id="11" name="Image 2" descr="手機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138928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549640" y="49834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用手機掃描，直接打開教材網站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節卡片"/>
          <p:cNvSpPr/>
          <p:nvPr/>
        </p:nvSpPr>
        <p:spPr>
          <a:xfrm>
            <a:off x="640080" y="822960"/>
            <a:ext cx="5029200" cy="3255264"/>
          </a:xfrm>
          <a:prstGeom prst="roundRect">
            <a:avLst>
              <a:gd name="adj" fmla="val 3371"/>
            </a:avLst>
          </a:prstGeom>
          <a:solidFill>
            <a:schemeClr val="bg1">
              <a:alpha val="92000"/>
            </a:schemeClr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1417320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1430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5400" b="1" dirty="0">
                <a:solidFill>
                  <a:schemeClr val="tx1"/>
                </a:solidFill>
              </a:rPr>
              <a:t>A</a:t>
            </a:r>
            <a:endParaRPr lang="zh-TW" sz="5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69748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600" b="1" dirty="0">
                <a:solidFill>
                  <a:schemeClr val="accent4"/>
                </a:solidFill>
              </a:rPr>
              <a:t>Adjust</a:t>
            </a:r>
            <a:endParaRPr lang="zh-TW" sz="3600" dirty="0"/>
          </a:p>
          <a:p>
            <a:pPr algn="l" indent="0" marL="0">
              <a:buNone/>
            </a:pPr>
            <a:r>
              <a:rPr lang="zh-TW" altLang="en-US" sz="2400" b="1" dirty="0">
                <a:solidFill>
                  <a:schemeClr val="tx2"/>
                </a:solidFill>
              </a:rPr>
              <a:t>調整</a:t>
            </a:r>
            <a:endParaRPr lang="zh-TW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2880360"/>
            <a:ext cx="4343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4"/>
                </a:solidFill>
              </a:rPr>
              <a:t>14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回頭調整 Plan 與 prompt</a:t>
            </a:r>
            <a:endParaRPr lang="zh-TW" sz="1800" dirty="0"/>
          </a:p>
          <a:p>
            <a:pPr indent="0" marL="0">
              <a:buNone/>
            </a:pPr>
            <a:r>
              <a:rPr lang="zh-TW" altLang="en-US" sz="1800" b="1" dirty="0">
                <a:solidFill>
                  <a:schemeClr val="accent4"/>
                </a:solidFill>
              </a:rPr>
              <a:t>15　</a:t>
            </a:r>
            <a:pPr indent="0" marL="0">
              <a:spcAft>
                <a:spcPts val="1000"/>
              </a:spcAft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再跑一輪，每一版都留下紀錄</a:t>
            </a:r>
            <a:endParaRPr lang="zh-TW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14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回頭調整 Plan 與 prompt</a:t>
            </a:r>
            <a:endParaRPr lang="zh-TW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2"/>
                </a:solidFill>
              </a:rPr>
              <a:t>檢查時發現</a:t>
            </a:r>
            <a:endParaRPr lang="zh-TW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463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4"/>
                </a:solidFill>
              </a:rPr>
              <a:t>回頭調整哪裡</a:t>
            </a:r>
            <a:endParaRPr lang="zh-TW" sz="1600" dirty="0"/>
          </a:p>
        </p:txBody>
      </p:sp>
      <p:sp>
        <p:nvSpPr>
          <p:cNvPr id="7" name="問題"/>
          <p:cNvSpPr/>
          <p:nvPr/>
        </p:nvSpPr>
        <p:spPr>
          <a:xfrm>
            <a:off x="548640" y="1920240"/>
            <a:ext cx="4846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用詞或題目難度不符合年級</a:t>
            </a:r>
            <a:endParaRPr lang="zh-TW" sz="1600" dirty="0"/>
          </a:p>
        </p:txBody>
      </p:sp>
      <p:pic>
        <p:nvPicPr>
          <p:cNvPr id="9" name="Image 0" descr="對應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221992"/>
            <a:ext cx="274320" cy="274320"/>
          </a:xfrm>
          <a:prstGeom prst="rect">
            <a:avLst/>
          </a:prstGeom>
        </p:spPr>
      </p:pic>
      <p:sp>
        <p:nvSpPr>
          <p:cNvPr id="10" name="調整"/>
          <p:cNvSpPr/>
          <p:nvPr/>
        </p:nvSpPr>
        <p:spPr>
          <a:xfrm>
            <a:off x="6035040" y="1920240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63640" y="1920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第 4 項起手式：重新確認教學對象與題型</a:t>
            </a:r>
            <a:endParaRPr lang="zh-TW" sz="1600" dirty="0"/>
          </a:p>
        </p:txBody>
      </p:sp>
      <p:sp>
        <p:nvSpPr>
          <p:cNvPr id="12" name="問題"/>
          <p:cNvSpPr/>
          <p:nvPr/>
        </p:nvSpPr>
        <p:spPr>
          <a:xfrm>
            <a:off x="548640" y="2971800"/>
            <a:ext cx="4846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77240" y="29718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人物造型、畫風前後不一致</a:t>
            </a:r>
            <a:endParaRPr lang="zh-TW" sz="1600" dirty="0"/>
          </a:p>
        </p:txBody>
      </p:sp>
      <p:pic>
        <p:nvPicPr>
          <p:cNvPr id="14" name="Image 1" descr="對應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273552"/>
            <a:ext cx="274320" cy="274320"/>
          </a:xfrm>
          <a:prstGeom prst="rect">
            <a:avLst/>
          </a:prstGeom>
        </p:spPr>
      </p:pic>
      <p:sp>
        <p:nvSpPr>
          <p:cNvPr id="15" name="調整"/>
          <p:cNvSpPr/>
          <p:nvPr/>
        </p:nvSpPr>
        <p:spPr>
          <a:xfrm>
            <a:off x="6035040" y="2971800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263640" y="29718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第 8 項 prompt：把人物與畫風描述寫得更具體</a:t>
            </a:r>
            <a:endParaRPr lang="zh-TW" sz="1600" dirty="0"/>
          </a:p>
        </p:txBody>
      </p:sp>
      <p:sp>
        <p:nvSpPr>
          <p:cNvPr id="17" name="問題"/>
          <p:cNvSpPr/>
          <p:nvPr/>
        </p:nvSpPr>
        <p:spPr>
          <a:xfrm>
            <a:off x="548640" y="4023360"/>
            <a:ext cx="4846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77240" y="4023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素材來源連不上，或內容來源不明</a:t>
            </a:r>
            <a:endParaRPr lang="zh-TW" sz="1600" dirty="0"/>
          </a:p>
        </p:txBody>
      </p:sp>
      <p:pic>
        <p:nvPicPr>
          <p:cNvPr id="19" name="Image 2" descr="對應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325112"/>
            <a:ext cx="274320" cy="274320"/>
          </a:xfrm>
          <a:prstGeom prst="rect">
            <a:avLst/>
          </a:prstGeom>
        </p:spPr>
      </p:pic>
      <p:sp>
        <p:nvSpPr>
          <p:cNvPr id="20" name="調整"/>
          <p:cNvSpPr/>
          <p:nvPr/>
        </p:nvSpPr>
        <p:spPr>
          <a:xfrm>
            <a:off x="6035040" y="4023360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263640" y="4023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第 2、6 項：更換素材來源，或自己提供字表</a:t>
            </a:r>
            <a:endParaRPr lang="zh-TW" sz="1600" dirty="0"/>
          </a:p>
        </p:txBody>
      </p:sp>
      <p:sp>
        <p:nvSpPr>
          <p:cNvPr id="22" name="問題"/>
          <p:cNvSpPr/>
          <p:nvPr/>
        </p:nvSpPr>
        <p:spPr>
          <a:xfrm>
            <a:off x="548640" y="5074920"/>
            <a:ext cx="4846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77240" y="5074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AI 想法很多，卻抓不到重點</a:t>
            </a:r>
            <a:endParaRPr lang="zh-TW" sz="1600" dirty="0"/>
          </a:p>
        </p:txBody>
      </p:sp>
      <p:pic>
        <p:nvPicPr>
          <p:cNvPr id="24" name="Image 3" descr="對應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5376672"/>
            <a:ext cx="274320" cy="274320"/>
          </a:xfrm>
          <a:prstGeom prst="rect">
            <a:avLst/>
          </a:prstGeom>
        </p:spPr>
      </p:pic>
      <p:sp>
        <p:nvSpPr>
          <p:cNvPr id="25" name="調整"/>
          <p:cNvSpPr/>
          <p:nvPr/>
        </p:nvSpPr>
        <p:spPr>
          <a:xfrm>
            <a:off x="6035040" y="5074920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263640" y="50749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第 5 項：不能只有標題，要有大綱，訂出階梯與邊界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926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15</a:t>
            </a:r>
            <a:endParaRPr lang="zh-TW" sz="3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5544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再跑一輪：每一版都留下紀錄</a:t>
            </a:r>
            <a:endParaRPr lang="zh-TW" sz="3000" dirty="0"/>
          </a:p>
        </p:txBody>
      </p:sp>
      <p:pic>
        <p:nvPicPr>
          <p:cNvPr id="5" name="Image 0" descr="水彩色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92608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06324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先求有，</a:t>
            </a:r>
            <a:endParaRPr lang="zh-TW" sz="1800" dirty="0"/>
          </a:p>
          <a:p>
            <a:pPr algn="ctr"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再求好</a:t>
            </a:r>
            <a:endParaRPr lang="zh-TW" sz="1800" dirty="0"/>
          </a:p>
        </p:txBody>
      </p:sp>
      <p:sp>
        <p:nvSpPr>
          <p:cNvPr id="7" name="修改 prompt"/>
          <p:cNvSpPr/>
          <p:nvPr/>
        </p:nvSpPr>
        <p:spPr>
          <a:xfrm>
            <a:off x="2926080" y="150876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292608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修改 prompt</a:t>
            </a:r>
            <a:endParaRPr lang="zh-TW" sz="1600" dirty="0"/>
          </a:p>
        </p:txBody>
      </p:sp>
      <p:sp>
        <p:nvSpPr>
          <p:cNvPr id="9" name="AI 重新產生"/>
          <p:cNvSpPr/>
          <p:nvPr/>
        </p:nvSpPr>
        <p:spPr>
          <a:xfrm>
            <a:off x="5303520" y="361188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30352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AI 重新產生</a:t>
            </a:r>
            <a:endParaRPr lang="zh-TW" sz="1600" dirty="0"/>
          </a:p>
        </p:txBody>
      </p:sp>
      <p:sp>
        <p:nvSpPr>
          <p:cNvPr id="11" name="檢查成品"/>
          <p:cNvSpPr/>
          <p:nvPr/>
        </p:nvSpPr>
        <p:spPr>
          <a:xfrm>
            <a:off x="2926080" y="544068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926080" y="5440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檢查成品</a:t>
            </a:r>
            <a:endParaRPr lang="zh-TW" sz="1600" dirty="0"/>
          </a:p>
        </p:txBody>
      </p:sp>
      <p:sp>
        <p:nvSpPr>
          <p:cNvPr id="13" name="commit and push"/>
          <p:cNvSpPr/>
          <p:nvPr/>
        </p:nvSpPr>
        <p:spPr>
          <a:xfrm>
            <a:off x="548640" y="361188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4864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commit and push</a:t>
            </a:r>
            <a:endParaRPr lang="zh-TW" sz="1600" dirty="0"/>
          </a:p>
        </p:txBody>
      </p:sp>
      <p:sp>
        <p:nvSpPr>
          <p:cNvPr id="15" name="Shape 11"/>
          <p:cNvSpPr/>
          <p:nvPr/>
        </p:nvSpPr>
        <p:spPr>
          <a:xfrm>
            <a:off x="5074920" y="2194560"/>
            <a:ext cx="1188720" cy="13716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 flipH="1">
            <a:off x="5074920" y="4297680"/>
            <a:ext cx="1188720" cy="10972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 flipH="1" flipV="1">
            <a:off x="1691640" y="4297680"/>
            <a:ext cx="1188720" cy="10972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 flipV="1">
            <a:off x="1691640" y="2194560"/>
            <a:ext cx="1188720" cy="13716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每次 commit 都寫清楚摘要"/>
          <p:cNvSpPr/>
          <p:nvPr/>
        </p:nvSpPr>
        <p:spPr>
          <a:xfrm>
            <a:off x="7680960" y="1554480"/>
            <a:ext cx="395935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圖示底圓"/>
          <p:cNvSpPr/>
          <p:nvPr/>
        </p:nvSpPr>
        <p:spPr>
          <a:xfrm>
            <a:off x="7863840" y="1847088"/>
            <a:ext cx="685800" cy="685800"/>
          </a:xfrm>
          <a:prstGeom prst="ellipse">
            <a:avLst/>
          </a:prstGeom>
          <a:solidFill>
            <a:schemeClr val="accent4">
              <a:alpha val="16000"/>
            </a:schemeClr>
          </a:solidFill>
          <a:ln/>
        </p:spPr>
      </p:sp>
      <p:pic>
        <p:nvPicPr>
          <p:cNvPr id="21" name="Image 1" descr="f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2011680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686800" y="1664208"/>
            <a:ext cx="2834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每次 commit 都寫清楚摘要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回頭找版本時，一看就知道改了什麼（第 7.4.1 項）</a:t>
            </a:r>
            <a:endParaRPr lang="zh-TW" sz="1600" dirty="0"/>
          </a:p>
        </p:txBody>
      </p:sp>
      <p:sp>
        <p:nvSpPr>
          <p:cNvPr id="23" name="GitHub 保留每一個版本"/>
          <p:cNvSpPr/>
          <p:nvPr/>
        </p:nvSpPr>
        <p:spPr>
          <a:xfrm>
            <a:off x="7680960" y="3063240"/>
            <a:ext cx="395935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圖示底圓"/>
          <p:cNvSpPr/>
          <p:nvPr/>
        </p:nvSpPr>
        <p:spPr>
          <a:xfrm>
            <a:off x="7863840" y="3355848"/>
            <a:ext cx="685800" cy="685800"/>
          </a:xfrm>
          <a:prstGeom prst="ellipse">
            <a:avLst/>
          </a:prstGeom>
          <a:solidFill>
            <a:schemeClr val="accent4">
              <a:alpha val="16000"/>
            </a:schemeClr>
          </a:solidFill>
          <a:ln/>
        </p:spPr>
      </p:sp>
      <p:pic>
        <p:nvPicPr>
          <p:cNvPr id="25" name="Image 2" descr="githu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3520440"/>
            <a:ext cx="356616" cy="35661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686800" y="3172968"/>
            <a:ext cx="2834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GitHub 保留每一個版本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改壞了也能找回上一版，放心嘗試</a:t>
            </a:r>
            <a:endParaRPr lang="zh-TW" sz="1600" dirty="0"/>
          </a:p>
        </p:txBody>
      </p:sp>
      <p:sp>
        <p:nvSpPr>
          <p:cNvPr id="27" name="推送到 main，網站跟著更新"/>
          <p:cNvSpPr/>
          <p:nvPr/>
        </p:nvSpPr>
        <p:spPr>
          <a:xfrm>
            <a:off x="7680960" y="4572000"/>
            <a:ext cx="395935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圖示底圓"/>
          <p:cNvSpPr/>
          <p:nvPr/>
        </p:nvSpPr>
        <p:spPr>
          <a:xfrm>
            <a:off x="7863840" y="4864608"/>
            <a:ext cx="685800" cy="685800"/>
          </a:xfrm>
          <a:prstGeom prst="ellipse">
            <a:avLst/>
          </a:prstGeom>
          <a:solidFill>
            <a:schemeClr val="accent4">
              <a:alpha val="16000"/>
            </a:schemeClr>
          </a:solidFill>
          <a:ln/>
        </p:spPr>
      </p:sp>
      <p:pic>
        <p:nvPicPr>
          <p:cNvPr id="29" name="Image 3" descr="clou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5029200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686800" y="4681728"/>
            <a:ext cx="2834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推送到 main，網站跟著更新</a:t>
            </a:r>
            <a:endParaRPr lang="zh-TW" sz="1600" dirty="0"/>
          </a:p>
          <a:p>
            <a:pPr indent="0" marL="0">
              <a:buNone/>
            </a:pPr>
            <a:r>
              <a:rPr lang="zh-TW" altLang="en-US" sz="1400" dirty="0">
                <a:solidFill>
                  <a:schemeClr val="tx2"/>
                </a:solidFill>
              </a:rPr>
              <a:t>Netlify 已在第 10、11 項接上 GitHub 的 main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4400" b="1" dirty="0">
                <a:solidFill>
                  <a:schemeClr val="tx1"/>
                </a:solidFill>
              </a:rPr>
              <a:t>一步一步，建構你的第一手教材</a:t>
            </a:r>
            <a:endParaRPr lang="zh-TW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Plan → Do → Check → Adjust，再跑一輪</a:t>
            </a:r>
            <a:endParaRPr lang="zh-TW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u="sng" dirty="0">
                <a:solidFill>
                  <a:schemeClr val="tx2"/>
                </a:solidFill>
                <a:hlinkClick r:id="rId1" invalidUrl="" action="" tgtFrame="" tooltip="本課程的 GitHub 專案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github.com/MattAtAIEra/NTTU2026-step-by-step</a:t>
            </a:r>
            <a:endParaRPr lang="zh-TW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u="sng" dirty="0">
                <a:solidFill>
                  <a:schemeClr val="tx2"/>
                </a:solidFill>
                <a:hlinkClick r:id="rId2" invalidUrl="" action="" tgtFrame="" tooltip="教材網站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ttu2026-step-by-step.netlify.app</a:t>
            </a:r>
            <a:endParaRPr lang="zh-TW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p by Step Watercolor">
  <a:themeElements>
    <a:clrScheme name="Step by Step Watercolor">
      <a:dk1>
        <a:srgbClr val="2B2A33"/>
      </a:dk1>
      <a:lt1>
        <a:srgbClr val="FFFFFF"/>
      </a:lt1>
      <a:dk2>
        <a:srgbClr val="5A6170"/>
      </a:dk2>
      <a:lt2>
        <a:srgbClr val="F2F5F8"/>
      </a:lt2>
      <a:accent1>
        <a:srgbClr val="3A7CA5"/>
      </a:accent1>
      <a:accent2>
        <a:srgbClr val="C8662A"/>
      </a:accent2>
      <a:accent3>
        <a:srgbClr val="4C8A4D"/>
      </a:accent3>
      <a:accent4>
        <a:srgbClr val="B04F6F"/>
      </a:accent4>
      <a:accent5>
        <a:srgbClr val="D9A21E"/>
      </a:accent5>
      <a:accent6>
        <a:srgbClr val="7A6C5D"/>
      </a:accent6>
      <a:hlink>
        <a:srgbClr val="2F6E9A"/>
      </a:hlink>
      <a:folHlink>
        <a:srgbClr val="7A5C8E"/>
      </a:folHlink>
    </a:clrScheme>
    <a:fontScheme name="Step by Step Watercolor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step，建構你的第一手教材</dc:title>
  <dc:subject>以 Plan、Do、Check、Adjust 四個部分整理的課程簡報</dc:subject>
  <dc:creator>Matt</dc:creator>
  <cp:lastModifiedBy>Matt</cp:lastModifiedBy>
  <cp:revision>1</cp:revision>
  <dcterms:created xsi:type="dcterms:W3CDTF">2026-10-14T00:17:23Z</dcterms:created>
  <dcterms:modified xsi:type="dcterms:W3CDTF">2026-10-14T00:17:23Z</dcterms:modified>
</cp:coreProperties>
</file>