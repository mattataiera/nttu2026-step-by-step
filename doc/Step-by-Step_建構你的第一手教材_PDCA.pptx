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場" id="{478134e7-3cf0-6f77-e881-34fd025c966b}">
          <p14:sldIdLst>
            <p14:sldId id="256"/>
            <p14:sldId id="257"/>
          </p14:sldIdLst>
        </p14:section>
        <p14:section name="Plan 計畫" id="{4a5670cf-2f2f-4b01-9b75-57ae2bf68aa7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Do 執行" id="{904029fb-1aec-c2db-40bc-708f2738a2ea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Check 查核" id="{69aa2fbe-861f-f7ff-4ade-3bd7ab1a9589}">
          <p14:sldIdLst>
            <p14:sldId id="278"/>
            <p14:sldId id="279"/>
            <p14:sldId id="280"/>
            <p14:sldId id="281"/>
            <p14:sldId id="282"/>
          </p14:sldIdLst>
        </p14:section>
        <p14:section name="Adjust 調整" id="{bf861b31-eae9-549c-5ba3-804c1cc290e5}">
          <p14:sldIdLst>
            <p14:sldId id="283"/>
            <p14:sldId id="284"/>
            <p14:sldId id="285"/>
          </p14:sldIdLst>
        </p14:section>
        <p14:section name="結語" id="{87487c4d-54ec-40e1-e944-26e615855303}">
          <p14:sldIdLst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開場。今天用 PDCA（Plan 計畫、Do 執行、Check 查核、Adjust 調整）四個部分，帶大家一步一步做出自己的第一手教材。示範教材是「小朋友的寒假國語特攻隊」。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這份簡報依照原文件第一階層的序號分成四個部分。Plan 是第 1 到 6 項，Do 是第 7、8 項；原文件的 Check 只有 AI 工作回報的截圖、Adjust 尚未填寫，這兩部分的序號（9 到 13）是簡報整理時接續編上的。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計畫：動手之前，先把主題、資源、環境、起手式、提示詞框架與素材來源想清楚。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主題：Step by step，建構你的第一手教材。原文件註明主題要搭配水彩畫風的 AI 風景圖；右邊這張是示意圖，可以換成用 Gemini 或 ChatGPT 生成的水彩風景圖。今天的示範教材是「小朋友的寒假國語特攻隊」，內容寫在專案 doc 資料夾的「課程.txt」。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兩個教育部的資源：小學生字詞彙表是選字的素材來源；教育部語文資源可以用來查字典、找成語。這兩個連結之後也會直接寫進給 AI 的 prompt（第 8 項）。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上課前先照著說明頁把開發環境準備好。整個流程會用到三個工具：GitHub 放專案、GitHub Desktop 在電腦上同步檔案、Netlify 把網頁部署上線。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起手式是不能外包給 AI 的部分：課程學習目標、教學對象、課綱、教程清單，以及各種屬性（人物角色、背景畫風、題型等等）。灰色小字是本次示範教材的填法，取自第 8 項的 prompt；學習目標與課綱沒有示範值，請老師自己填。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寫提示詞的三個原則。第一，先求有再求好，先跟 AI 練出默契，找出彼此互補的細節。第二，不能只有標題，要有大綱，訂出階梯與邊界。第三，AI 是一分錢一分貨，但想法多不一定抓得到重點。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素材來源：圖片可以用 Gemini 或 ChatGPT；聲音分成配樂（Suno）和音效（ElevenLabs）。文案建議還是由你的大腦駕馭 AI，不是放任 AI 天馬行空。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執行：先把專案建立起來、放上 GitHub，再把 prompt 交給 AI 產生教材。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7 項分成四個步驟：7.1 建立專案概念；7.2 到 GitHub 建立專案並 clone 到電腦；7.3 建立本地資料夾、把檔案分門別類放入；7.4 透過 GitHub Desktop 把檔案同步到 GitHub。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7.1.1 準備一個電腦上的資料夾。專案名稱例如「東大 2026_Step-by-Step」，裡面放 doc 和 resource 兩個資料夾：doc 放文字資料，resource 放圖片等素材。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在 GitHub 按 New repository，選擇自己的帳號，輸入專案名稱（範例是 NTTU2026-step-by-step），選 Public，最後按 Create repository。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7.2.1 專案建好後會看到 Quick setup，點 Set up in GitHub Desktop。7.2.2 在 Clone a Repository 視窗確認 Local Path，這就是專案在你電腦上的位置，確認後按 Clone。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clone 完成後，GitHub Desktop 會顯示目前的專案名稱、目前的分支 main，以及 No local changes，代表資料夾還沒有任何變更。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在 clone 下來的專案資料夾裡建立 doc 與 resource。7.3.1 把資料檔案分門別類放入：doc 放「課程.txt」課程大綱，resource 放課程主視覺海報。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回到 GitHub Desktop，會看到剛剛放入的兩個檔案。7.4.1 在左下角填入本次更新摘要（Summary 必填），例如「資源上傳」，描述可以寫「課程與素材」。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先按 Commit to main，把這次的變更存成一個版本；再按 Publish branch，把專案推上 GitHub。第一次推上去之後，這個按鈕會變成 Push origin。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到你的 AI（ChatGPT、Claude 或 Gemini）仿照以下的 prompt。這一頁是角色設定與課程參數，課程參數就是第 4 項起手式的具體填法。
以下是完整 prompt，可直接複製：
小朋友的寒假國語特攻隊
角色設定
你是一位熟悉台灣國小國語文教學的兒童教材設計師，擅長將生字、詞語與成語故事轉化為有趣的冒險闖關遊戲。
課程參數
- 教學年級：國小三年級
- 人物角色：小學生＋可愛動物夥伴
- 背景畫風：日系 Q 版卡通，色彩鮮明、活潑可愛
- 學習情境：冒險闖關
- 教材難度：適中，循序漸進
- 題型：看圖猜謎＋選擇題
- 輸出內容：情境圖生成描述、生字詞語解釋、互動測驗及答案解析
第一課：說文解字
1. 選出 3～5 個適合國小三年級的目標生字。
2. 將生字融入一篇約 80～120 字的趣味短文。
3. 設計日系 Q 版卡通情境圖，呈現短文中的人物、場景與事件。
4. 解釋每個生字的字義、常用詞語，並提供簡單例句。
5. 設計 2 道選擇題，測試學生對生字或詞語的理解。
第二課：成語猜謎
1. 選出 1～2 個適合國小三年級的成語。
2. 提供正確的成語典故或故事背景。
3. 將故事轉化為一幅有明確視覺線索的情境圖，不直接顯示成語答案。
4. 讓學生先看圖猜成語，再揭曉答案。
5. 解釋成語意思，提供生活例句及 2 道選擇題。
教材輸出格式
每一課依序輸出：
A. 課程標題與闖關任務
B. 情境圖生成描述
C. 短文或成語故事
D. 生字詞語或成語解釋
E. 互動選擇題
F. 正確答案與簡短解析
生成規則
- 全程使用台灣繁體中文，必要時加入注音。
- 用詞、句長及題目難度符合國小三年級程度。
- 成語典故與詞義必須正確，不可捏造故事來源。
- 圖片要有清楚的視覺焦點，人物造型與畫風保持一致。
- 猜謎圖片不得直接出現答案文字。
- 題目須有明確答案，錯誤選項應合理且符合學習程度。
- 內容以 POC 示範為主，不需要生成完整教科書。
請依照上述規則，產生第一課與第二課的教材。
---
產出完整可以執行，部署到 Netlify的HTML 成品，包含圖檔、CSS JS程式與動態效果等等
---
相關資源
1. 以教育部小學生字詞彙表為素材來源 https://pedia.cloud.edu.tw/Bookmark/Textword?category=%E5%9C%8B%E8%AA%9E&amp;year=115_1
2. 教育部資源 https://language.moe.gov.tw/001/Upload/Files/site_content/M0001/respub/index.html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prompt 裡兩課各有五個步驟。第一課說文解字：選字、寫短文、畫情境圖、解釋字義、出選擇題。第二課成語猜謎：選成語、講典故、畫不露答案的情境圖、先猜再揭曉、解釋並出題。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每一課依序輸出 A 到 F 六個部分。生成規則有七條：台灣繁體中文、符合三年級程度、典故正確不捏造、畫風一致、猜謎圖不露答案、題目答案明確、以 POC 示範為主。這七條規則在 Check 階段會變成驗收清單。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prompt 最後先請 AI 依照上述規則產生兩課教材，再交代成品形式：完整可執行、可以部署到 Netlify 的 HTML 成品，包含圖檔、CSS、JS 程式與動態效果。最後附上兩個教育部的相關資源。右圖是把 prompt 貼進 Claude 的畫面。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查核：原文件的 Check 放了 AI 工作過程與成品的截圖，這裡把它整理成三項：用規則驗收、看懂 AI 的回報、親自操作成品。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你在 prompt 裡寫下的七條生成規則，就是驗收 AI 成品的標準。拿到成品後逐條打勾，沒有通過的就是 Adjust 要回頭調整的地方。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工作時會回報它遇到的狀況。第一張：教育部字詞彙表網站連不上，AI 改用三年級常見生字，並在說明中註明。第二張：AI 畫完角色與情境圖後逐張檢查、修正細節。老師要檢查替代方案是否合理、畫風與人物是否一致。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回報找到兩個 CSS 錯誤（圖片比例跑掉、主畫面出現多餘的焦點框）並修正；接著完整闖關一次，兩課、星星、徽章、證書、教師版都正常；最後檢查手機版畫面。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最後親自從頭玩一次。右圖由左到右是手機版的四個畫面：首頁與闖關地圖、第一課情境圖、第一課生字解說、第二課看圖猜成語。用小朋友的角度檢查是否好懂、好操作。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Adjust 調整：原文件這一段尚未填寫，以下兩項是依照前面 Plan 與 Check 的內容整理的建議，請依實際課程調整。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（建議內容，原文件尚未填寫）檢查時發現的問題，各自對應回 Plan 或 prompt 的某一項。例如難度不對就回到起手式；畫風不一致就把人物與畫風寫得更具體；素材來源有問題就換來源或自己提供字表；想法太多抓不到重點，就把大綱寫清楚，訂出階梯與邊界。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（建議內容，原文件尚未填寫）調整後再跑一輪：修改 prompt、請 AI 重新產生、檢查成品、commit and push。每一次 commit 都寫清楚摘要，GitHub 會保留每一個版本；若已依照開發環境說明把 Netlify 接上 GitHub，push 之後網頁也會跟著更新。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結語：照著 Plan、Do、Check、Adjust 一步一步做，每一輪都讓教材更好。專案放在 GitHub，歡迎參考。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_PLAN-image-1.jpe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_DO-image-1.jpe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_CHECK-image-1.jpeg"/><Relationship Id="rId2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_ADJUST-image-1.jpeg"/><Relationship Id="rId2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MAP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水彩色塊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92608"/>
            <a:ext cx="960120" cy="9601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509760" y="566928"/>
            <a:ext cx="213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1200" b="1" dirty="0">
                <a:solidFill>
                  <a:schemeClr val="accent5"/>
                </a:solidFill>
              </a:rPr>
              <a:t>PDCA｜課程地圖</a:t>
            </a:r>
            <a:endParaRPr lang="zh-TW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</a:rPr>
              <a:t>Step by step，建構你的第一手教材</a:t>
            </a:r>
            <a:endParaRPr lang="zh-TW" sz="1000" dirty="0"/>
          </a:p>
        </p:txBody>
      </p:sp>
      <p:sp>
        <p:nvSpPr>
          <p:cNvPr id="5" name="Text 2"/>
          <p:cNvSpPr/>
          <p:nvPr>
            <p:ph idx="103" type="body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PLA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水彩色塊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92608"/>
            <a:ext cx="960120" cy="9601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509760" y="566928"/>
            <a:ext cx="213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1200" b="1" dirty="0">
                <a:solidFill>
                  <a:schemeClr val="accent1"/>
                </a:solidFill>
              </a:rPr>
              <a:t>PLAN｜計畫</a:t>
            </a:r>
            <a:endParaRPr lang="zh-TW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</a:rPr>
              <a:t>Step by step，建構你的第一手教材</a:t>
            </a:r>
            <a:endParaRPr lang="zh-TW" sz="1000" dirty="0"/>
          </a:p>
        </p:txBody>
      </p:sp>
      <p:sp>
        <p:nvSpPr>
          <p:cNvPr id="5" name="Text 2"/>
          <p:cNvSpPr/>
          <p:nvPr>
            <p:ph idx="103" type="body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水彩色塊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92608"/>
            <a:ext cx="960120" cy="9601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509760" y="566928"/>
            <a:ext cx="213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1200" b="1" dirty="0">
                <a:solidFill>
                  <a:schemeClr val="accent2"/>
                </a:solidFill>
              </a:rPr>
              <a:t>DO｜執行</a:t>
            </a:r>
            <a:endParaRPr lang="zh-TW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</a:rPr>
              <a:t>Step by step，建構你的第一手教材</a:t>
            </a:r>
            <a:endParaRPr lang="zh-TW" sz="1000" dirty="0"/>
          </a:p>
        </p:txBody>
      </p:sp>
      <p:sp>
        <p:nvSpPr>
          <p:cNvPr id="5" name="Text 2"/>
          <p:cNvSpPr/>
          <p:nvPr>
            <p:ph idx="103" type="body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CHEC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水彩色塊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92608"/>
            <a:ext cx="960120" cy="9601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509760" y="566928"/>
            <a:ext cx="213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1200" b="1" dirty="0">
                <a:solidFill>
                  <a:schemeClr val="accent3"/>
                </a:solidFill>
              </a:rPr>
              <a:t>CHECK｜查核</a:t>
            </a:r>
            <a:endParaRPr lang="zh-TW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</a:rPr>
              <a:t>Step by step，建構你的第一手教材</a:t>
            </a:r>
            <a:endParaRPr lang="zh-TW" sz="1000" dirty="0"/>
          </a:p>
        </p:txBody>
      </p:sp>
      <p:sp>
        <p:nvSpPr>
          <p:cNvPr id="5" name="Text 2"/>
          <p:cNvSpPr/>
          <p:nvPr>
            <p:ph idx="103" type="body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ADJUS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水彩色塊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92608"/>
            <a:ext cx="960120" cy="9601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509760" y="566928"/>
            <a:ext cx="213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1200" b="1" dirty="0">
                <a:solidFill>
                  <a:schemeClr val="accent4"/>
                </a:solidFill>
              </a:rPr>
              <a:t>ADJUST｜調整</a:t>
            </a:r>
            <a:endParaRPr lang="zh-TW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</a:rPr>
              <a:t>Step by step，建構你的第一手教材</a:t>
            </a:r>
            <a:endParaRPr lang="zh-TW" sz="1000" dirty="0"/>
          </a:p>
        </p:txBody>
      </p:sp>
      <p:sp>
        <p:nvSpPr>
          <p:cNvPr id="5" name="Text 2"/>
          <p:cNvSpPr/>
          <p:nvPr>
            <p:ph idx="103" type="body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_PLA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697480" y="1325880"/>
            <a:ext cx="27432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_DO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697480" y="1325880"/>
            <a:ext cx="27432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_CHEC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697480" y="1325880"/>
            <a:ext cx="27432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_ADJUS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697480" y="1325880"/>
            <a:ext cx="27432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194560"/>
            <a:ext cx="100584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3.png"/><Relationship Id="rId6" Type="http://schemas.openxmlformats.org/officeDocument/2006/relationships/image" Target="../media/image-2-6.png"/><Relationship Id="rId7" Type="http://schemas.openxmlformats.org/officeDocument/2006/relationships/image" Target="../media/image-2-3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pedia.cloud.edu.tw/Bookmark/Textword?category=%E5%9C%8B%E8%AA%9E&amp;year=115_1" TargetMode="External"/><Relationship Id="rId4" Type="http://schemas.openxmlformats.org/officeDocument/2006/relationships/hyperlink" Target="https://language.moe.gov.tw/001/Upload/Files/site_content/M0001/respub/index.html" TargetMode="External"/><Relationship Id="rId1" Type="http://schemas.openxmlformats.org/officeDocument/2006/relationships/image" Target="../media/image-5-1.png"/><Relationship Id="rId3" Type="http://schemas.openxmlformats.org/officeDocument/2006/relationships/image" Target="../media/image-5-2.png"/><Relationship Id="rId5" Type="http://schemas.openxmlformats.org/officeDocument/2006/relationships/image" Target="../media/image-5-3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matt-at-dusseldorf.netlify.app/netlify-github/" TargetMode="External"/><Relationship Id="rId1" Type="http://schemas.openxmlformats.org/officeDocument/2006/relationships/image" Target="../media/image-6-1.png"/><Relationship Id="rId3" Type="http://schemas.openxmlformats.org/officeDocument/2006/relationships/image" Target="../media/image-6-2.png"/><Relationship Id="rId4" Type="http://schemas.openxmlformats.org/officeDocument/2006/relationships/image" Target="../media/image-6-3.png"/><Relationship Id="rId5" Type="http://schemas.openxmlformats.org/officeDocument/2006/relationships/image" Target="../media/image-6-4.png"/><Relationship Id="rId6" Type="http://schemas.openxmlformats.org/officeDocument/2006/relationships/image" Target="../media/image-6-3.png"/><Relationship Id="rId7" Type="http://schemas.openxmlformats.org/officeDocument/2006/relationships/image" Target="../media/image-6-6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2.png"/><Relationship Id="rId5" Type="http://schemas.openxmlformats.org/officeDocument/2006/relationships/image" Target="../media/image-11-5.png"/><Relationship Id="rId6" Type="http://schemas.openxmlformats.org/officeDocument/2006/relationships/image" Target="../media/image-11-2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2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pedia.cloud.edu.tw/Bookmark/Textword?category=%E5%9C%8B%E8%AA%9E&amp;year=115_1" TargetMode="External"/><Relationship Id="rId4" Type="http://schemas.openxmlformats.org/officeDocument/2006/relationships/hyperlink" Target="https://language.moe.gov.tw/001/Upload/Files/site_content/M0001/respub/index.html" TargetMode="External"/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5" Type="http://schemas.openxmlformats.org/officeDocument/2006/relationships/image" Target="../media/image-22-3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1.png"/><Relationship Id="rId3" Type="http://schemas.openxmlformats.org/officeDocument/2006/relationships/image" Target="../media/image-24-1.png"/><Relationship Id="rId4" Type="http://schemas.openxmlformats.org/officeDocument/2006/relationships/image" Target="../media/image-24-1.png"/><Relationship Id="rId5" Type="http://schemas.openxmlformats.org/officeDocument/2006/relationships/image" Target="../media/image-24-1.png"/><Relationship Id="rId6" Type="http://schemas.openxmlformats.org/officeDocument/2006/relationships/image" Target="../media/image-24-1.png"/><Relationship Id="rId7" Type="http://schemas.openxmlformats.org/officeDocument/2006/relationships/image" Target="../media/image-24-1.png"/><Relationship Id="rId8" Type="http://schemas.openxmlformats.org/officeDocument/2006/relationships/image" Target="../media/image-24-8.png"/><Relationship Id="rId9" Type="http://schemas.openxmlformats.org/officeDocument/2006/relationships/slideLayout" Target="../slideLayouts/slideLayout5.xml"/><Relationship Id="rId10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0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1.png"/><Relationship Id="rId3" Type="http://schemas.openxmlformats.org/officeDocument/2006/relationships/image" Target="../media/image-29-1.png"/><Relationship Id="rId4" Type="http://schemas.openxmlformats.org/officeDocument/2006/relationships/image" Target="../media/image-29-1.png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MattAtAIEra/NTTU2026-step-by-step" TargetMode="External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77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2"/>
                </a:solidFill>
              </a:rPr>
              <a:t>東大 2026</a:t>
            </a:r>
            <a:endParaRPr lang="zh-TW" sz="18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400" b="1" dirty="0">
                <a:solidFill>
                  <a:schemeClr val="tx1"/>
                </a:solidFill>
              </a:rPr>
              <a:t>Step by step，建構你的第一手教材</a:t>
            </a:r>
            <a:endParaRPr lang="zh-TW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2194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000" dirty="0">
                <a:solidFill>
                  <a:schemeClr val="tx1"/>
                </a:solidFill>
              </a:rPr>
              <a:t>用 Plan → Do → Check → Adjust 四個步驟，一步一步完成</a:t>
            </a:r>
            <a:endParaRPr lang="zh-TW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743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tx2"/>
                </a:solidFill>
              </a:rPr>
              <a:t>示範教材：小朋友的寒假國語特攻隊</a:t>
            </a:r>
            <a:endParaRPr lang="zh-TW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zh-TW" sz="3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課程地圖：Plan → Do → Check → Adjust</a:t>
            </a:r>
            <a:endParaRPr lang="zh-TW" sz="3000" dirty="0"/>
          </a:p>
        </p:txBody>
      </p:sp>
      <p:pic>
        <p:nvPicPr>
          <p:cNvPr id="5" name="Image 0" descr="指南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411480" cy="411480"/>
          </a:xfrm>
          <a:prstGeom prst="rect">
            <a:avLst/>
          </a:prstGeom>
        </p:spPr>
      </p:pic>
      <p:sp>
        <p:nvSpPr>
          <p:cNvPr id="6" name="Plan 卡片"/>
          <p:cNvSpPr/>
          <p:nvPr/>
        </p:nvSpPr>
        <p:spPr>
          <a:xfrm>
            <a:off x="548640" y="1554480"/>
            <a:ext cx="2514600" cy="3886200"/>
          </a:xfrm>
          <a:prstGeom prst="roundRect">
            <a:avLst>
              <a:gd name="adj" fmla="val 4364"/>
            </a:avLst>
          </a:prstGeom>
          <a:solidFill>
            <a:schemeClr val="accent1">
              <a:alpha val="8000"/>
            </a:schemeClr>
          </a:solidFill>
          <a:ln/>
        </p:spPr>
      </p:sp>
      <p:pic>
        <p:nvPicPr>
          <p:cNvPr id="7" name="Image 1" descr="水彩色塊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737360"/>
            <a:ext cx="914400" cy="91440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713232" y="17373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P</a:t>
            </a:r>
            <a:endParaRPr lang="zh-TW" sz="3000" dirty="0"/>
          </a:p>
        </p:txBody>
      </p:sp>
      <p:sp>
        <p:nvSpPr>
          <p:cNvPr id="9" name="Text 4"/>
          <p:cNvSpPr txBox="1"/>
          <p:nvPr/>
        </p:nvSpPr>
        <p:spPr>
          <a:xfrm>
            <a:off x="1755648" y="1847088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2000" b="1" dirty="0">
                <a:solidFill>
                  <a:schemeClr val="accent1"/>
                </a:solidFill>
              </a:rPr>
              <a:t>Plan</a:t>
            </a:r>
            <a:endParaRPr lang="zh-TW" sz="1600" dirty="0"/>
          </a:p>
          <a:p>
            <a:pPr indent="0" marL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計畫</a:t>
            </a:r>
            <a:endParaRPr lang="zh-TW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749808" y="2880360"/>
            <a:ext cx="214884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1　主題</a:t>
            </a:r>
            <a:endParaRPr lang="zh-TW" sz="1400" dirty="0"/>
          </a:p>
          <a:p>
            <a:pPr indent="0" marL="0">
              <a:spcAft>
                <a:spcPts val="9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2　相關資源</a:t>
            </a:r>
            <a:endParaRPr lang="zh-TW" sz="1400" dirty="0"/>
          </a:p>
          <a:p>
            <a:pPr indent="0" marL="0">
              <a:spcAft>
                <a:spcPts val="9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3　開發環境確認</a:t>
            </a:r>
            <a:endParaRPr lang="zh-TW" sz="1400" dirty="0"/>
          </a:p>
          <a:p>
            <a:pPr indent="0" marL="0">
              <a:spcAft>
                <a:spcPts val="9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4　起手式</a:t>
            </a:r>
            <a:endParaRPr lang="zh-TW" sz="1400" dirty="0"/>
          </a:p>
          <a:p>
            <a:pPr indent="0" marL="0">
              <a:spcAft>
                <a:spcPts val="9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5　給 AI 的提示詞框架</a:t>
            </a:r>
            <a:endParaRPr lang="zh-TW" sz="1400" dirty="0"/>
          </a:p>
          <a:p>
            <a:pPr indent="0" marL="0">
              <a:spcAft>
                <a:spcPts val="9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6　素材來源</a:t>
            </a:r>
            <a:endParaRPr lang="zh-TW" sz="1400" dirty="0"/>
          </a:p>
        </p:txBody>
      </p:sp>
      <p:pic>
        <p:nvPicPr>
          <p:cNvPr id="11" name="Image 2" descr="下一步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7248" y="3387852"/>
            <a:ext cx="219456" cy="219456"/>
          </a:xfrm>
          <a:prstGeom prst="rect">
            <a:avLst/>
          </a:prstGeom>
        </p:spPr>
      </p:pic>
      <p:sp>
        <p:nvSpPr>
          <p:cNvPr id="12" name="Do 卡片"/>
          <p:cNvSpPr/>
          <p:nvPr/>
        </p:nvSpPr>
        <p:spPr>
          <a:xfrm>
            <a:off x="3410712" y="1554480"/>
            <a:ext cx="2514600" cy="3886200"/>
          </a:xfrm>
          <a:prstGeom prst="roundRect">
            <a:avLst>
              <a:gd name="adj" fmla="val 4364"/>
            </a:avLst>
          </a:prstGeom>
          <a:solidFill>
            <a:schemeClr val="accent2">
              <a:alpha val="8000"/>
            </a:schemeClr>
          </a:solidFill>
          <a:ln/>
        </p:spPr>
      </p:sp>
      <p:pic>
        <p:nvPicPr>
          <p:cNvPr id="13" name="Image 3" descr="水彩色塊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5304" y="1737360"/>
            <a:ext cx="914400" cy="91440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3575304" y="17373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D</a:t>
            </a:r>
            <a:endParaRPr lang="zh-TW" sz="3000" dirty="0"/>
          </a:p>
        </p:txBody>
      </p:sp>
      <p:sp>
        <p:nvSpPr>
          <p:cNvPr id="15" name="Text 8"/>
          <p:cNvSpPr txBox="1"/>
          <p:nvPr/>
        </p:nvSpPr>
        <p:spPr>
          <a:xfrm>
            <a:off x="4617720" y="1847088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2000" b="1" dirty="0">
                <a:solidFill>
                  <a:schemeClr val="accent2"/>
                </a:solidFill>
              </a:rPr>
              <a:t>Do</a:t>
            </a:r>
            <a:endParaRPr lang="zh-TW" sz="1600" dirty="0"/>
          </a:p>
          <a:p>
            <a:pPr indent="0" marL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執行</a:t>
            </a:r>
            <a:endParaRPr lang="zh-TW" sz="1600" dirty="0"/>
          </a:p>
        </p:txBody>
      </p:sp>
      <p:sp>
        <p:nvSpPr>
          <p:cNvPr id="16" name="Text 9"/>
          <p:cNvSpPr txBox="1"/>
          <p:nvPr/>
        </p:nvSpPr>
        <p:spPr>
          <a:xfrm>
            <a:off x="3611880" y="2880360"/>
            <a:ext cx="214884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7　執行：建立專案並同步到 GitHub</a:t>
            </a:r>
            <a:endParaRPr lang="zh-TW" sz="1400" dirty="0"/>
          </a:p>
          <a:p>
            <a:pPr indent="0" marL="0">
              <a:spcAft>
                <a:spcPts val="9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8　到你的 AI 仿照 prompt 產生教材</a:t>
            </a:r>
            <a:endParaRPr lang="zh-TW" sz="1400" dirty="0"/>
          </a:p>
        </p:txBody>
      </p:sp>
      <p:pic>
        <p:nvPicPr>
          <p:cNvPr id="17" name="Image 4" descr="下一步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320" y="3387852"/>
            <a:ext cx="219456" cy="219456"/>
          </a:xfrm>
          <a:prstGeom prst="rect">
            <a:avLst/>
          </a:prstGeom>
        </p:spPr>
      </p:pic>
      <p:sp>
        <p:nvSpPr>
          <p:cNvPr id="18" name="Check 卡片"/>
          <p:cNvSpPr/>
          <p:nvPr/>
        </p:nvSpPr>
        <p:spPr>
          <a:xfrm>
            <a:off x="6272784" y="1554480"/>
            <a:ext cx="2514600" cy="3886200"/>
          </a:xfrm>
          <a:prstGeom prst="roundRect">
            <a:avLst>
              <a:gd name="adj" fmla="val 4364"/>
            </a:avLst>
          </a:prstGeom>
          <a:solidFill>
            <a:schemeClr val="accent3">
              <a:alpha val="8000"/>
            </a:schemeClr>
          </a:solidFill>
          <a:ln/>
        </p:spPr>
      </p:sp>
      <p:pic>
        <p:nvPicPr>
          <p:cNvPr id="19" name="Image 5" descr="水彩色塊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7376" y="1737360"/>
            <a:ext cx="914400" cy="914400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6437376" y="17373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C</a:t>
            </a:r>
            <a:endParaRPr lang="zh-TW" sz="3000" dirty="0"/>
          </a:p>
        </p:txBody>
      </p:sp>
      <p:sp>
        <p:nvSpPr>
          <p:cNvPr id="21" name="Text 12"/>
          <p:cNvSpPr txBox="1"/>
          <p:nvPr/>
        </p:nvSpPr>
        <p:spPr>
          <a:xfrm>
            <a:off x="7479792" y="1847088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2000" b="1" dirty="0">
                <a:solidFill>
                  <a:schemeClr val="accent3"/>
                </a:solidFill>
              </a:rPr>
              <a:t>Check</a:t>
            </a:r>
            <a:endParaRPr lang="zh-TW" sz="1600" dirty="0"/>
          </a:p>
          <a:p>
            <a:pPr indent="0" marL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查核</a:t>
            </a:r>
            <a:endParaRPr lang="zh-TW" sz="1600" dirty="0"/>
          </a:p>
        </p:txBody>
      </p:sp>
      <p:sp>
        <p:nvSpPr>
          <p:cNvPr id="22" name="Text 13"/>
          <p:cNvSpPr txBox="1"/>
          <p:nvPr/>
        </p:nvSpPr>
        <p:spPr>
          <a:xfrm>
            <a:off x="6473952" y="2880360"/>
            <a:ext cx="214884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9　用生成規則當驗收清單</a:t>
            </a:r>
            <a:endParaRPr lang="zh-TW" sz="1400" dirty="0"/>
          </a:p>
          <a:p>
            <a:pPr indent="0" marL="0">
              <a:spcAft>
                <a:spcPts val="9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10　看懂 AI 的工作回報</a:t>
            </a:r>
            <a:endParaRPr lang="zh-TW" sz="1400" dirty="0"/>
          </a:p>
          <a:p>
            <a:pPr indent="0" marL="0">
              <a:spcAft>
                <a:spcPts val="9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11　驗收成品</a:t>
            </a:r>
            <a:endParaRPr lang="zh-TW" sz="1400" dirty="0"/>
          </a:p>
        </p:txBody>
      </p:sp>
      <p:pic>
        <p:nvPicPr>
          <p:cNvPr id="23" name="Image 6" descr="下一步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51392" y="3387852"/>
            <a:ext cx="219456" cy="219456"/>
          </a:xfrm>
          <a:prstGeom prst="rect">
            <a:avLst/>
          </a:prstGeom>
        </p:spPr>
      </p:pic>
      <p:sp>
        <p:nvSpPr>
          <p:cNvPr id="24" name="Adjust 卡片"/>
          <p:cNvSpPr/>
          <p:nvPr/>
        </p:nvSpPr>
        <p:spPr>
          <a:xfrm>
            <a:off x="9134856" y="1554480"/>
            <a:ext cx="2514600" cy="3886200"/>
          </a:xfrm>
          <a:prstGeom prst="roundRect">
            <a:avLst>
              <a:gd name="adj" fmla="val 4364"/>
            </a:avLst>
          </a:prstGeom>
          <a:solidFill>
            <a:schemeClr val="accent4">
              <a:alpha val="8000"/>
            </a:schemeClr>
          </a:solidFill>
          <a:ln/>
        </p:spPr>
      </p:sp>
      <p:pic>
        <p:nvPicPr>
          <p:cNvPr id="25" name="Image 7" descr="水彩色塊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9448" y="1737360"/>
            <a:ext cx="914400" cy="914400"/>
          </a:xfrm>
          <a:prstGeom prst="rect">
            <a:avLst/>
          </a:prstGeom>
        </p:spPr>
      </p:pic>
      <p:sp>
        <p:nvSpPr>
          <p:cNvPr id="26" name="Text 15"/>
          <p:cNvSpPr txBox="1"/>
          <p:nvPr/>
        </p:nvSpPr>
        <p:spPr>
          <a:xfrm>
            <a:off x="9299448" y="17373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A</a:t>
            </a:r>
            <a:endParaRPr lang="zh-TW" sz="3000" dirty="0"/>
          </a:p>
        </p:txBody>
      </p:sp>
      <p:sp>
        <p:nvSpPr>
          <p:cNvPr id="27" name="Text 16"/>
          <p:cNvSpPr txBox="1"/>
          <p:nvPr/>
        </p:nvSpPr>
        <p:spPr>
          <a:xfrm>
            <a:off x="10341864" y="1847088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2000" b="1" dirty="0">
                <a:solidFill>
                  <a:schemeClr val="accent4"/>
                </a:solidFill>
              </a:rPr>
              <a:t>Adjust</a:t>
            </a:r>
            <a:endParaRPr lang="zh-TW" sz="1600" dirty="0"/>
          </a:p>
          <a:p>
            <a:pPr indent="0" marL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調整</a:t>
            </a:r>
            <a:endParaRPr lang="zh-TW" sz="1600" dirty="0"/>
          </a:p>
        </p:txBody>
      </p:sp>
      <p:sp>
        <p:nvSpPr>
          <p:cNvPr id="28" name="Text 17"/>
          <p:cNvSpPr txBox="1"/>
          <p:nvPr/>
        </p:nvSpPr>
        <p:spPr>
          <a:xfrm>
            <a:off x="9336024" y="2880360"/>
            <a:ext cx="214884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12　回頭調整 Plan 與 prompt</a:t>
            </a:r>
            <a:endParaRPr lang="zh-TW" sz="1400" dirty="0"/>
          </a:p>
          <a:p>
            <a:pPr indent="0" marL="0">
              <a:spcAft>
                <a:spcPts val="9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13　再跑一輪，每一版都留下紀錄</a:t>
            </a:r>
            <a:endParaRPr lang="zh-TW" sz="1400" dirty="0"/>
          </a:p>
        </p:txBody>
      </p:sp>
      <p:sp>
        <p:nvSpPr>
          <p:cNvPr id="29" name="Shape 18"/>
          <p:cNvSpPr/>
          <p:nvPr/>
        </p:nvSpPr>
        <p:spPr>
          <a:xfrm>
            <a:off x="10392156" y="5440680"/>
            <a:ext cx="0" cy="45720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30" name="Shape 19"/>
          <p:cNvSpPr/>
          <p:nvPr/>
        </p:nvSpPr>
        <p:spPr>
          <a:xfrm>
            <a:off x="1805940" y="5897880"/>
            <a:ext cx="8586216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31" name="Shape 20"/>
          <p:cNvSpPr/>
          <p:nvPr/>
        </p:nvSpPr>
        <p:spPr>
          <a:xfrm>
            <a:off x="1805940" y="5440680"/>
            <a:ext cx="0" cy="45720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headEnd type="triangle"/>
          </a:ln>
        </p:spPr>
      </p:sp>
      <p:sp>
        <p:nvSpPr>
          <p:cNvPr id="32" name="Text 21"/>
          <p:cNvSpPr txBox="1"/>
          <p:nvPr/>
        </p:nvSpPr>
        <p:spPr>
          <a:xfrm>
            <a:off x="3931920" y="5715000"/>
            <a:ext cx="4343400" cy="36576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chemeClr val="tx2"/>
                </a:solidFill>
              </a:rPr>
              <a:t>先求有，再求好：回到 Plan，再跑一輪</a:t>
            </a:r>
            <a:endParaRPr lang="zh-TW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節卡片"/>
          <p:cNvSpPr/>
          <p:nvPr/>
        </p:nvSpPr>
        <p:spPr>
          <a:xfrm>
            <a:off x="640080" y="822960"/>
            <a:ext cx="5029200" cy="4645152"/>
          </a:xfrm>
          <a:prstGeom prst="roundRect">
            <a:avLst>
              <a:gd name="adj" fmla="val 2362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水彩色塊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143000"/>
            <a:ext cx="1417320" cy="1417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05840" y="11430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5400" b="1" dirty="0">
                <a:solidFill>
                  <a:schemeClr val="tx1"/>
                </a:solidFill>
              </a:rPr>
              <a:t>P</a:t>
            </a:r>
            <a:endParaRPr lang="zh-TW" sz="54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2697480" y="132588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chemeClr val="accent1"/>
                </a:solidFill>
              </a:rPr>
              <a:t>Plan</a:t>
            </a:r>
            <a:endParaRPr lang="zh-TW" sz="3600" dirty="0"/>
          </a:p>
          <a:p>
            <a:pPr algn="l" indent="0" marL="0">
              <a:buNone/>
            </a:pPr>
            <a:r>
              <a:rPr lang="zh-TW" altLang="en-US" sz="2400" b="1" dirty="0">
                <a:solidFill>
                  <a:schemeClr val="tx2"/>
                </a:solidFill>
              </a:rPr>
              <a:t>計畫</a:t>
            </a:r>
            <a:endParaRPr lang="zh-TW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1051560" y="2880360"/>
            <a:ext cx="4343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accent1"/>
                </a:solidFill>
              </a:rPr>
              <a:t>1　</a:t>
            </a:r>
            <a:pPr indent="0" marL="0">
              <a:spcAft>
                <a:spcPts val="1000"/>
              </a:spcAft>
              <a:buNone/>
            </a:pPr>
            <a:r>
              <a:rPr lang="zh-TW" altLang="en-US" sz="1800" dirty="0">
                <a:solidFill>
                  <a:schemeClr val="tx1"/>
                </a:solidFill>
              </a:rPr>
              <a:t>主題</a:t>
            </a:r>
            <a:endParaRPr lang="zh-TW" sz="1800" dirty="0"/>
          </a:p>
          <a:p>
            <a:pPr indent="0" marL="0">
              <a:buNone/>
            </a:pPr>
            <a:r>
              <a:rPr lang="zh-TW" altLang="en-US" sz="1800" b="1" dirty="0">
                <a:solidFill>
                  <a:schemeClr val="accent1"/>
                </a:solidFill>
              </a:rPr>
              <a:t>2　</a:t>
            </a:r>
            <a:pPr indent="0" marL="0">
              <a:spcAft>
                <a:spcPts val="1000"/>
              </a:spcAft>
              <a:buNone/>
            </a:pPr>
            <a:r>
              <a:rPr lang="zh-TW" altLang="en-US" sz="1800" dirty="0">
                <a:solidFill>
                  <a:schemeClr val="tx1"/>
                </a:solidFill>
              </a:rPr>
              <a:t>相關資源</a:t>
            </a:r>
            <a:endParaRPr lang="zh-TW" sz="1800" dirty="0"/>
          </a:p>
          <a:p>
            <a:pPr indent="0" marL="0">
              <a:buNone/>
            </a:pPr>
            <a:r>
              <a:rPr lang="zh-TW" altLang="en-US" sz="1800" b="1" dirty="0">
                <a:solidFill>
                  <a:schemeClr val="accent1"/>
                </a:solidFill>
              </a:rPr>
              <a:t>3　</a:t>
            </a:r>
            <a:pPr indent="0" marL="0">
              <a:spcAft>
                <a:spcPts val="1000"/>
              </a:spcAft>
              <a:buNone/>
            </a:pPr>
            <a:r>
              <a:rPr lang="zh-TW" altLang="en-US" sz="1800" dirty="0">
                <a:solidFill>
                  <a:schemeClr val="tx1"/>
                </a:solidFill>
              </a:rPr>
              <a:t>開發環境確認</a:t>
            </a:r>
            <a:endParaRPr lang="zh-TW" sz="1800" dirty="0"/>
          </a:p>
          <a:p>
            <a:pPr indent="0" marL="0">
              <a:buNone/>
            </a:pPr>
            <a:r>
              <a:rPr lang="zh-TW" altLang="en-US" sz="1800" b="1" dirty="0">
                <a:solidFill>
                  <a:schemeClr val="accent1"/>
                </a:solidFill>
              </a:rPr>
              <a:t>4　</a:t>
            </a:r>
            <a:pPr indent="0" marL="0">
              <a:spcAft>
                <a:spcPts val="1000"/>
              </a:spcAft>
              <a:buNone/>
            </a:pPr>
            <a:r>
              <a:rPr lang="zh-TW" altLang="en-US" sz="1800" dirty="0">
                <a:solidFill>
                  <a:schemeClr val="tx1"/>
                </a:solidFill>
              </a:rPr>
              <a:t>起手式（不能外包給 AI 的）</a:t>
            </a:r>
            <a:endParaRPr lang="zh-TW" sz="1800" dirty="0"/>
          </a:p>
          <a:p>
            <a:pPr indent="0" marL="0">
              <a:buNone/>
            </a:pPr>
            <a:r>
              <a:rPr lang="zh-TW" altLang="en-US" sz="1800" b="1" dirty="0">
                <a:solidFill>
                  <a:schemeClr val="accent1"/>
                </a:solidFill>
              </a:rPr>
              <a:t>5　</a:t>
            </a:r>
            <a:pPr indent="0" marL="0">
              <a:spcAft>
                <a:spcPts val="1000"/>
              </a:spcAft>
              <a:buNone/>
            </a:pPr>
            <a:r>
              <a:rPr lang="zh-TW" altLang="en-US" sz="1800" dirty="0">
                <a:solidFill>
                  <a:schemeClr val="tx1"/>
                </a:solidFill>
              </a:rPr>
              <a:t>給 AI 的提示詞框架</a:t>
            </a:r>
            <a:endParaRPr lang="zh-TW" sz="1800" dirty="0"/>
          </a:p>
          <a:p>
            <a:pPr indent="0" marL="0">
              <a:buNone/>
            </a:pPr>
            <a:r>
              <a:rPr lang="zh-TW" altLang="en-US" sz="1800" b="1" dirty="0">
                <a:solidFill>
                  <a:schemeClr val="accent1"/>
                </a:solidFill>
              </a:rPr>
              <a:t>6　</a:t>
            </a:r>
            <a:pPr indent="0" marL="0">
              <a:spcAft>
                <a:spcPts val="1000"/>
              </a:spcAft>
              <a:buNone/>
            </a:pPr>
            <a:r>
              <a:rPr lang="zh-TW" altLang="en-US" sz="1800" dirty="0">
                <a:solidFill>
                  <a:schemeClr val="tx1"/>
                </a:solidFill>
              </a:rPr>
              <a:t>素材來源</a:t>
            </a:r>
            <a:endParaRPr lang="zh-TW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1</a:t>
            </a:r>
            <a:endParaRPr lang="zh-TW" sz="3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主題</a:t>
            </a:r>
            <a:endParaRPr lang="zh-TW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00200"/>
            <a:ext cx="5394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2800" b="1" dirty="0">
                <a:solidFill>
                  <a:schemeClr val="accent1"/>
                </a:solidFill>
              </a:rPr>
              <a:t>Step by step，</a:t>
            </a:r>
            <a:endParaRPr lang="zh-TW" sz="1600" dirty="0"/>
          </a:p>
          <a:p>
            <a:pPr indent="0" marL="0">
              <a:buNone/>
            </a:pPr>
            <a:r>
              <a:rPr lang="zh-TW" altLang="en-US" sz="3400" b="1" dirty="0">
                <a:solidFill>
                  <a:schemeClr val="tx1"/>
                </a:solidFill>
              </a:rPr>
              <a:t>建構你的第一手教材</a:t>
            </a:r>
            <a:endParaRPr lang="zh-TW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9260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tx2"/>
                </a:solidFill>
              </a:rPr>
              <a:t>（搭配水彩畫風的 AI 風景圖）</a:t>
            </a:r>
            <a:endParaRPr lang="zh-TW" sz="1600" dirty="0"/>
          </a:p>
        </p:txBody>
      </p:sp>
      <p:sp>
        <p:nvSpPr>
          <p:cNvPr id="7" name="示範教材卡片"/>
          <p:cNvSpPr/>
          <p:nvPr/>
        </p:nvSpPr>
        <p:spPr>
          <a:xfrm>
            <a:off x="548640" y="3611880"/>
            <a:ext cx="5394960" cy="2468880"/>
          </a:xfrm>
          <a:prstGeom prst="roundRect">
            <a:avLst>
              <a:gd name="adj" fmla="val 4444"/>
            </a:avLst>
          </a:prstGeom>
          <a:solidFill>
            <a:schemeClr val="accent1">
              <a:alpha val="9000"/>
            </a:scheme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7240" y="37947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本次示範教材</a:t>
            </a:r>
            <a:endParaRPr lang="zh-TW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41148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2000" b="1" dirty="0">
                <a:solidFill>
                  <a:schemeClr val="tx1"/>
                </a:solidFill>
              </a:rPr>
              <a:t>小朋友的寒假國語特攻隊</a:t>
            </a:r>
            <a:endParaRPr lang="zh-TW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466344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第一課　說文解字：</a:t>
            </a:r>
            <a:pPr indent="0" marL="0">
              <a:spcAft>
                <a:spcPts val="6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挑選生字組成短文，搭配情境圖，解釋生字詞語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第二課　成語猜謎：</a:t>
            </a:r>
            <a:pPr indent="0" marL="0"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把成語故事畫成情境圖，讓小朋友猜成語</a:t>
            </a:r>
            <a:endParaRPr lang="zh-TW" sz="1400" dirty="0"/>
          </a:p>
        </p:txBody>
      </p:sp>
      <p:sp>
        <p:nvSpPr>
          <p:cNvPr id="11" name="畫框"/>
          <p:cNvSpPr/>
          <p:nvPr/>
        </p:nvSpPr>
        <p:spPr>
          <a:xfrm>
            <a:off x="6281928" y="1527048"/>
            <a:ext cx="5431536" cy="3118104"/>
          </a:xfrm>
          <a:prstGeom prst="rect">
            <a:avLst/>
          </a:prstGeom>
          <a:solidFill>
            <a:schemeClr val="bg1"/>
          </a:solidFill>
          <a:ln w="9525">
            <a:solidFill>
              <a:srgbClr val="D5DAE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0" descr="水彩畫風的山景示意圖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600200"/>
            <a:ext cx="5285232" cy="29718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355080" y="4709160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水彩畫風風景圖（示意）</a:t>
            </a:r>
            <a:endParaRPr lang="zh-TW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2</a:t>
            </a:r>
            <a:endParaRPr lang="zh-TW" sz="3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相關資源</a:t>
            </a:r>
            <a:endParaRPr lang="zh-TW" sz="3000" dirty="0"/>
          </a:p>
        </p:txBody>
      </p:sp>
      <p:sp>
        <p:nvSpPr>
          <p:cNvPr id="5" name="教育部小學生字詞彙表"/>
          <p:cNvSpPr/>
          <p:nvPr/>
        </p:nvSpPr>
        <p:spPr>
          <a:xfrm>
            <a:off x="548640" y="1600200"/>
            <a:ext cx="539496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圖示底圓"/>
          <p:cNvSpPr/>
          <p:nvPr/>
        </p:nvSpPr>
        <p:spPr>
          <a:xfrm>
            <a:off x="868680" y="1874520"/>
            <a:ext cx="914400" cy="914400"/>
          </a:xfrm>
          <a:prstGeom prst="ellipse">
            <a:avLst/>
          </a:prstGeom>
          <a:solidFill>
            <a:schemeClr val="accent1">
              <a:alpha val="16000"/>
            </a:schemeClr>
          </a:solidFill>
          <a:ln/>
        </p:spPr>
      </p:sp>
      <p:pic>
        <p:nvPicPr>
          <p:cNvPr id="7" name="Image 0" descr="b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68680" y="2971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2200" b="1" dirty="0">
                <a:solidFill>
                  <a:schemeClr val="tx1"/>
                </a:solidFill>
              </a:rPr>
              <a:t>教育部小學生字詞彙表</a:t>
            </a:r>
            <a:endParaRPr lang="zh-TW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868680" y="34747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tx2"/>
                </a:solidFill>
              </a:rPr>
              <a:t>以此為素材來源，挑選適合年級的生字與詞彙</a:t>
            </a:r>
            <a:endParaRPr lang="zh-TW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68680" y="4160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u="sng" dirty="0">
                <a:solidFill>
                  <a:schemeClr val="accent1"/>
                </a:solidFill>
                <a:hlinkClick r:id="rId2" invalidUrl="" action="" tgtFrame="" tooltip="教育部小學生字詞彙表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pedia.cloud.edu.tw/Bookmark/Textword</a:t>
            </a:r>
            <a:endParaRPr lang="zh-TW" sz="1400" dirty="0"/>
          </a:p>
        </p:txBody>
      </p:sp>
      <p:sp>
        <p:nvSpPr>
          <p:cNvPr id="11" name="教育部語文資源"/>
          <p:cNvSpPr/>
          <p:nvPr/>
        </p:nvSpPr>
        <p:spPr>
          <a:xfrm>
            <a:off x="6245352" y="1600200"/>
            <a:ext cx="539496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圖示底圓"/>
          <p:cNvSpPr/>
          <p:nvPr/>
        </p:nvSpPr>
        <p:spPr>
          <a:xfrm>
            <a:off x="6565392" y="1874520"/>
            <a:ext cx="914400" cy="914400"/>
          </a:xfrm>
          <a:prstGeom prst="ellipse">
            <a:avLst/>
          </a:prstGeom>
          <a:solidFill>
            <a:schemeClr val="accent1">
              <a:alpha val="16000"/>
            </a:schemeClr>
          </a:solidFill>
          <a:ln/>
        </p:spPr>
      </p:sp>
      <p:pic>
        <p:nvPicPr>
          <p:cNvPr id="13" name="Image 1" descr="glob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2093976"/>
            <a:ext cx="475488" cy="47548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565392" y="2971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2200" b="1" dirty="0">
                <a:solidFill>
                  <a:schemeClr val="tx1"/>
                </a:solidFill>
              </a:rPr>
              <a:t>教育部語文資源</a:t>
            </a:r>
            <a:endParaRPr lang="zh-TW" sz="2200" dirty="0"/>
          </a:p>
        </p:txBody>
      </p:sp>
      <p:sp>
        <p:nvSpPr>
          <p:cNvPr id="15" name="Text 10"/>
          <p:cNvSpPr txBox="1"/>
          <p:nvPr/>
        </p:nvSpPr>
        <p:spPr>
          <a:xfrm>
            <a:off x="6565392" y="34747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tx2"/>
                </a:solidFill>
              </a:rPr>
              <a:t>查字典、找成語時的參考來源</a:t>
            </a:r>
            <a:endParaRPr lang="zh-TW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6565392" y="4160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u="sng" dirty="0">
                <a:solidFill>
                  <a:schemeClr val="accent1"/>
                </a:solidFill>
                <a:hlinkClick r:id="rId4" invalidUrl="" action="" tgtFrame="" tooltip="教育部語文資源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language.moe.gov.tw</a:t>
            </a:r>
            <a:endParaRPr lang="zh-TW" sz="1400" dirty="0"/>
          </a:p>
        </p:txBody>
      </p:sp>
      <p:sp>
        <p:nvSpPr>
          <p:cNvPr id="17" name="提示"/>
          <p:cNvSpPr/>
          <p:nvPr/>
        </p:nvSpPr>
        <p:spPr>
          <a:xfrm>
            <a:off x="548640" y="5212080"/>
            <a:ext cx="11091672" cy="685800"/>
          </a:xfrm>
          <a:prstGeom prst="roundRect">
            <a:avLst>
              <a:gd name="adj" fmla="val 16000"/>
            </a:avLst>
          </a:prstGeom>
          <a:solidFill>
            <a:schemeClr val="accent5">
              <a:alpha val="15000"/>
            </a:schemeClr>
          </a:solidFill>
          <a:ln/>
        </p:spPr>
      </p:sp>
      <p:pic>
        <p:nvPicPr>
          <p:cNvPr id="18" name="Image 2" descr="提示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358384"/>
            <a:ext cx="384048" cy="3840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325880" y="521208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這兩個連結也會寫進給 AI 的 prompt（第 8 項），讓 AI 以教育部資源為準</a:t>
            </a:r>
            <a:endParaRPr lang="zh-TW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3</a:t>
            </a:r>
            <a:endParaRPr lang="zh-TW" sz="3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開發環境確認</a:t>
            </a:r>
            <a:endParaRPr lang="zh-TW" sz="3000" dirty="0"/>
          </a:p>
        </p:txBody>
      </p:sp>
      <p:sp>
        <p:nvSpPr>
          <p:cNvPr id="5" name="說明頁連結"/>
          <p:cNvSpPr/>
          <p:nvPr/>
        </p:nvSpPr>
        <p:spPr>
          <a:xfrm>
            <a:off x="548640" y="1600200"/>
            <a:ext cx="11091672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圖示底圓"/>
          <p:cNvSpPr/>
          <p:nvPr/>
        </p:nvSpPr>
        <p:spPr>
          <a:xfrm>
            <a:off x="822960" y="1801368"/>
            <a:ext cx="914400" cy="914400"/>
          </a:xfrm>
          <a:prstGeom prst="ellipse">
            <a:avLst/>
          </a:prstGeom>
          <a:solidFill>
            <a:schemeClr val="accent1">
              <a:alpha val="16000"/>
            </a:schemeClr>
          </a:solidFill>
          <a:ln/>
        </p:spPr>
      </p:sp>
      <p:pic>
        <p:nvPicPr>
          <p:cNvPr id="7" name="Image 0" descr="li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020824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965960" y="178308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2000" b="1" dirty="0">
                <a:solidFill>
                  <a:schemeClr val="tx1"/>
                </a:solidFill>
              </a:rPr>
              <a:t>依照說明頁確認開發環境</a:t>
            </a:r>
            <a:endParaRPr lang="zh-TW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1965960" y="228600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600" u="sng" dirty="0">
                <a:solidFill>
                  <a:schemeClr val="accent1"/>
                </a:solidFill>
                <a:hlinkClick r:id="rId2" invalidUrl="" action="" tgtFrame="" tooltip="Netlify 與 GitHub 設定說明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matt-at-dusseldorf.netlify.app/netlify-github/</a:t>
            </a:r>
            <a:endParaRPr lang="zh-TW" sz="1600" dirty="0"/>
          </a:p>
        </p:txBody>
      </p:sp>
      <p:sp>
        <p:nvSpPr>
          <p:cNvPr id="10" name="GitHub"/>
          <p:cNvSpPr/>
          <p:nvPr/>
        </p:nvSpPr>
        <p:spPr>
          <a:xfrm>
            <a:off x="548640" y="3337560"/>
            <a:ext cx="3447288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1" name="圖示底圓"/>
          <p:cNvSpPr/>
          <p:nvPr/>
        </p:nvSpPr>
        <p:spPr>
          <a:xfrm>
            <a:off x="1810512" y="3566160"/>
            <a:ext cx="914400" cy="914400"/>
          </a:xfrm>
          <a:prstGeom prst="ellipse">
            <a:avLst/>
          </a:prstGeom>
          <a:solidFill>
            <a:schemeClr val="accent1">
              <a:alpha val="16000"/>
            </a:schemeClr>
          </a:solidFill>
          <a:ln/>
        </p:spPr>
      </p:sp>
      <p:pic>
        <p:nvPicPr>
          <p:cNvPr id="12" name="Image 1" descr="githu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9968" y="378561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31520" y="4572000"/>
            <a:ext cx="3081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2000" b="1" dirty="0">
                <a:solidFill>
                  <a:schemeClr val="tx1"/>
                </a:solidFill>
              </a:rPr>
              <a:t>GitHub</a:t>
            </a:r>
            <a:endParaRPr lang="zh-TW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731520" y="5029200"/>
            <a:ext cx="3081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500" dirty="0">
                <a:solidFill>
                  <a:schemeClr val="tx2"/>
                </a:solidFill>
              </a:rPr>
              <a:t>在雲端存放你的教材專案</a:t>
            </a:r>
            <a:endParaRPr lang="zh-TW" sz="1500" dirty="0"/>
          </a:p>
        </p:txBody>
      </p:sp>
      <p:pic>
        <p:nvPicPr>
          <p:cNvPr id="15" name="Image 2" descr="下一步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7368" y="4480560"/>
            <a:ext cx="201168" cy="201168"/>
          </a:xfrm>
          <a:prstGeom prst="rect">
            <a:avLst/>
          </a:prstGeom>
        </p:spPr>
      </p:pic>
      <p:sp>
        <p:nvSpPr>
          <p:cNvPr id="16" name="GitHub Desktop"/>
          <p:cNvSpPr/>
          <p:nvPr/>
        </p:nvSpPr>
        <p:spPr>
          <a:xfrm>
            <a:off x="4370832" y="3337560"/>
            <a:ext cx="3447288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7" name="圖示底圓"/>
          <p:cNvSpPr/>
          <p:nvPr/>
        </p:nvSpPr>
        <p:spPr>
          <a:xfrm>
            <a:off x="5632704" y="3566160"/>
            <a:ext cx="914400" cy="914400"/>
          </a:xfrm>
          <a:prstGeom prst="ellipse">
            <a:avLst/>
          </a:prstGeom>
          <a:solidFill>
            <a:schemeClr val="accent1">
              <a:alpha val="16000"/>
            </a:schemeClr>
          </a:solidFill>
          <a:ln/>
        </p:spPr>
      </p:sp>
      <p:pic>
        <p:nvPicPr>
          <p:cNvPr id="18" name="Image 3" descr="deskto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0" y="3785616"/>
            <a:ext cx="475488" cy="475488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4553712" y="4572000"/>
            <a:ext cx="3081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2000" b="1" dirty="0">
                <a:solidFill>
                  <a:schemeClr val="tx1"/>
                </a:solidFill>
              </a:rPr>
              <a:t>GitHub Desktop</a:t>
            </a:r>
            <a:endParaRPr lang="zh-TW" sz="2000" dirty="0"/>
          </a:p>
        </p:txBody>
      </p:sp>
      <p:sp>
        <p:nvSpPr>
          <p:cNvPr id="20" name="Text 13"/>
          <p:cNvSpPr txBox="1"/>
          <p:nvPr/>
        </p:nvSpPr>
        <p:spPr>
          <a:xfrm>
            <a:off x="4553712" y="5029200"/>
            <a:ext cx="3081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500" dirty="0">
                <a:solidFill>
                  <a:schemeClr val="tx2"/>
                </a:solidFill>
              </a:rPr>
              <a:t>在電腦上把檔案同步到 GitHub</a:t>
            </a:r>
            <a:endParaRPr lang="zh-TW" sz="1500" dirty="0"/>
          </a:p>
        </p:txBody>
      </p:sp>
      <p:pic>
        <p:nvPicPr>
          <p:cNvPr id="21" name="Image 4" descr="下一步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9560" y="4480560"/>
            <a:ext cx="201168" cy="201168"/>
          </a:xfrm>
          <a:prstGeom prst="rect">
            <a:avLst/>
          </a:prstGeom>
        </p:spPr>
      </p:pic>
      <p:sp>
        <p:nvSpPr>
          <p:cNvPr id="22" name="Netlify"/>
          <p:cNvSpPr/>
          <p:nvPr/>
        </p:nvSpPr>
        <p:spPr>
          <a:xfrm>
            <a:off x="8193024" y="3337560"/>
            <a:ext cx="3447288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23" name="圖示底圓"/>
          <p:cNvSpPr/>
          <p:nvPr/>
        </p:nvSpPr>
        <p:spPr>
          <a:xfrm>
            <a:off x="9454896" y="3566160"/>
            <a:ext cx="914400" cy="914400"/>
          </a:xfrm>
          <a:prstGeom prst="ellipse">
            <a:avLst/>
          </a:prstGeom>
          <a:solidFill>
            <a:schemeClr val="accent1">
              <a:alpha val="16000"/>
            </a:schemeClr>
          </a:solidFill>
          <a:ln/>
        </p:spPr>
      </p:sp>
      <p:pic>
        <p:nvPicPr>
          <p:cNvPr id="24" name="Image 5" descr="clou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74352" y="3785616"/>
            <a:ext cx="475488" cy="475488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8375904" y="4572000"/>
            <a:ext cx="3081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2000" b="1" dirty="0">
                <a:solidFill>
                  <a:schemeClr val="tx1"/>
                </a:solidFill>
              </a:rPr>
              <a:t>Netlify</a:t>
            </a:r>
            <a:endParaRPr lang="zh-TW" sz="2000" dirty="0"/>
          </a:p>
        </p:txBody>
      </p:sp>
      <p:sp>
        <p:nvSpPr>
          <p:cNvPr id="26" name="Text 17"/>
          <p:cNvSpPr txBox="1"/>
          <p:nvPr/>
        </p:nvSpPr>
        <p:spPr>
          <a:xfrm>
            <a:off x="8375904" y="5029200"/>
            <a:ext cx="3081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500" dirty="0">
                <a:solidFill>
                  <a:schemeClr val="tx2"/>
                </a:solidFill>
              </a:rPr>
              <a:t>把教材網頁部署上線</a:t>
            </a:r>
            <a:endParaRPr lang="zh-TW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4</a:t>
            </a:r>
            <a:endParaRPr lang="zh-TW" sz="3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起手式：不能外包給 AI 的</a:t>
            </a:r>
            <a:endParaRPr lang="zh-TW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tx2"/>
                </a:solidFill>
              </a:rPr>
              <a:t>這些由老師自己決定，再交給 AI 執行</a:t>
            </a:r>
            <a:endParaRPr lang="zh-TW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9659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課程學習目標</a:t>
            </a:r>
            <a:endParaRPr lang="zh-TW" sz="1800" dirty="0"/>
          </a:p>
        </p:txBody>
      </p:sp>
      <p:sp>
        <p:nvSpPr>
          <p:cNvPr id="7" name="課程學習目標欄位"/>
          <p:cNvSpPr/>
          <p:nvPr/>
        </p:nvSpPr>
        <p:spPr>
          <a:xfrm>
            <a:off x="2423160" y="1965960"/>
            <a:ext cx="443484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dash"/>
          </a:ln>
        </p:spPr>
      </p:sp>
      <p:sp>
        <p:nvSpPr>
          <p:cNvPr id="8" name="Text 5"/>
          <p:cNvSpPr txBox="1"/>
          <p:nvPr/>
        </p:nvSpPr>
        <p:spPr>
          <a:xfrm>
            <a:off x="2606040" y="196596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『　　　　』</a:t>
            </a:r>
            <a:endParaRPr lang="zh-TW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99008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教學對象</a:t>
            </a:r>
            <a:endParaRPr lang="zh-TW" sz="1800" dirty="0"/>
          </a:p>
        </p:txBody>
      </p:sp>
      <p:sp>
        <p:nvSpPr>
          <p:cNvPr id="10" name="教學對象欄位"/>
          <p:cNvSpPr/>
          <p:nvPr/>
        </p:nvSpPr>
        <p:spPr>
          <a:xfrm>
            <a:off x="2423160" y="2990088"/>
            <a:ext cx="443484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dash"/>
          </a:ln>
        </p:spPr>
      </p:sp>
      <p:sp>
        <p:nvSpPr>
          <p:cNvPr id="11" name="Text 8"/>
          <p:cNvSpPr txBox="1"/>
          <p:nvPr/>
        </p:nvSpPr>
        <p:spPr>
          <a:xfrm>
            <a:off x="2606040" y="2990088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示範：國小三年級</a:t>
            </a:r>
            <a:endParaRPr lang="zh-TW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014216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課綱</a:t>
            </a:r>
            <a:endParaRPr lang="zh-TW" sz="1800" dirty="0"/>
          </a:p>
        </p:txBody>
      </p:sp>
      <p:sp>
        <p:nvSpPr>
          <p:cNvPr id="13" name="課綱欄位"/>
          <p:cNvSpPr/>
          <p:nvPr/>
        </p:nvSpPr>
        <p:spPr>
          <a:xfrm>
            <a:off x="2423160" y="4014216"/>
            <a:ext cx="443484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2606040" y="4014216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『　　　　』</a:t>
            </a:r>
            <a:endParaRPr lang="zh-TW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038344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教程清單</a:t>
            </a:r>
            <a:endParaRPr lang="zh-TW" sz="1800" dirty="0"/>
          </a:p>
        </p:txBody>
      </p:sp>
      <p:sp>
        <p:nvSpPr>
          <p:cNvPr id="16" name="教程清單欄位"/>
          <p:cNvSpPr/>
          <p:nvPr/>
        </p:nvSpPr>
        <p:spPr>
          <a:xfrm>
            <a:off x="2423160" y="5038344"/>
            <a:ext cx="443484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2606040" y="5038344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示範：第一課 說文解字、第二課 成語猜謎</a:t>
            </a:r>
            <a:endParaRPr lang="zh-TW" sz="1400" dirty="0"/>
          </a:p>
        </p:txBody>
      </p:sp>
      <p:sp>
        <p:nvSpPr>
          <p:cNvPr id="18" name="選擇屬性"/>
          <p:cNvSpPr/>
          <p:nvPr/>
        </p:nvSpPr>
        <p:spPr>
          <a:xfrm>
            <a:off x="7269480" y="1463040"/>
            <a:ext cx="4370832" cy="4617720"/>
          </a:xfrm>
          <a:prstGeom prst="roundRect">
            <a:avLst>
              <a:gd name="adj" fmla="val 2510"/>
            </a:avLst>
          </a:prstGeom>
          <a:solidFill>
            <a:schemeClr val="accent1">
              <a:alpha val="9000"/>
            </a:schemeClr>
          </a:solidFill>
          <a:ln/>
        </p:spPr>
      </p:sp>
      <p:sp>
        <p:nvSpPr>
          <p:cNvPr id="19" name="圖示底圓"/>
          <p:cNvSpPr/>
          <p:nvPr/>
        </p:nvSpPr>
        <p:spPr>
          <a:xfrm>
            <a:off x="7498080" y="1645920"/>
            <a:ext cx="685800" cy="685800"/>
          </a:xfrm>
          <a:prstGeom prst="ellipse">
            <a:avLst/>
          </a:prstGeom>
          <a:solidFill>
            <a:schemeClr val="accent1">
              <a:alpha val="16000"/>
            </a:schemeClr>
          </a:solidFill>
          <a:ln/>
        </p:spPr>
      </p:sp>
      <p:pic>
        <p:nvPicPr>
          <p:cNvPr id="20" name="Image 0" descr="pai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62672" y="1810512"/>
            <a:ext cx="356616" cy="356616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8321040" y="164592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2000" b="1" dirty="0">
                <a:solidFill>
                  <a:schemeClr val="tx1"/>
                </a:solidFill>
              </a:rPr>
              <a:t>選擇屬性</a:t>
            </a:r>
            <a:endParaRPr lang="zh-TW" sz="2000" dirty="0"/>
          </a:p>
        </p:txBody>
      </p:sp>
      <p:sp>
        <p:nvSpPr>
          <p:cNvPr id="22" name="Text 18"/>
          <p:cNvSpPr txBox="1"/>
          <p:nvPr/>
        </p:nvSpPr>
        <p:spPr>
          <a:xfrm>
            <a:off x="7543800" y="2606040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課程中的人物角色安排</a:t>
            </a:r>
            <a:endParaRPr lang="zh-TW" sz="1600" dirty="0"/>
          </a:p>
          <a:p>
            <a:pPr indent="0" marL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示範：小學生＋可愛動物夥伴</a:t>
            </a:r>
            <a:endParaRPr lang="zh-TW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7543800" y="3456432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背景畫風</a:t>
            </a:r>
            <a:endParaRPr lang="zh-TW" sz="1600" dirty="0"/>
          </a:p>
          <a:p>
            <a:pPr indent="0" marL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示範：日系 Q 版卡通</a:t>
            </a:r>
            <a:endParaRPr lang="zh-TW" sz="1600" dirty="0"/>
          </a:p>
        </p:txBody>
      </p:sp>
      <p:sp>
        <p:nvSpPr>
          <p:cNvPr id="24" name="Text 20"/>
          <p:cNvSpPr txBox="1"/>
          <p:nvPr/>
        </p:nvSpPr>
        <p:spPr>
          <a:xfrm>
            <a:off x="7543800" y="4306824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題型</a:t>
            </a:r>
            <a:endParaRPr lang="zh-TW" sz="1600" dirty="0"/>
          </a:p>
          <a:p>
            <a:pPr indent="0" marL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示範：看圖猜謎＋選擇題</a:t>
            </a:r>
            <a:endParaRPr lang="zh-TW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7543800" y="5157216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等等</a:t>
            </a:r>
            <a:endParaRPr lang="zh-TW" sz="1600" dirty="0"/>
          </a:p>
          <a:p>
            <a:pPr indent="0" marL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示範：學習情境：冒險闖關</a:t>
            </a:r>
            <a:endParaRPr lang="zh-TW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5</a:t>
            </a:r>
            <a:endParaRPr lang="zh-TW" sz="3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給 AI 的提示詞框架</a:t>
            </a:r>
            <a:endParaRPr lang="zh-TW" sz="3000" dirty="0"/>
          </a:p>
        </p:txBody>
      </p:sp>
      <p:sp>
        <p:nvSpPr>
          <p:cNvPr id="5" name="先求有，再求好"/>
          <p:cNvSpPr/>
          <p:nvPr/>
        </p:nvSpPr>
        <p:spPr>
          <a:xfrm>
            <a:off x="548640" y="1828800"/>
            <a:ext cx="3447288" cy="3749040"/>
          </a:xfrm>
          <a:prstGeom prst="roundRect">
            <a:avLst>
              <a:gd name="adj" fmla="val 318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圖示底圓"/>
          <p:cNvSpPr/>
          <p:nvPr/>
        </p:nvSpPr>
        <p:spPr>
          <a:xfrm>
            <a:off x="868680" y="2148840"/>
            <a:ext cx="1005840" cy="1005840"/>
          </a:xfrm>
          <a:prstGeom prst="ellipse">
            <a:avLst/>
          </a:prstGeom>
          <a:solidFill>
            <a:schemeClr val="accent1">
              <a:alpha val="16000"/>
            </a:schemeClr>
          </a:solidFill>
          <a:ln/>
        </p:spPr>
      </p:sp>
      <p:pic>
        <p:nvPicPr>
          <p:cNvPr id="7" name="Image 0" descr="seedl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082" y="2390242"/>
            <a:ext cx="523037" cy="52303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926080" y="20574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4800" b="1" dirty="0">
                <a:solidFill>
                  <a:schemeClr val="accent1"/>
                </a:solidFill>
              </a:rPr>
              <a:t>1</a:t>
            </a:r>
            <a:endParaRPr lang="zh-TW" sz="48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34747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2000" b="1" dirty="0">
                <a:solidFill>
                  <a:schemeClr val="tx1"/>
                </a:solidFill>
              </a:rPr>
              <a:t>先求有，再求好</a:t>
            </a:r>
            <a:endParaRPr lang="zh-TW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416052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700" dirty="0">
                <a:solidFill>
                  <a:schemeClr val="tx2"/>
                </a:solidFill>
              </a:rPr>
              <a:t>先跟 AI 練出默契，找出互補的細節</a:t>
            </a:r>
            <a:endParaRPr lang="zh-TW" sz="1700" dirty="0"/>
          </a:p>
        </p:txBody>
      </p:sp>
      <p:sp>
        <p:nvSpPr>
          <p:cNvPr id="11" name="不能只有標題，要有大綱"/>
          <p:cNvSpPr/>
          <p:nvPr/>
        </p:nvSpPr>
        <p:spPr>
          <a:xfrm>
            <a:off x="4370832" y="1828800"/>
            <a:ext cx="3447288" cy="3749040"/>
          </a:xfrm>
          <a:prstGeom prst="roundRect">
            <a:avLst>
              <a:gd name="adj" fmla="val 318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圖示底圓"/>
          <p:cNvSpPr/>
          <p:nvPr/>
        </p:nvSpPr>
        <p:spPr>
          <a:xfrm>
            <a:off x="4690872" y="2148840"/>
            <a:ext cx="1005840" cy="1005840"/>
          </a:xfrm>
          <a:prstGeom prst="ellipse">
            <a:avLst/>
          </a:prstGeom>
          <a:solidFill>
            <a:schemeClr val="accent1">
              <a:alpha val="16000"/>
            </a:schemeClr>
          </a:solidFill>
          <a:ln/>
        </p:spPr>
      </p:sp>
      <p:pic>
        <p:nvPicPr>
          <p:cNvPr id="13" name="Image 1" descr="li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2274" y="2390242"/>
            <a:ext cx="523037" cy="52303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748272" y="20574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4800" b="1" dirty="0">
                <a:solidFill>
                  <a:schemeClr val="accent1"/>
                </a:solidFill>
              </a:rPr>
              <a:t>2</a:t>
            </a:r>
            <a:endParaRPr lang="zh-TW" sz="4800" dirty="0"/>
          </a:p>
        </p:txBody>
      </p:sp>
      <p:sp>
        <p:nvSpPr>
          <p:cNvPr id="15" name="Text 10"/>
          <p:cNvSpPr txBox="1"/>
          <p:nvPr/>
        </p:nvSpPr>
        <p:spPr>
          <a:xfrm>
            <a:off x="4645152" y="34747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2000" b="1" dirty="0">
                <a:solidFill>
                  <a:schemeClr val="tx1"/>
                </a:solidFill>
              </a:rPr>
              <a:t>不能只有標題，要有大綱</a:t>
            </a:r>
            <a:endParaRPr lang="zh-TW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4645152" y="416052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700" dirty="0">
                <a:solidFill>
                  <a:schemeClr val="tx2"/>
                </a:solidFill>
              </a:rPr>
              <a:t>訂出階梯與邊界</a:t>
            </a:r>
            <a:endParaRPr lang="zh-TW" sz="1700" dirty="0"/>
          </a:p>
        </p:txBody>
      </p:sp>
      <p:sp>
        <p:nvSpPr>
          <p:cNvPr id="17" name="AI 是一分錢一分貨"/>
          <p:cNvSpPr/>
          <p:nvPr/>
        </p:nvSpPr>
        <p:spPr>
          <a:xfrm>
            <a:off x="8193024" y="1828800"/>
            <a:ext cx="3447288" cy="3749040"/>
          </a:xfrm>
          <a:prstGeom prst="roundRect">
            <a:avLst>
              <a:gd name="adj" fmla="val 318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圖示底圓"/>
          <p:cNvSpPr/>
          <p:nvPr/>
        </p:nvSpPr>
        <p:spPr>
          <a:xfrm>
            <a:off x="8513064" y="2148840"/>
            <a:ext cx="1005840" cy="1005840"/>
          </a:xfrm>
          <a:prstGeom prst="ellipse">
            <a:avLst/>
          </a:prstGeom>
          <a:solidFill>
            <a:schemeClr val="accent1">
              <a:alpha val="16000"/>
            </a:schemeClr>
          </a:solidFill>
          <a:ln/>
        </p:spPr>
      </p:sp>
      <p:pic>
        <p:nvPicPr>
          <p:cNvPr id="19" name="Image 2" descr="coin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4466" y="2390242"/>
            <a:ext cx="523037" cy="523037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0570464" y="20574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4800" b="1" dirty="0">
                <a:solidFill>
                  <a:schemeClr val="accent1"/>
                </a:solidFill>
              </a:rPr>
              <a:t>3</a:t>
            </a:r>
            <a:endParaRPr lang="zh-TW" sz="4800" dirty="0"/>
          </a:p>
        </p:txBody>
      </p:sp>
      <p:sp>
        <p:nvSpPr>
          <p:cNvPr id="21" name="Text 15"/>
          <p:cNvSpPr txBox="1"/>
          <p:nvPr/>
        </p:nvSpPr>
        <p:spPr>
          <a:xfrm>
            <a:off x="8467344" y="34747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2000" b="1" dirty="0">
                <a:solidFill>
                  <a:schemeClr val="tx1"/>
                </a:solidFill>
              </a:rPr>
              <a:t>AI 是一分錢一分貨</a:t>
            </a:r>
            <a:endParaRPr lang="zh-TW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8467344" y="416052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700" dirty="0">
                <a:solidFill>
                  <a:schemeClr val="tx2"/>
                </a:solidFill>
              </a:rPr>
              <a:t>但想法多不一定抓得到重點</a:t>
            </a:r>
            <a:endParaRPr lang="zh-TW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6</a:t>
            </a:r>
            <a:endParaRPr lang="zh-TW" sz="3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素材來源</a:t>
            </a:r>
            <a:endParaRPr lang="zh-TW" sz="3000" dirty="0"/>
          </a:p>
        </p:txBody>
      </p:sp>
      <p:sp>
        <p:nvSpPr>
          <p:cNvPr id="5" name="AI 圖片"/>
          <p:cNvSpPr/>
          <p:nvPr/>
        </p:nvSpPr>
        <p:spPr>
          <a:xfrm>
            <a:off x="548640" y="1691640"/>
            <a:ext cx="3447288" cy="4206240"/>
          </a:xfrm>
          <a:prstGeom prst="roundRect">
            <a:avLst>
              <a:gd name="adj" fmla="val 318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圖示底圓"/>
          <p:cNvSpPr/>
          <p:nvPr/>
        </p:nvSpPr>
        <p:spPr>
          <a:xfrm>
            <a:off x="868680" y="2011680"/>
            <a:ext cx="914400" cy="914400"/>
          </a:xfrm>
          <a:prstGeom prst="ellipse">
            <a:avLst/>
          </a:prstGeom>
          <a:solidFill>
            <a:schemeClr val="accent1">
              <a:alpha val="16000"/>
            </a:schemeClr>
          </a:solidFill>
          <a:ln/>
        </p:spPr>
      </p:sp>
      <p:pic>
        <p:nvPicPr>
          <p:cNvPr id="7" name="Image 0" descr="im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223113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68680" y="3108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2200" b="1" dirty="0">
                <a:solidFill>
                  <a:schemeClr val="tx1"/>
                </a:solidFill>
              </a:rPr>
              <a:t>AI 圖片</a:t>
            </a:r>
            <a:endParaRPr lang="zh-TW" sz="2200" dirty="0"/>
          </a:p>
        </p:txBody>
      </p:sp>
      <p:sp>
        <p:nvSpPr>
          <p:cNvPr id="9" name="Gemini"/>
          <p:cNvSpPr/>
          <p:nvPr/>
        </p:nvSpPr>
        <p:spPr>
          <a:xfrm>
            <a:off x="868680" y="3840480"/>
            <a:ext cx="2807208" cy="594360"/>
          </a:xfrm>
          <a:prstGeom prst="roundRect">
            <a:avLst>
              <a:gd name="adj" fmla="val 46154"/>
            </a:avLst>
          </a:prstGeom>
          <a:solidFill>
            <a:schemeClr val="accent1">
              <a:alpha val="10000"/>
            </a:schemeClr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1051560" y="384048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Gemini</a:t>
            </a:r>
            <a:endParaRPr lang="zh-TW" sz="1600" dirty="0"/>
          </a:p>
        </p:txBody>
      </p:sp>
      <p:sp>
        <p:nvSpPr>
          <p:cNvPr id="11" name="ChatGPT"/>
          <p:cNvSpPr/>
          <p:nvPr/>
        </p:nvSpPr>
        <p:spPr>
          <a:xfrm>
            <a:off x="868680" y="4617720"/>
            <a:ext cx="2807208" cy="594360"/>
          </a:xfrm>
          <a:prstGeom prst="roundRect">
            <a:avLst>
              <a:gd name="adj" fmla="val 46154"/>
            </a:avLst>
          </a:prstGeom>
          <a:solidFill>
            <a:schemeClr val="accent1">
              <a:alpha val="10000"/>
            </a:schemeClr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1051560" y="46177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ChatGPT</a:t>
            </a:r>
            <a:endParaRPr lang="zh-TW" sz="1600" dirty="0"/>
          </a:p>
        </p:txBody>
      </p:sp>
      <p:sp>
        <p:nvSpPr>
          <p:cNvPr id="13" name="AI 聲音"/>
          <p:cNvSpPr/>
          <p:nvPr/>
        </p:nvSpPr>
        <p:spPr>
          <a:xfrm>
            <a:off x="4370832" y="1691640"/>
            <a:ext cx="3447288" cy="4206240"/>
          </a:xfrm>
          <a:prstGeom prst="roundRect">
            <a:avLst>
              <a:gd name="adj" fmla="val 318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圖示底圓"/>
          <p:cNvSpPr/>
          <p:nvPr/>
        </p:nvSpPr>
        <p:spPr>
          <a:xfrm>
            <a:off x="4690872" y="2011680"/>
            <a:ext cx="914400" cy="914400"/>
          </a:xfrm>
          <a:prstGeom prst="ellipse">
            <a:avLst/>
          </a:prstGeom>
          <a:solidFill>
            <a:schemeClr val="accent1">
              <a:alpha val="16000"/>
            </a:schemeClr>
          </a:solidFill>
          <a:ln/>
        </p:spPr>
      </p:sp>
      <p:pic>
        <p:nvPicPr>
          <p:cNvPr id="15" name="Image 1" descr="musi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2231136"/>
            <a:ext cx="475488" cy="47548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90872" y="3108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2200" b="1" dirty="0">
                <a:solidFill>
                  <a:schemeClr val="tx1"/>
                </a:solidFill>
              </a:rPr>
              <a:t>AI 聲音</a:t>
            </a:r>
            <a:endParaRPr lang="zh-TW" sz="2200" dirty="0"/>
          </a:p>
        </p:txBody>
      </p:sp>
      <p:sp>
        <p:nvSpPr>
          <p:cNvPr id="17" name="配樂"/>
          <p:cNvSpPr/>
          <p:nvPr/>
        </p:nvSpPr>
        <p:spPr>
          <a:xfrm>
            <a:off x="4690872" y="3840480"/>
            <a:ext cx="2807208" cy="594360"/>
          </a:xfrm>
          <a:prstGeom prst="roundRect">
            <a:avLst>
              <a:gd name="adj" fmla="val 46154"/>
            </a:avLst>
          </a:prstGeom>
          <a:solidFill>
            <a:schemeClr val="accent1">
              <a:alpha val="10000"/>
            </a:schemeClr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4873752" y="384048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tx2"/>
                </a:solidFill>
              </a:rPr>
              <a:t>配樂：</a:t>
            </a:r>
            <a:pPr indent="0" marL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Suno</a:t>
            </a:r>
            <a:endParaRPr lang="zh-TW" sz="1600" dirty="0"/>
          </a:p>
        </p:txBody>
      </p:sp>
      <p:sp>
        <p:nvSpPr>
          <p:cNvPr id="19" name="音效"/>
          <p:cNvSpPr/>
          <p:nvPr/>
        </p:nvSpPr>
        <p:spPr>
          <a:xfrm>
            <a:off x="4690872" y="4617720"/>
            <a:ext cx="2807208" cy="594360"/>
          </a:xfrm>
          <a:prstGeom prst="roundRect">
            <a:avLst>
              <a:gd name="adj" fmla="val 46154"/>
            </a:avLst>
          </a:prstGeom>
          <a:solidFill>
            <a:schemeClr val="accent1">
              <a:alpha val="10000"/>
            </a:schemeClr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4873752" y="46177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tx2"/>
                </a:solidFill>
              </a:rPr>
              <a:t>音效：</a:t>
            </a:r>
            <a:pPr indent="0" marL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ElevenLabs</a:t>
            </a:r>
            <a:endParaRPr lang="zh-TW" sz="1600" dirty="0"/>
          </a:p>
        </p:txBody>
      </p:sp>
      <p:sp>
        <p:nvSpPr>
          <p:cNvPr id="21" name="文案"/>
          <p:cNvSpPr/>
          <p:nvPr/>
        </p:nvSpPr>
        <p:spPr>
          <a:xfrm>
            <a:off x="8193024" y="1691640"/>
            <a:ext cx="3447288" cy="4206240"/>
          </a:xfrm>
          <a:prstGeom prst="roundRect">
            <a:avLst>
              <a:gd name="adj" fmla="val 3183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圖示底圓"/>
          <p:cNvSpPr/>
          <p:nvPr/>
        </p:nvSpPr>
        <p:spPr>
          <a:xfrm>
            <a:off x="8513064" y="2011680"/>
            <a:ext cx="914400" cy="914400"/>
          </a:xfrm>
          <a:prstGeom prst="ellipse">
            <a:avLst/>
          </a:prstGeom>
          <a:solidFill>
            <a:schemeClr val="bg1">
              <a:alpha val="85000"/>
            </a:schemeClr>
          </a:solidFill>
          <a:ln/>
        </p:spPr>
      </p:sp>
      <p:pic>
        <p:nvPicPr>
          <p:cNvPr id="23" name="Image 2" descr="筆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1664" y="2240280"/>
            <a:ext cx="457200" cy="45720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8513064" y="3108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2200" b="1" dirty="0">
                <a:solidFill>
                  <a:schemeClr val="bg1"/>
                </a:solidFill>
              </a:rPr>
              <a:t>文案</a:t>
            </a:r>
            <a:endParaRPr lang="zh-TW" sz="2200" dirty="0"/>
          </a:p>
        </p:txBody>
      </p:sp>
      <p:sp>
        <p:nvSpPr>
          <p:cNvPr id="25" name="Text 19"/>
          <p:cNvSpPr txBox="1"/>
          <p:nvPr/>
        </p:nvSpPr>
        <p:spPr>
          <a:xfrm>
            <a:off x="8513064" y="384048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800" dirty="0">
                <a:solidFill>
                  <a:schemeClr val="bg1"/>
                </a:solidFill>
              </a:rPr>
              <a:t>建議還是要由你的大腦駕馭 AI，不是放任 AI 天馬行空</a:t>
            </a:r>
            <a:endParaRPr lang="zh-TW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節卡片"/>
          <p:cNvSpPr/>
          <p:nvPr/>
        </p:nvSpPr>
        <p:spPr>
          <a:xfrm>
            <a:off x="640080" y="822960"/>
            <a:ext cx="5029200" cy="3255264"/>
          </a:xfrm>
          <a:prstGeom prst="roundRect">
            <a:avLst>
              <a:gd name="adj" fmla="val 3371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水彩色塊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143000"/>
            <a:ext cx="1417320" cy="1417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05840" y="11430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5400" b="1" dirty="0">
                <a:solidFill>
                  <a:schemeClr val="tx1"/>
                </a:solidFill>
              </a:rPr>
              <a:t>D</a:t>
            </a:r>
            <a:endParaRPr lang="zh-TW" sz="54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2697480" y="132588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chemeClr val="accent2"/>
                </a:solidFill>
              </a:rPr>
              <a:t>Do</a:t>
            </a:r>
            <a:endParaRPr lang="zh-TW" sz="3600" dirty="0"/>
          </a:p>
          <a:p>
            <a:pPr algn="l" indent="0" marL="0">
              <a:buNone/>
            </a:pPr>
            <a:r>
              <a:rPr lang="zh-TW" altLang="en-US" sz="2400" b="1" dirty="0">
                <a:solidFill>
                  <a:schemeClr val="tx2"/>
                </a:solidFill>
              </a:rPr>
              <a:t>執行</a:t>
            </a:r>
            <a:endParaRPr lang="zh-TW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1051560" y="2880360"/>
            <a:ext cx="4343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accent2"/>
                </a:solidFill>
              </a:rPr>
              <a:t>7　</a:t>
            </a:r>
            <a:pPr indent="0" marL="0">
              <a:spcAft>
                <a:spcPts val="1000"/>
              </a:spcAft>
              <a:buNone/>
            </a:pPr>
            <a:r>
              <a:rPr lang="zh-TW" altLang="en-US" sz="1800" dirty="0">
                <a:solidFill>
                  <a:schemeClr val="tx1"/>
                </a:solidFill>
              </a:rPr>
              <a:t>執行：建立專案並同步到 GitHub</a:t>
            </a:r>
            <a:endParaRPr lang="zh-TW" sz="1800" dirty="0"/>
          </a:p>
          <a:p>
            <a:pPr indent="0" marL="0">
              <a:buNone/>
            </a:pPr>
            <a:r>
              <a:rPr lang="zh-TW" altLang="en-US" sz="1800" b="1" dirty="0">
                <a:solidFill>
                  <a:schemeClr val="accent2"/>
                </a:solidFill>
              </a:rPr>
              <a:t>8　</a:t>
            </a:r>
            <a:pPr indent="0" marL="0">
              <a:spcAft>
                <a:spcPts val="1000"/>
              </a:spcAft>
              <a:buNone/>
            </a:pPr>
            <a:r>
              <a:rPr lang="zh-TW" altLang="en-US" sz="1800" dirty="0">
                <a:solidFill>
                  <a:schemeClr val="tx1"/>
                </a:solidFill>
              </a:rPr>
              <a:t>到你的 AI 仿照 prompt 產生教材</a:t>
            </a:r>
            <a:endParaRPr lang="zh-TW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7</a:t>
            </a:r>
            <a:endParaRPr lang="zh-TW" sz="3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執行：四個步驟建立專案</a:t>
            </a:r>
            <a:endParaRPr lang="zh-TW" sz="3000" dirty="0"/>
          </a:p>
        </p:txBody>
      </p:sp>
      <p:sp>
        <p:nvSpPr>
          <p:cNvPr id="5" name="建立專案概念"/>
          <p:cNvSpPr/>
          <p:nvPr/>
        </p:nvSpPr>
        <p:spPr>
          <a:xfrm>
            <a:off x="548640" y="1691640"/>
            <a:ext cx="2514600" cy="356616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圖示底圓"/>
          <p:cNvSpPr/>
          <p:nvPr/>
        </p:nvSpPr>
        <p:spPr>
          <a:xfrm>
            <a:off x="822960" y="1965960"/>
            <a:ext cx="868680" cy="868680"/>
          </a:xfrm>
          <a:prstGeom prst="ellipse">
            <a:avLst/>
          </a:prstGeom>
          <a:solidFill>
            <a:schemeClr val="accent2">
              <a:alpha val="16000"/>
            </a:schemeClr>
          </a:solidFill>
          <a:ln/>
        </p:spPr>
      </p:sp>
      <p:pic>
        <p:nvPicPr>
          <p:cNvPr id="7" name="Image 0" descr="f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443" y="2174443"/>
            <a:ext cx="451714" cy="45171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874520" y="1965960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2400" b="1" dirty="0">
                <a:solidFill>
                  <a:schemeClr val="accent2"/>
                </a:solidFill>
              </a:rPr>
              <a:t>7.1</a:t>
            </a:r>
            <a:endParaRPr lang="zh-TW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0632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建立專案概念</a:t>
            </a:r>
            <a:endParaRPr lang="zh-TW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8862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準備一個電腦上的資料夾</a:t>
            </a:r>
            <a:endParaRPr lang="zh-TW" sz="1400" dirty="0"/>
          </a:p>
        </p:txBody>
      </p:sp>
      <p:pic>
        <p:nvPicPr>
          <p:cNvPr id="11" name="Image 1" descr="下一步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7248" y="3364992"/>
            <a:ext cx="219456" cy="219456"/>
          </a:xfrm>
          <a:prstGeom prst="rect">
            <a:avLst/>
          </a:prstGeom>
        </p:spPr>
      </p:pic>
      <p:sp>
        <p:nvSpPr>
          <p:cNvPr id="12" name="到 GitHub 建立專案"/>
          <p:cNvSpPr/>
          <p:nvPr/>
        </p:nvSpPr>
        <p:spPr>
          <a:xfrm>
            <a:off x="3410712" y="1691640"/>
            <a:ext cx="2514600" cy="356616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圖示底圓"/>
          <p:cNvSpPr/>
          <p:nvPr/>
        </p:nvSpPr>
        <p:spPr>
          <a:xfrm>
            <a:off x="3685032" y="1965960"/>
            <a:ext cx="868680" cy="868680"/>
          </a:xfrm>
          <a:prstGeom prst="ellipse">
            <a:avLst/>
          </a:prstGeom>
          <a:solidFill>
            <a:schemeClr val="accent2">
              <a:alpha val="16000"/>
            </a:schemeClr>
          </a:solidFill>
          <a:ln/>
        </p:spPr>
      </p:sp>
      <p:pic>
        <p:nvPicPr>
          <p:cNvPr id="14" name="Image 2" descr="githu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3515" y="2174443"/>
            <a:ext cx="451714" cy="45171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736592" y="1965960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2400" b="1" dirty="0">
                <a:solidFill>
                  <a:schemeClr val="accent2"/>
                </a:solidFill>
              </a:rPr>
              <a:t>7.2</a:t>
            </a:r>
            <a:endParaRPr lang="zh-TW" sz="2400" dirty="0"/>
          </a:p>
        </p:txBody>
      </p:sp>
      <p:sp>
        <p:nvSpPr>
          <p:cNvPr id="16" name="Text 10"/>
          <p:cNvSpPr txBox="1"/>
          <p:nvPr/>
        </p:nvSpPr>
        <p:spPr>
          <a:xfrm>
            <a:off x="3639312" y="30632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到 GitHub 建立專案</a:t>
            </a:r>
            <a:endParaRPr lang="zh-TW" sz="1600" dirty="0"/>
          </a:p>
        </p:txBody>
      </p:sp>
      <p:sp>
        <p:nvSpPr>
          <p:cNvPr id="17" name="Text 11"/>
          <p:cNvSpPr txBox="1"/>
          <p:nvPr/>
        </p:nvSpPr>
        <p:spPr>
          <a:xfrm>
            <a:off x="3639312" y="38862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用 GitHub Desktop clone 到電腦，確認本地資料夾</a:t>
            </a:r>
            <a:endParaRPr lang="zh-TW" sz="1400" dirty="0"/>
          </a:p>
        </p:txBody>
      </p:sp>
      <p:pic>
        <p:nvPicPr>
          <p:cNvPr id="18" name="Image 3" descr="下一步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3364992"/>
            <a:ext cx="219456" cy="219456"/>
          </a:xfrm>
          <a:prstGeom prst="rect">
            <a:avLst/>
          </a:prstGeom>
        </p:spPr>
      </p:pic>
      <p:sp>
        <p:nvSpPr>
          <p:cNvPr id="19" name="建立你的本地資料夾"/>
          <p:cNvSpPr/>
          <p:nvPr/>
        </p:nvSpPr>
        <p:spPr>
          <a:xfrm>
            <a:off x="6272784" y="1691640"/>
            <a:ext cx="2514600" cy="356616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圖示底圓"/>
          <p:cNvSpPr/>
          <p:nvPr/>
        </p:nvSpPr>
        <p:spPr>
          <a:xfrm>
            <a:off x="6547104" y="1965960"/>
            <a:ext cx="868680" cy="868680"/>
          </a:xfrm>
          <a:prstGeom prst="ellipse">
            <a:avLst/>
          </a:prstGeom>
          <a:solidFill>
            <a:schemeClr val="accent2">
              <a:alpha val="16000"/>
            </a:schemeClr>
          </a:solidFill>
          <a:ln/>
        </p:spPr>
      </p:sp>
      <p:pic>
        <p:nvPicPr>
          <p:cNvPr id="21" name="Image 4" descr="folderPlu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5587" y="2174443"/>
            <a:ext cx="451714" cy="451714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598664" y="1965960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2400" b="1" dirty="0">
                <a:solidFill>
                  <a:schemeClr val="accent2"/>
                </a:solidFill>
              </a:rPr>
              <a:t>7.3</a:t>
            </a:r>
            <a:endParaRPr lang="zh-TW" sz="2400" dirty="0"/>
          </a:p>
        </p:txBody>
      </p:sp>
      <p:sp>
        <p:nvSpPr>
          <p:cNvPr id="23" name="Text 15"/>
          <p:cNvSpPr txBox="1"/>
          <p:nvPr/>
        </p:nvSpPr>
        <p:spPr>
          <a:xfrm>
            <a:off x="6501384" y="30632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建立你的本地資料夾</a:t>
            </a:r>
            <a:endParaRPr lang="zh-TW" sz="1600" dirty="0"/>
          </a:p>
        </p:txBody>
      </p:sp>
      <p:sp>
        <p:nvSpPr>
          <p:cNvPr id="24" name="Text 16"/>
          <p:cNvSpPr txBox="1"/>
          <p:nvPr/>
        </p:nvSpPr>
        <p:spPr>
          <a:xfrm>
            <a:off x="6501384" y="38862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把資料檔案分門別類放入</a:t>
            </a:r>
            <a:endParaRPr lang="zh-TW" sz="1400" dirty="0"/>
          </a:p>
        </p:txBody>
      </p:sp>
      <p:pic>
        <p:nvPicPr>
          <p:cNvPr id="25" name="Image 5" descr="下一步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1392" y="3364992"/>
            <a:ext cx="219456" cy="219456"/>
          </a:xfrm>
          <a:prstGeom prst="rect">
            <a:avLst/>
          </a:prstGeom>
        </p:spPr>
      </p:pic>
      <p:sp>
        <p:nvSpPr>
          <p:cNvPr id="26" name="同步到 GitHub"/>
          <p:cNvSpPr/>
          <p:nvPr/>
        </p:nvSpPr>
        <p:spPr>
          <a:xfrm>
            <a:off x="9134856" y="1691640"/>
            <a:ext cx="2514600" cy="356616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圖示底圓"/>
          <p:cNvSpPr/>
          <p:nvPr/>
        </p:nvSpPr>
        <p:spPr>
          <a:xfrm>
            <a:off x="9409176" y="1965960"/>
            <a:ext cx="868680" cy="868680"/>
          </a:xfrm>
          <a:prstGeom prst="ellipse">
            <a:avLst/>
          </a:prstGeom>
          <a:solidFill>
            <a:schemeClr val="accent2">
              <a:alpha val="16000"/>
            </a:schemeClr>
          </a:solidFill>
          <a:ln/>
        </p:spPr>
      </p:sp>
      <p:pic>
        <p:nvPicPr>
          <p:cNvPr id="28" name="Image 6" descr="sync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17659" y="2174443"/>
            <a:ext cx="451714" cy="451714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10460736" y="1965960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2400" b="1" dirty="0">
                <a:solidFill>
                  <a:schemeClr val="accent2"/>
                </a:solidFill>
              </a:rPr>
              <a:t>7.4</a:t>
            </a:r>
            <a:endParaRPr lang="zh-TW" sz="2400" dirty="0"/>
          </a:p>
        </p:txBody>
      </p:sp>
      <p:sp>
        <p:nvSpPr>
          <p:cNvPr id="30" name="Text 20"/>
          <p:cNvSpPr txBox="1"/>
          <p:nvPr/>
        </p:nvSpPr>
        <p:spPr>
          <a:xfrm>
            <a:off x="9363456" y="30632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同步到 GitHub</a:t>
            </a:r>
            <a:endParaRPr lang="zh-TW" sz="1600" dirty="0"/>
          </a:p>
        </p:txBody>
      </p:sp>
      <p:sp>
        <p:nvSpPr>
          <p:cNvPr id="31" name="Text 21"/>
          <p:cNvSpPr txBox="1"/>
          <p:nvPr/>
        </p:nvSpPr>
        <p:spPr>
          <a:xfrm>
            <a:off x="9363456" y="38862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填入本次更新摘要，commit and push</a:t>
            </a:r>
            <a:endParaRPr lang="zh-TW" sz="1400" dirty="0"/>
          </a:p>
        </p:txBody>
      </p:sp>
      <p:sp>
        <p:nvSpPr>
          <p:cNvPr id="32" name="下一步"/>
          <p:cNvSpPr/>
          <p:nvPr/>
        </p:nvSpPr>
        <p:spPr>
          <a:xfrm>
            <a:off x="548640" y="5532120"/>
            <a:ext cx="11091672" cy="594360"/>
          </a:xfrm>
          <a:prstGeom prst="roundRect">
            <a:avLst>
              <a:gd name="adj" fmla="val 18462"/>
            </a:avLst>
          </a:prstGeom>
          <a:solidFill>
            <a:schemeClr val="accent2">
              <a:alpha val="10000"/>
            </a:schemeClr>
          </a:solidFill>
          <a:ln/>
        </p:spPr>
      </p:sp>
      <p:sp>
        <p:nvSpPr>
          <p:cNvPr id="33" name="Text 23"/>
          <p:cNvSpPr txBox="1"/>
          <p:nvPr/>
        </p:nvSpPr>
        <p:spPr>
          <a:xfrm>
            <a:off x="777240" y="553212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accent2"/>
                </a:solidFill>
              </a:rPr>
              <a:t>接下來（第 8 項）：</a:t>
            </a:r>
            <a:pPr indent="0" marL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把 prompt 交給 AI，產出可以部署到 Netlify 的教材網頁</a:t>
            </a:r>
            <a:endParaRPr lang="zh-TW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7</a:t>
            </a:r>
            <a:endParaRPr lang="zh-TW" sz="3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chemeClr val="accent2"/>
                </a:solidFill>
              </a:rPr>
              <a:t>7.1　</a:t>
            </a:r>
            <a:pPr algn="l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建立專案概念</a:t>
            </a:r>
            <a:endParaRPr lang="zh-TW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accent2"/>
                </a:solidFill>
              </a:rPr>
              <a:t>7.1.1　</a:t>
            </a:r>
            <a:pPr indent="0" marL="0">
              <a:buNone/>
            </a:pPr>
            <a:r>
              <a:rPr lang="zh-TW" altLang="en-US" sz="1800" dirty="0">
                <a:solidFill>
                  <a:schemeClr val="tx1"/>
                </a:solidFill>
              </a:rPr>
              <a:t>準備一個電腦上的資料夾</a:t>
            </a:r>
            <a:endParaRPr lang="zh-TW" sz="1800" dirty="0"/>
          </a:p>
        </p:txBody>
      </p:sp>
      <p:sp>
        <p:nvSpPr>
          <p:cNvPr id="6" name="專案資料夾"/>
          <p:cNvSpPr/>
          <p:nvPr/>
        </p:nvSpPr>
        <p:spPr>
          <a:xfrm>
            <a:off x="914400" y="2240280"/>
            <a:ext cx="4937760" cy="868680"/>
          </a:xfrm>
          <a:prstGeom prst="roundRect">
            <a:avLst>
              <a:gd name="adj" fmla="val 12632"/>
            </a:avLst>
          </a:prstGeom>
          <a:solidFill>
            <a:schemeClr val="accent2">
              <a:alpha val="12000"/>
            </a:schemeClr>
          </a:solidFill>
          <a:ln/>
        </p:spPr>
      </p:sp>
      <p:pic>
        <p:nvPicPr>
          <p:cNvPr id="7" name="Image 0" descr="資料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423160"/>
            <a:ext cx="502920" cy="5029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828800" y="2313432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專案名稱 ex.</a:t>
            </a:r>
            <a:endParaRPr lang="zh-TW" sz="1600" dirty="0"/>
          </a:p>
          <a:p>
            <a:pPr indent="0" marL="0">
              <a:buNone/>
            </a:pPr>
            <a:r>
              <a:rPr lang="zh-TW" altLang="en-US" sz="2000" b="1" dirty="0">
                <a:solidFill>
                  <a:schemeClr val="tx1"/>
                </a:solidFill>
              </a:rPr>
              <a:t>東大 2026_Step-by-Step</a:t>
            </a:r>
            <a:endParaRPr lang="zh-TW" sz="1600" dirty="0"/>
          </a:p>
        </p:txBody>
      </p:sp>
      <p:sp>
        <p:nvSpPr>
          <p:cNvPr id="9" name="Shape 5"/>
          <p:cNvSpPr/>
          <p:nvPr/>
        </p:nvSpPr>
        <p:spPr>
          <a:xfrm>
            <a:off x="1417320" y="3108960"/>
            <a:ext cx="0" cy="237744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417320" y="3931920"/>
            <a:ext cx="5943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11" name="doc"/>
          <p:cNvSpPr/>
          <p:nvPr/>
        </p:nvSpPr>
        <p:spPr>
          <a:xfrm>
            <a:off x="2103120" y="3520440"/>
            <a:ext cx="2743200" cy="82296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rgbClr val="D5DAE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1" descr="資料夾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70332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880360" y="352044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2000" b="1" dirty="0">
                <a:solidFill>
                  <a:schemeClr val="tx1"/>
                </a:solidFill>
              </a:rPr>
              <a:t>doc</a:t>
            </a:r>
            <a:endParaRPr lang="zh-TW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5120640" y="352044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tx2"/>
                </a:solidFill>
              </a:rPr>
              <a:t>放文字資料，例如課程大綱「課程.txt」</a:t>
            </a:r>
            <a:endParaRPr lang="zh-TW" sz="1600" dirty="0"/>
          </a:p>
        </p:txBody>
      </p:sp>
      <p:sp>
        <p:nvSpPr>
          <p:cNvPr id="15" name="Shape 10"/>
          <p:cNvSpPr/>
          <p:nvPr/>
        </p:nvSpPr>
        <p:spPr>
          <a:xfrm>
            <a:off x="1417320" y="5120640"/>
            <a:ext cx="5943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16" name="resource"/>
          <p:cNvSpPr/>
          <p:nvPr/>
        </p:nvSpPr>
        <p:spPr>
          <a:xfrm>
            <a:off x="2103120" y="4709160"/>
            <a:ext cx="2743200" cy="82296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rgbClr val="D5DAE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7" name="Image 2" descr="資料夾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0" y="4892040"/>
            <a:ext cx="457200" cy="4572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2880360" y="47091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2000" b="1" dirty="0">
                <a:solidFill>
                  <a:schemeClr val="tx1"/>
                </a:solidFill>
              </a:rPr>
              <a:t>resource</a:t>
            </a:r>
            <a:endParaRPr lang="zh-TW" sz="2000" dirty="0"/>
          </a:p>
        </p:txBody>
      </p:sp>
      <p:sp>
        <p:nvSpPr>
          <p:cNvPr id="19" name="Text 13"/>
          <p:cNvSpPr txBox="1"/>
          <p:nvPr/>
        </p:nvSpPr>
        <p:spPr>
          <a:xfrm>
            <a:off x="5120640" y="470916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tx2"/>
                </a:solidFill>
              </a:rPr>
              <a:t>放圖片等素材，例如課程主視覺海報</a:t>
            </a:r>
            <a:endParaRPr lang="zh-TW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7</a:t>
            </a:r>
            <a:endParaRPr lang="zh-TW" sz="3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chemeClr val="accent2"/>
                </a:solidFill>
              </a:rPr>
              <a:t>7.2　</a:t>
            </a:r>
            <a:pPr algn="l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到 GitHub 建立專案</a:t>
            </a:r>
            <a:endParaRPr lang="zh-TW" sz="3000" dirty="0"/>
          </a:p>
        </p:txBody>
      </p:sp>
      <p:sp>
        <p:nvSpPr>
          <p:cNvPr id="5" name="編號"/>
          <p:cNvSpPr/>
          <p:nvPr/>
        </p:nvSpPr>
        <p:spPr>
          <a:xfrm>
            <a:off x="548640" y="173736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chemeClr val="bg1"/>
                </a:solidFill>
              </a:rPr>
              <a:t>1</a:t>
            </a:r>
            <a:endParaRPr lang="zh-TW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16916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Owner</a:t>
            </a:r>
            <a:endParaRPr lang="zh-TW" sz="1800" dirty="0"/>
          </a:p>
          <a:p>
            <a:pPr indent="0" marL="0">
              <a:buNone/>
            </a:pPr>
            <a:r>
              <a:rPr lang="zh-TW" altLang="en-US" sz="1500" dirty="0">
                <a:solidFill>
                  <a:schemeClr val="tx2"/>
                </a:solidFill>
              </a:rPr>
              <a:t>選擇自己的帳號</a:t>
            </a:r>
            <a:endParaRPr lang="zh-TW" sz="1800" dirty="0"/>
          </a:p>
        </p:txBody>
      </p:sp>
      <p:sp>
        <p:nvSpPr>
          <p:cNvPr id="8" name="編號"/>
          <p:cNvSpPr/>
          <p:nvPr/>
        </p:nvSpPr>
        <p:spPr>
          <a:xfrm>
            <a:off x="548640" y="2816352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48640" y="2816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chemeClr val="bg1"/>
                </a:solidFill>
              </a:rPr>
              <a:t>2</a:t>
            </a:r>
            <a:endParaRPr lang="zh-TW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2770632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Repository name</a:t>
            </a:r>
            <a:endParaRPr lang="zh-TW" sz="1800" dirty="0"/>
          </a:p>
          <a:p>
            <a:pPr indent="0" marL="0">
              <a:buNone/>
            </a:pPr>
            <a:r>
              <a:rPr lang="zh-TW" altLang="en-US" sz="1500" dirty="0">
                <a:solidFill>
                  <a:schemeClr val="tx2"/>
                </a:solidFill>
              </a:rPr>
              <a:t>輸入專案名稱，例：NTTU2026-step-by-step</a:t>
            </a:r>
            <a:endParaRPr lang="zh-TW" sz="1800" dirty="0"/>
          </a:p>
        </p:txBody>
      </p:sp>
      <p:sp>
        <p:nvSpPr>
          <p:cNvPr id="11" name="編號"/>
          <p:cNvSpPr/>
          <p:nvPr/>
        </p:nvSpPr>
        <p:spPr>
          <a:xfrm>
            <a:off x="548640" y="3895344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48640" y="38953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chemeClr val="bg1"/>
                </a:solidFill>
              </a:rPr>
              <a:t>3</a:t>
            </a:r>
            <a:endParaRPr lang="zh-TW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3849624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Choose visibility</a:t>
            </a:r>
            <a:endParaRPr lang="zh-TW" sz="1800" dirty="0"/>
          </a:p>
          <a:p>
            <a:pPr indent="0" marL="0">
              <a:buNone/>
            </a:pPr>
            <a:r>
              <a:rPr lang="zh-TW" altLang="en-US" sz="1500" dirty="0">
                <a:solidFill>
                  <a:schemeClr val="tx2"/>
                </a:solidFill>
              </a:rPr>
              <a:t>選擇 Public</a:t>
            </a:r>
            <a:endParaRPr lang="zh-TW" sz="1800" dirty="0"/>
          </a:p>
        </p:txBody>
      </p:sp>
      <p:sp>
        <p:nvSpPr>
          <p:cNvPr id="14" name="編號"/>
          <p:cNvSpPr/>
          <p:nvPr/>
        </p:nvSpPr>
        <p:spPr>
          <a:xfrm>
            <a:off x="548640" y="4974336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48640" y="4974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chemeClr val="bg1"/>
                </a:solidFill>
              </a:rPr>
              <a:t>4</a:t>
            </a:r>
            <a:endParaRPr lang="zh-TW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188720" y="4928616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Create repository</a:t>
            </a:r>
            <a:endParaRPr lang="zh-TW" sz="1800" dirty="0"/>
          </a:p>
          <a:p>
            <a:pPr indent="0" marL="0">
              <a:buNone/>
            </a:pPr>
            <a:r>
              <a:rPr lang="zh-TW" altLang="en-US" sz="1500" dirty="0">
                <a:solidFill>
                  <a:schemeClr val="tx2"/>
                </a:solidFill>
              </a:rPr>
              <a:t>按下綠色按鈕，建立專案</a:t>
            </a:r>
            <a:endParaRPr lang="zh-TW" sz="1800" dirty="0"/>
          </a:p>
        </p:txBody>
      </p:sp>
      <p:sp>
        <p:nvSpPr>
          <p:cNvPr id="17" name="截圖外框"/>
          <p:cNvSpPr/>
          <p:nvPr/>
        </p:nvSpPr>
        <p:spPr>
          <a:xfrm>
            <a:off x="6405906" y="1417320"/>
            <a:ext cx="4954980" cy="4754880"/>
          </a:xfrm>
          <a:prstGeom prst="rect">
            <a:avLst/>
          </a:prstGeom>
          <a:solidFill>
            <a:schemeClr val="bg1"/>
          </a:solidFill>
          <a:ln w="9525">
            <a:solidFill>
              <a:srgbClr val="D5DAE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8" name="Image 0" descr="GitHub 建立新專案的畫面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51626" y="1463040"/>
            <a:ext cx="4863540" cy="4663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7</a:t>
            </a:r>
            <a:endParaRPr lang="zh-TW" sz="3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chemeClr val="accent2"/>
                </a:solidFill>
              </a:rPr>
              <a:t>7.2.1　</a:t>
            </a:r>
            <a:pPr algn="l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從 GitHub Desktop clone 下來</a:t>
            </a:r>
            <a:endParaRPr lang="zh-TW" sz="3000" dirty="0"/>
          </a:p>
        </p:txBody>
      </p:sp>
      <p:sp>
        <p:nvSpPr>
          <p:cNvPr id="5" name="截圖外框"/>
          <p:cNvSpPr/>
          <p:nvPr/>
        </p:nvSpPr>
        <p:spPr>
          <a:xfrm>
            <a:off x="548640" y="1508760"/>
            <a:ext cx="7406640" cy="1348625"/>
          </a:xfrm>
          <a:prstGeom prst="rect">
            <a:avLst/>
          </a:prstGeom>
          <a:solidFill>
            <a:schemeClr val="bg1"/>
          </a:solidFill>
          <a:ln w="9525">
            <a:solidFill>
              <a:srgbClr val="D5DAE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GitHub Quick setup 畫面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54480"/>
            <a:ext cx="7315200" cy="125718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275320" y="1554480"/>
            <a:ext cx="33649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accent2"/>
                </a:solidFill>
              </a:rPr>
              <a:t>7.2.1</a:t>
            </a:r>
            <a:endParaRPr lang="zh-TW" sz="1600" dirty="0"/>
          </a:p>
          <a:p>
            <a:pPr indent="0" marL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在 Quick setup 點「Set up in GitHub Desktop」</a:t>
            </a:r>
            <a:endParaRPr lang="zh-TW" sz="1600" dirty="0"/>
          </a:p>
        </p:txBody>
      </p:sp>
      <p:sp>
        <p:nvSpPr>
          <p:cNvPr id="8" name="截圖外框"/>
          <p:cNvSpPr/>
          <p:nvPr/>
        </p:nvSpPr>
        <p:spPr>
          <a:xfrm>
            <a:off x="548640" y="3246120"/>
            <a:ext cx="4902615" cy="2926080"/>
          </a:xfrm>
          <a:prstGeom prst="rect">
            <a:avLst/>
          </a:prstGeom>
          <a:solidFill>
            <a:schemeClr val="bg1"/>
          </a:solidFill>
          <a:ln w="9525">
            <a:solidFill>
              <a:srgbClr val="D5DAE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GitHub Desktop 的 Clone a Repository 視窗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291840"/>
            <a:ext cx="4811175" cy="283464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035040" y="3291840"/>
            <a:ext cx="5577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accent2"/>
                </a:solidFill>
              </a:rPr>
              <a:t>7.2.2</a:t>
            </a:r>
            <a:endParaRPr lang="zh-TW" sz="1600" dirty="0"/>
          </a:p>
          <a:p>
            <a:pPr indent="0" marL="0">
              <a:spcAft>
                <a:spcPts val="800"/>
              </a:spcAft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確認下載下來後的本地資料夾</a:t>
            </a:r>
            <a:endParaRPr lang="zh-TW" sz="1600" dirty="0"/>
          </a:p>
          <a:p>
            <a:pPr indent="0" marL="0">
              <a:buNone/>
            </a:pPr>
            <a:r>
              <a:rPr lang="zh-TW" altLang="en-US" sz="1600" dirty="0">
                <a:solidFill>
                  <a:schemeClr val="tx2"/>
                </a:solidFill>
              </a:rPr>
              <a:t>Local Path 就是專案在你電腦上的位置，確認後按 Clone</a:t>
            </a:r>
            <a:endParaRPr lang="zh-TW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7</a:t>
            </a:r>
            <a:endParaRPr lang="zh-TW" sz="3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chemeClr val="accent2"/>
                </a:solidFill>
              </a:rPr>
              <a:t>7.2.3　</a:t>
            </a:r>
            <a:pPr algn="l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下載完成會看到如下畫面</a:t>
            </a:r>
            <a:endParaRPr lang="zh-TW" sz="3000" dirty="0"/>
          </a:p>
        </p:txBody>
      </p:sp>
      <p:sp>
        <p:nvSpPr>
          <p:cNvPr id="5" name="截圖外框"/>
          <p:cNvSpPr/>
          <p:nvPr/>
        </p:nvSpPr>
        <p:spPr>
          <a:xfrm>
            <a:off x="548640" y="1417320"/>
            <a:ext cx="6109540" cy="4754880"/>
          </a:xfrm>
          <a:prstGeom prst="rect">
            <a:avLst/>
          </a:prstGeom>
          <a:solidFill>
            <a:schemeClr val="bg1"/>
          </a:solidFill>
          <a:ln w="9525">
            <a:solidFill>
              <a:srgbClr val="D5DAE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clone 完成後的 GitHub Desktop 畫面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63040"/>
            <a:ext cx="6018100" cy="4663440"/>
          </a:xfrm>
          <a:prstGeom prst="rect">
            <a:avLst/>
          </a:prstGeom>
        </p:spPr>
      </p:pic>
      <p:sp>
        <p:nvSpPr>
          <p:cNvPr id="7" name="Current Repository"/>
          <p:cNvSpPr/>
          <p:nvPr/>
        </p:nvSpPr>
        <p:spPr>
          <a:xfrm>
            <a:off x="7178040" y="1554480"/>
            <a:ext cx="4462272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編號"/>
          <p:cNvSpPr/>
          <p:nvPr/>
        </p:nvSpPr>
        <p:spPr>
          <a:xfrm>
            <a:off x="7406640" y="173736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406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chemeClr val="bg1"/>
                </a:solidFill>
              </a:rPr>
              <a:t>1</a:t>
            </a:r>
            <a:endParaRPr lang="zh-TW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955280" y="169164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700" b="1" dirty="0">
                <a:solidFill>
                  <a:schemeClr val="tx1"/>
                </a:solidFill>
              </a:rPr>
              <a:t>Current Repository</a:t>
            </a:r>
            <a:endParaRPr lang="zh-TW" sz="1700" dirty="0"/>
          </a:p>
          <a:p>
            <a:pPr indent="0" marL="0">
              <a:buNone/>
            </a:pPr>
            <a:r>
              <a:rPr lang="zh-TW" altLang="en-US" sz="1500" dirty="0">
                <a:solidFill>
                  <a:schemeClr val="tx2"/>
                </a:solidFill>
              </a:rPr>
              <a:t>目前的專案：NTTU2026-step-by-step</a:t>
            </a:r>
            <a:endParaRPr lang="zh-TW" sz="1700" dirty="0"/>
          </a:p>
        </p:txBody>
      </p:sp>
      <p:sp>
        <p:nvSpPr>
          <p:cNvPr id="11" name="Current Branch"/>
          <p:cNvSpPr/>
          <p:nvPr/>
        </p:nvSpPr>
        <p:spPr>
          <a:xfrm>
            <a:off x="7178040" y="3017520"/>
            <a:ext cx="4462272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編號"/>
          <p:cNvSpPr/>
          <p:nvPr/>
        </p:nvSpPr>
        <p:spPr>
          <a:xfrm>
            <a:off x="7406640" y="320040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40664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chemeClr val="bg1"/>
                </a:solidFill>
              </a:rPr>
              <a:t>2</a:t>
            </a:r>
            <a:endParaRPr lang="zh-TW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955280" y="315468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700" b="1" dirty="0">
                <a:solidFill>
                  <a:schemeClr val="tx1"/>
                </a:solidFill>
              </a:rPr>
              <a:t>Current Branch</a:t>
            </a:r>
            <a:endParaRPr lang="zh-TW" sz="1700" dirty="0"/>
          </a:p>
          <a:p>
            <a:pPr indent="0" marL="0">
              <a:buNone/>
            </a:pPr>
            <a:r>
              <a:rPr lang="zh-TW" altLang="en-US" sz="1500" dirty="0">
                <a:solidFill>
                  <a:schemeClr val="tx2"/>
                </a:solidFill>
              </a:rPr>
              <a:t>目前的分支：main</a:t>
            </a:r>
            <a:endParaRPr lang="zh-TW" sz="1700" dirty="0"/>
          </a:p>
        </p:txBody>
      </p:sp>
      <p:sp>
        <p:nvSpPr>
          <p:cNvPr id="15" name="No local changes"/>
          <p:cNvSpPr/>
          <p:nvPr/>
        </p:nvSpPr>
        <p:spPr>
          <a:xfrm>
            <a:off x="7178040" y="4480560"/>
            <a:ext cx="4462272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編號"/>
          <p:cNvSpPr/>
          <p:nvPr/>
        </p:nvSpPr>
        <p:spPr>
          <a:xfrm>
            <a:off x="7406640" y="466344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7406640" y="4663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chemeClr val="bg1"/>
                </a:solidFill>
              </a:rPr>
              <a:t>3</a:t>
            </a:r>
            <a:endParaRPr lang="zh-TW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7955280" y="461772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700" b="1" dirty="0">
                <a:solidFill>
                  <a:schemeClr val="tx1"/>
                </a:solidFill>
              </a:rPr>
              <a:t>No local changes</a:t>
            </a:r>
            <a:endParaRPr lang="zh-TW" sz="1700" dirty="0"/>
          </a:p>
          <a:p>
            <a:pPr indent="0" marL="0">
              <a:buNone/>
            </a:pPr>
            <a:r>
              <a:rPr lang="zh-TW" altLang="en-US" sz="1500" dirty="0">
                <a:solidFill>
                  <a:schemeClr val="tx2"/>
                </a:solidFill>
              </a:rPr>
              <a:t>資料夾還沒有任何變更</a:t>
            </a:r>
            <a:endParaRPr lang="zh-TW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7</a:t>
            </a:r>
            <a:endParaRPr lang="zh-TW" sz="3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chemeClr val="accent2"/>
                </a:solidFill>
              </a:rPr>
              <a:t>7.3　</a:t>
            </a:r>
            <a:pPr algn="l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建立你的本地資料夾</a:t>
            </a:r>
            <a:endParaRPr lang="zh-TW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14630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在專案資料夾建立 doc 與 resource</a:t>
            </a:r>
            <a:endParaRPr lang="zh-TW" sz="1600" dirty="0"/>
          </a:p>
        </p:txBody>
      </p:sp>
      <p:sp>
        <p:nvSpPr>
          <p:cNvPr id="6" name="截圖外框"/>
          <p:cNvSpPr/>
          <p:nvPr/>
        </p:nvSpPr>
        <p:spPr>
          <a:xfrm>
            <a:off x="548640" y="1874520"/>
            <a:ext cx="4710918" cy="1783080"/>
          </a:xfrm>
          <a:prstGeom prst="rect">
            <a:avLst/>
          </a:prstGeom>
          <a:solidFill>
            <a:schemeClr val="bg1"/>
          </a:solidFill>
          <a:ln w="9525">
            <a:solidFill>
              <a:srgbClr val="D5DAE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Finder 中的 doc 與 resource 資料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920240"/>
            <a:ext cx="4619478" cy="16916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94360" y="39319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accent2"/>
                </a:solidFill>
              </a:rPr>
              <a:t>7.3.1　</a:t>
            </a:r>
            <a:pPr indent="0" marL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把資料檔案分門別類放入</a:t>
            </a:r>
            <a:endParaRPr lang="zh-TW" sz="1600" dirty="0"/>
          </a:p>
        </p:txBody>
      </p:sp>
      <p:sp>
        <p:nvSpPr>
          <p:cNvPr id="9" name="截圖外框"/>
          <p:cNvSpPr/>
          <p:nvPr/>
        </p:nvSpPr>
        <p:spPr>
          <a:xfrm>
            <a:off x="548640" y="4343400"/>
            <a:ext cx="3520032" cy="1783080"/>
          </a:xfrm>
          <a:prstGeom prst="rect">
            <a:avLst/>
          </a:prstGeom>
          <a:solidFill>
            <a:schemeClr val="bg1"/>
          </a:solidFill>
          <a:ln w="9525">
            <a:solidFill>
              <a:srgbClr val="D5DAE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doc 與 resource 資料夾內的檔案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4389120"/>
            <a:ext cx="3428592" cy="16916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309360" y="1463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doc／課程.txt：課程大綱</a:t>
            </a:r>
            <a:endParaRPr lang="zh-TW" sz="1600" dirty="0"/>
          </a:p>
        </p:txBody>
      </p:sp>
      <p:sp>
        <p:nvSpPr>
          <p:cNvPr id="12" name="截圖外框"/>
          <p:cNvSpPr/>
          <p:nvPr/>
        </p:nvSpPr>
        <p:spPr>
          <a:xfrm>
            <a:off x="6263640" y="1874520"/>
            <a:ext cx="3945589" cy="1783080"/>
          </a:xfrm>
          <a:prstGeom prst="rect">
            <a:avLst/>
          </a:prstGeom>
          <a:solidFill>
            <a:schemeClr val="bg1"/>
          </a:solidFill>
          <a:ln w="9525">
            <a:solidFill>
              <a:srgbClr val="D5DAE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3" name="Image 2" descr="課程.txt 的內容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920240"/>
            <a:ext cx="3854149" cy="16916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309360" y="39319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resource：課程主視覺海報</a:t>
            </a:r>
            <a:endParaRPr lang="zh-TW" sz="1600" dirty="0"/>
          </a:p>
        </p:txBody>
      </p:sp>
      <p:sp>
        <p:nvSpPr>
          <p:cNvPr id="15" name="截圖外框"/>
          <p:cNvSpPr/>
          <p:nvPr/>
        </p:nvSpPr>
        <p:spPr>
          <a:xfrm>
            <a:off x="6263640" y="4343400"/>
            <a:ext cx="3126191" cy="1783080"/>
          </a:xfrm>
          <a:prstGeom prst="rect">
            <a:avLst/>
          </a:prstGeom>
          <a:solidFill>
            <a:schemeClr val="bg1"/>
          </a:solidFill>
          <a:ln w="9525">
            <a:solidFill>
              <a:srgbClr val="D5DAE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6" name="Image 3" descr="小朋友的寒假國語特攻隊海報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4389120"/>
            <a:ext cx="3034751" cy="1691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7</a:t>
            </a:r>
            <a:endParaRPr lang="zh-TW" sz="3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chemeClr val="accent2"/>
                </a:solidFill>
              </a:rPr>
              <a:t>7.4　</a:t>
            </a:r>
            <a:pPr algn="l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透過 GitHub Desktop 同步到 GitHub</a:t>
            </a:r>
            <a:endParaRPr lang="zh-TW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1463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GitHub Desktop 列出新增的檔案</a:t>
            </a:r>
            <a:endParaRPr lang="zh-TW" sz="1600" dirty="0"/>
          </a:p>
        </p:txBody>
      </p:sp>
      <p:sp>
        <p:nvSpPr>
          <p:cNvPr id="6" name="截圖外框"/>
          <p:cNvSpPr/>
          <p:nvPr/>
        </p:nvSpPr>
        <p:spPr>
          <a:xfrm>
            <a:off x="548640" y="1874520"/>
            <a:ext cx="5394960" cy="3244528"/>
          </a:xfrm>
          <a:prstGeom prst="rect">
            <a:avLst/>
          </a:prstGeom>
          <a:solidFill>
            <a:schemeClr val="bg1"/>
          </a:solidFill>
          <a:ln w="9525">
            <a:solidFill>
              <a:srgbClr val="D5DAE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GitHub Desktop 列出變更的檔案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920240"/>
            <a:ext cx="5303520" cy="31530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309360" y="1463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accent2"/>
                </a:solidFill>
              </a:rPr>
              <a:t>7.4.1　</a:t>
            </a:r>
            <a:pPr indent="0" marL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填入本次更新摘要</a:t>
            </a:r>
            <a:endParaRPr lang="zh-TW" sz="1600" dirty="0"/>
          </a:p>
        </p:txBody>
      </p:sp>
      <p:sp>
        <p:nvSpPr>
          <p:cNvPr id="9" name="截圖外框"/>
          <p:cNvSpPr/>
          <p:nvPr/>
        </p:nvSpPr>
        <p:spPr>
          <a:xfrm>
            <a:off x="6263640" y="1874520"/>
            <a:ext cx="5394960" cy="3010432"/>
          </a:xfrm>
          <a:prstGeom prst="rect">
            <a:avLst/>
          </a:prstGeom>
          <a:solidFill>
            <a:schemeClr val="bg1"/>
          </a:solidFill>
          <a:ln w="9525">
            <a:solidFill>
              <a:srgbClr val="D5DAE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填寫更新摘要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920240"/>
            <a:ext cx="5303520" cy="2918992"/>
          </a:xfrm>
          <a:prstGeom prst="rect">
            <a:avLst/>
          </a:prstGeom>
        </p:spPr>
      </p:pic>
      <p:sp>
        <p:nvSpPr>
          <p:cNvPr id="11" name="提示"/>
          <p:cNvSpPr/>
          <p:nvPr/>
        </p:nvSpPr>
        <p:spPr>
          <a:xfrm>
            <a:off x="548640" y="5440680"/>
            <a:ext cx="11091672" cy="685800"/>
          </a:xfrm>
          <a:prstGeom prst="roundRect">
            <a:avLst>
              <a:gd name="adj" fmla="val 16000"/>
            </a:avLst>
          </a:prstGeom>
          <a:solidFill>
            <a:schemeClr val="accent5">
              <a:alpha val="15000"/>
            </a:schemeClr>
          </a:solidFill>
          <a:ln/>
        </p:spPr>
      </p:sp>
      <p:pic>
        <p:nvPicPr>
          <p:cNvPr id="12" name="Image 2" descr="提示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586984"/>
            <a:ext cx="384048" cy="384048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325880" y="544068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摘要寫清楚這次改了什麼，日後回頭找版本才看得懂</a:t>
            </a:r>
            <a:endParaRPr lang="zh-TW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7</a:t>
            </a:r>
            <a:endParaRPr lang="zh-TW" sz="3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chemeClr val="accent2"/>
                </a:solidFill>
              </a:rPr>
              <a:t>7.4.2　</a:t>
            </a:r>
            <a:pPr algn="l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commit and push</a:t>
            </a:r>
            <a:endParaRPr lang="zh-TW" sz="3000" dirty="0"/>
          </a:p>
        </p:txBody>
      </p:sp>
      <p:sp>
        <p:nvSpPr>
          <p:cNvPr id="5" name="截圖外框"/>
          <p:cNvSpPr/>
          <p:nvPr/>
        </p:nvSpPr>
        <p:spPr>
          <a:xfrm>
            <a:off x="548640" y="1463040"/>
            <a:ext cx="7406640" cy="4534853"/>
          </a:xfrm>
          <a:prstGeom prst="rect">
            <a:avLst/>
          </a:prstGeom>
          <a:solidFill>
            <a:schemeClr val="bg1"/>
          </a:solidFill>
          <a:ln w="9525">
            <a:solidFill>
              <a:srgbClr val="D5DAE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GitHub Desktop 的 Commit 與 Publish branch 按鈕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7315200" cy="4443413"/>
          </a:xfrm>
          <a:prstGeom prst="rect">
            <a:avLst/>
          </a:prstGeom>
        </p:spPr>
      </p:pic>
      <p:sp>
        <p:nvSpPr>
          <p:cNvPr id="7" name="Commit to main"/>
          <p:cNvSpPr/>
          <p:nvPr/>
        </p:nvSpPr>
        <p:spPr>
          <a:xfrm>
            <a:off x="8229600" y="1554480"/>
            <a:ext cx="3410712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編號"/>
          <p:cNvSpPr/>
          <p:nvPr/>
        </p:nvSpPr>
        <p:spPr>
          <a:xfrm>
            <a:off x="8412480" y="1755648"/>
            <a:ext cx="411480" cy="4114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8412480" y="17556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500" b="1" dirty="0">
                <a:solidFill>
                  <a:schemeClr val="bg1"/>
                </a:solidFill>
              </a:rPr>
              <a:t>1</a:t>
            </a:r>
            <a:endParaRPr lang="zh-TW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961120" y="17373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700" b="1" dirty="0">
                <a:solidFill>
                  <a:schemeClr val="tx1"/>
                </a:solidFill>
              </a:rPr>
              <a:t>Commit to main</a:t>
            </a:r>
            <a:endParaRPr lang="zh-TW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8412480" y="2286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500" dirty="0">
                <a:solidFill>
                  <a:schemeClr val="tx2"/>
                </a:solidFill>
              </a:rPr>
              <a:t>把這次的變更存成一個版本</a:t>
            </a:r>
            <a:endParaRPr lang="zh-TW" sz="1500" dirty="0"/>
          </a:p>
        </p:txBody>
      </p:sp>
      <p:sp>
        <p:nvSpPr>
          <p:cNvPr id="12" name="Publish branch"/>
          <p:cNvSpPr/>
          <p:nvPr/>
        </p:nvSpPr>
        <p:spPr>
          <a:xfrm>
            <a:off x="8229600" y="3383280"/>
            <a:ext cx="3410712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編號"/>
          <p:cNvSpPr/>
          <p:nvPr/>
        </p:nvSpPr>
        <p:spPr>
          <a:xfrm>
            <a:off x="8412480" y="3584448"/>
            <a:ext cx="411480" cy="4114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8412480" y="35844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500" b="1" dirty="0">
                <a:solidFill>
                  <a:schemeClr val="bg1"/>
                </a:solidFill>
              </a:rPr>
              <a:t>2</a:t>
            </a:r>
            <a:endParaRPr lang="zh-TW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8961120" y="35661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700" b="1" dirty="0">
                <a:solidFill>
                  <a:schemeClr val="tx1"/>
                </a:solidFill>
              </a:rPr>
              <a:t>Publish branch</a:t>
            </a:r>
            <a:endParaRPr lang="zh-TW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8412480" y="41148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500" dirty="0">
                <a:solidFill>
                  <a:schemeClr val="tx2"/>
                </a:solidFill>
              </a:rPr>
              <a:t>把專案推上 GitHub；之後會變成 Push origin</a:t>
            </a:r>
            <a:endParaRPr lang="zh-TW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8</a:t>
            </a:r>
            <a:endParaRPr lang="zh-TW" sz="3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到你的 AI 仿照以下的 prompt</a:t>
            </a:r>
            <a:endParaRPr lang="zh-TW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ChatGPT、Claude 或 Gemini 都可以　｜　完整 prompt 文字放在這一頁的備忘稿，可直接複製</a:t>
            </a:r>
            <a:endParaRPr lang="zh-TW" sz="1400" dirty="0"/>
          </a:p>
        </p:txBody>
      </p:sp>
      <p:sp>
        <p:nvSpPr>
          <p:cNvPr id="6" name="角色設定"/>
          <p:cNvSpPr/>
          <p:nvPr/>
        </p:nvSpPr>
        <p:spPr>
          <a:xfrm>
            <a:off x="548640" y="1965960"/>
            <a:ext cx="4480560" cy="4114800"/>
          </a:xfrm>
          <a:prstGeom prst="roundRect">
            <a:avLst>
              <a:gd name="adj" fmla="val 2667"/>
            </a:avLst>
          </a:prstGeom>
          <a:solidFill>
            <a:schemeClr val="accent2">
              <a:alpha val="10000"/>
            </a:schemeClr>
          </a:solidFill>
          <a:ln/>
        </p:spPr>
      </p:sp>
      <p:sp>
        <p:nvSpPr>
          <p:cNvPr id="7" name="圖示底圓"/>
          <p:cNvSpPr/>
          <p:nvPr/>
        </p:nvSpPr>
        <p:spPr>
          <a:xfrm>
            <a:off x="777240" y="2194560"/>
            <a:ext cx="777240" cy="777240"/>
          </a:xfrm>
          <a:prstGeom prst="ellipse">
            <a:avLst/>
          </a:prstGeom>
          <a:solidFill>
            <a:schemeClr val="accent2">
              <a:alpha val="16000"/>
            </a:schemeClr>
          </a:solidFill>
          <a:ln/>
        </p:spPr>
      </p:sp>
      <p:pic>
        <p:nvPicPr>
          <p:cNvPr id="8" name="Image 0" descr="rob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3778" y="2381098"/>
            <a:ext cx="404165" cy="40416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691640" y="219456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2"/>
                </a:solidFill>
              </a:rPr>
              <a:t>小朋友的寒假國語特攻隊</a:t>
            </a:r>
            <a:endParaRPr lang="zh-TW" sz="1600" dirty="0"/>
          </a:p>
          <a:p>
            <a:pPr indent="0" marL="0">
              <a:buNone/>
            </a:pPr>
            <a:r>
              <a:rPr lang="zh-TW" altLang="en-US" sz="2000" b="1" dirty="0">
                <a:solidFill>
                  <a:schemeClr val="tx1"/>
                </a:solidFill>
              </a:rPr>
              <a:t>角色設定</a:t>
            </a:r>
            <a:endParaRPr lang="zh-TW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246120"/>
            <a:ext cx="4023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zh-TW" altLang="en-US" sz="1800" dirty="0">
                <a:solidFill>
                  <a:schemeClr val="tx1"/>
                </a:solidFill>
              </a:rPr>
              <a:t>你是一位熟悉台灣國小國語文教學的兒童教材設計師，擅長將生字、詞語與成語故事轉化為有趣的冒險闖關遊戲。</a:t>
            </a:r>
            <a:endParaRPr lang="zh-TW" sz="1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49240" y="1965960"/>
          <a:ext cx="629107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4873752"/>
              </a:tblGrid>
              <a:tr h="502920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課程參數</a:t>
                      </a:r>
                      <a:endParaRPr lang="en-US" sz="16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hMerge="1"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教學年級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國小三年級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人物角色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小學生＋可愛動物夥伴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背景畫風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日系 Q 版卡通，色彩鮮明、活潑可愛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學習情境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冒險闖關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教材難度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適中，循序漸進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題型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看圖猜謎＋選擇題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輸出內容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情境圖生成描述、生字詞語解釋、互動測驗及答案解析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8</a:t>
            </a:r>
            <a:endParaRPr lang="zh-TW" sz="3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prompt 內容：第一課與第二課</a:t>
            </a:r>
            <a:endParaRPr lang="zh-TW" sz="3000" dirty="0"/>
          </a:p>
        </p:txBody>
      </p:sp>
      <p:sp>
        <p:nvSpPr>
          <p:cNvPr id="5" name="第一課：說文解字"/>
          <p:cNvSpPr/>
          <p:nvPr/>
        </p:nvSpPr>
        <p:spPr>
          <a:xfrm>
            <a:off x="548640" y="1554480"/>
            <a:ext cx="539496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圖示底圓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chemeClr val="accent2">
              <a:alpha val="16000"/>
            </a:schemeClr>
          </a:solidFill>
          <a:ln/>
        </p:spPr>
      </p:sp>
      <p:pic>
        <p:nvPicPr>
          <p:cNvPr id="7" name="Image 0" descr="b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1912925"/>
            <a:ext cx="380390" cy="38039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17373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2200" b="1" dirty="0">
                <a:solidFill>
                  <a:schemeClr val="tx1"/>
                </a:solidFill>
              </a:rPr>
              <a:t>第一課：說文解字</a:t>
            </a:r>
            <a:endParaRPr lang="zh-TW" sz="2200" dirty="0"/>
          </a:p>
        </p:txBody>
      </p:sp>
      <p:sp>
        <p:nvSpPr>
          <p:cNvPr id="9" name="編號"/>
          <p:cNvSpPr/>
          <p:nvPr/>
        </p:nvSpPr>
        <p:spPr>
          <a:xfrm>
            <a:off x="822960" y="2734056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822960" y="27340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2697480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選出 3～5 個適合國小三年級的目標生字。</a:t>
            </a:r>
            <a:endParaRPr lang="zh-TW" sz="1400" dirty="0"/>
          </a:p>
        </p:txBody>
      </p:sp>
      <p:sp>
        <p:nvSpPr>
          <p:cNvPr id="12" name="編號"/>
          <p:cNvSpPr/>
          <p:nvPr/>
        </p:nvSpPr>
        <p:spPr>
          <a:xfrm>
            <a:off x="822960" y="3410712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22960" y="3410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1325880" y="3374136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將生字融入一篇約 80～120 字的趣味短文。</a:t>
            </a:r>
            <a:endParaRPr lang="zh-TW" sz="1400" dirty="0"/>
          </a:p>
        </p:txBody>
      </p:sp>
      <p:sp>
        <p:nvSpPr>
          <p:cNvPr id="15" name="編號"/>
          <p:cNvSpPr/>
          <p:nvPr/>
        </p:nvSpPr>
        <p:spPr>
          <a:xfrm>
            <a:off x="822960" y="4087368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822960" y="40873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1325880" y="4050792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設計日系 Q 版卡通情境圖，呈現短文中的人物、場景與事件。</a:t>
            </a:r>
            <a:endParaRPr lang="zh-TW" sz="1400" dirty="0"/>
          </a:p>
        </p:txBody>
      </p:sp>
      <p:sp>
        <p:nvSpPr>
          <p:cNvPr id="18" name="編號"/>
          <p:cNvSpPr/>
          <p:nvPr/>
        </p:nvSpPr>
        <p:spPr>
          <a:xfrm>
            <a:off x="822960" y="4764024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822960" y="47640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1325880" y="4727448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解釋每個生字的字義、常用詞語，並提供簡單例句。</a:t>
            </a:r>
            <a:endParaRPr lang="zh-TW" sz="1400" dirty="0"/>
          </a:p>
        </p:txBody>
      </p:sp>
      <p:sp>
        <p:nvSpPr>
          <p:cNvPr id="21" name="編號"/>
          <p:cNvSpPr/>
          <p:nvPr/>
        </p:nvSpPr>
        <p:spPr>
          <a:xfrm>
            <a:off x="822960" y="5440680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822960" y="5440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5</a:t>
            </a:r>
            <a:endParaRPr lang="zh-TW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1325880" y="5404104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設計 2 道選擇題，測試學生對生字或詞語的理解。</a:t>
            </a:r>
            <a:endParaRPr lang="zh-TW" sz="1400" dirty="0"/>
          </a:p>
        </p:txBody>
      </p:sp>
      <p:sp>
        <p:nvSpPr>
          <p:cNvPr id="24" name="第二課：成語猜謎"/>
          <p:cNvSpPr/>
          <p:nvPr/>
        </p:nvSpPr>
        <p:spPr>
          <a:xfrm>
            <a:off x="6245352" y="1554480"/>
            <a:ext cx="539496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圖示底圓"/>
          <p:cNvSpPr/>
          <p:nvPr/>
        </p:nvSpPr>
        <p:spPr>
          <a:xfrm>
            <a:off x="6519672" y="1737360"/>
            <a:ext cx="731520" cy="731520"/>
          </a:xfrm>
          <a:prstGeom prst="ellipse">
            <a:avLst/>
          </a:prstGeom>
          <a:solidFill>
            <a:schemeClr val="accent2">
              <a:alpha val="16000"/>
            </a:schemeClr>
          </a:solidFill>
          <a:ln/>
        </p:spPr>
      </p:sp>
      <p:pic>
        <p:nvPicPr>
          <p:cNvPr id="26" name="Image 1" descr="sear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237" y="1912925"/>
            <a:ext cx="380390" cy="38039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7388352" y="17373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2200" b="1" dirty="0">
                <a:solidFill>
                  <a:schemeClr val="tx1"/>
                </a:solidFill>
              </a:rPr>
              <a:t>第二課：成語猜謎</a:t>
            </a:r>
            <a:endParaRPr lang="zh-TW" sz="2200" dirty="0"/>
          </a:p>
        </p:txBody>
      </p:sp>
      <p:sp>
        <p:nvSpPr>
          <p:cNvPr id="28" name="編號"/>
          <p:cNvSpPr/>
          <p:nvPr/>
        </p:nvSpPr>
        <p:spPr>
          <a:xfrm>
            <a:off x="6519672" y="2734056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6519672" y="27340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30" name="Text 25"/>
          <p:cNvSpPr txBox="1"/>
          <p:nvPr/>
        </p:nvSpPr>
        <p:spPr>
          <a:xfrm>
            <a:off x="7022592" y="2697480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選出 1～2 個適合國小三年級的成語。</a:t>
            </a:r>
            <a:endParaRPr lang="zh-TW" sz="1400" dirty="0"/>
          </a:p>
        </p:txBody>
      </p:sp>
      <p:sp>
        <p:nvSpPr>
          <p:cNvPr id="31" name="編號"/>
          <p:cNvSpPr/>
          <p:nvPr/>
        </p:nvSpPr>
        <p:spPr>
          <a:xfrm>
            <a:off x="6519672" y="3410712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6519672" y="3410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33" name="Text 28"/>
          <p:cNvSpPr txBox="1"/>
          <p:nvPr/>
        </p:nvSpPr>
        <p:spPr>
          <a:xfrm>
            <a:off x="7022592" y="3374136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提供正確的成語典故或故事背景。</a:t>
            </a:r>
            <a:endParaRPr lang="zh-TW" sz="1400" dirty="0"/>
          </a:p>
        </p:txBody>
      </p:sp>
      <p:sp>
        <p:nvSpPr>
          <p:cNvPr id="34" name="編號"/>
          <p:cNvSpPr/>
          <p:nvPr/>
        </p:nvSpPr>
        <p:spPr>
          <a:xfrm>
            <a:off x="6519672" y="4087368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6519672" y="40873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36" name="Text 31"/>
          <p:cNvSpPr txBox="1"/>
          <p:nvPr/>
        </p:nvSpPr>
        <p:spPr>
          <a:xfrm>
            <a:off x="7022592" y="4050792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將故事轉化為一幅有明確視覺線索的情境圖，不直接顯示成語答案。</a:t>
            </a:r>
            <a:endParaRPr lang="zh-TW" sz="1400" dirty="0"/>
          </a:p>
        </p:txBody>
      </p:sp>
      <p:sp>
        <p:nvSpPr>
          <p:cNvPr id="37" name="編號"/>
          <p:cNvSpPr/>
          <p:nvPr/>
        </p:nvSpPr>
        <p:spPr>
          <a:xfrm>
            <a:off x="6519672" y="4764024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8" name="Text 33"/>
          <p:cNvSpPr txBox="1"/>
          <p:nvPr/>
        </p:nvSpPr>
        <p:spPr>
          <a:xfrm>
            <a:off x="6519672" y="47640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39" name="Text 34"/>
          <p:cNvSpPr txBox="1"/>
          <p:nvPr/>
        </p:nvSpPr>
        <p:spPr>
          <a:xfrm>
            <a:off x="7022592" y="4727448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讓學生先看圖猜成語，再揭曉答案。</a:t>
            </a:r>
            <a:endParaRPr lang="zh-TW" sz="1400" dirty="0"/>
          </a:p>
        </p:txBody>
      </p:sp>
      <p:sp>
        <p:nvSpPr>
          <p:cNvPr id="40" name="編號"/>
          <p:cNvSpPr/>
          <p:nvPr/>
        </p:nvSpPr>
        <p:spPr>
          <a:xfrm>
            <a:off x="6519672" y="5440680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6519672" y="5440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5</a:t>
            </a:r>
            <a:endParaRPr lang="zh-TW" sz="1200" dirty="0"/>
          </a:p>
        </p:txBody>
      </p:sp>
      <p:sp>
        <p:nvSpPr>
          <p:cNvPr id="42" name="Text 37"/>
          <p:cNvSpPr txBox="1"/>
          <p:nvPr/>
        </p:nvSpPr>
        <p:spPr>
          <a:xfrm>
            <a:off x="7022592" y="5404104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解釋成語意思，提供生活例句及 2 道選擇題。</a:t>
            </a:r>
            <a:endParaRPr lang="zh-TW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8</a:t>
            </a:r>
            <a:endParaRPr lang="zh-TW" sz="3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prompt 內容：輸出格式與生成規則</a:t>
            </a:r>
            <a:endParaRPr lang="zh-TW" sz="3000" dirty="0"/>
          </a:p>
        </p:txBody>
      </p:sp>
      <p:sp>
        <p:nvSpPr>
          <p:cNvPr id="5" name="教材輸出格式"/>
          <p:cNvSpPr/>
          <p:nvPr/>
        </p:nvSpPr>
        <p:spPr>
          <a:xfrm>
            <a:off x="548640" y="1554480"/>
            <a:ext cx="457200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73736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2000" b="1" dirty="0">
                <a:solidFill>
                  <a:schemeClr val="tx1"/>
                </a:solidFill>
              </a:rPr>
              <a:t>教材輸出格式</a:t>
            </a:r>
            <a:endParaRPr lang="zh-TW" sz="1600" dirty="0"/>
          </a:p>
          <a:p>
            <a:pPr indent="0" marL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每一課依序輸出：</a:t>
            </a:r>
            <a:endParaRPr lang="zh-TW" sz="1600" dirty="0"/>
          </a:p>
        </p:txBody>
      </p:sp>
      <p:sp>
        <p:nvSpPr>
          <p:cNvPr id="7" name="編號"/>
          <p:cNvSpPr/>
          <p:nvPr/>
        </p:nvSpPr>
        <p:spPr>
          <a:xfrm>
            <a:off x="822960" y="260604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22960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A</a:t>
            </a:r>
            <a:endParaRPr lang="zh-TW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325880" y="2606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課程標題與闖關任務</a:t>
            </a:r>
            <a:endParaRPr lang="zh-TW" sz="1600" dirty="0"/>
          </a:p>
        </p:txBody>
      </p:sp>
      <p:sp>
        <p:nvSpPr>
          <p:cNvPr id="10" name="編號"/>
          <p:cNvSpPr/>
          <p:nvPr/>
        </p:nvSpPr>
        <p:spPr>
          <a:xfrm>
            <a:off x="822960" y="3172968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22960" y="3172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B</a:t>
            </a:r>
            <a:endParaRPr lang="zh-TW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31729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情境圖生成描述</a:t>
            </a:r>
            <a:endParaRPr lang="zh-TW" sz="1600" dirty="0"/>
          </a:p>
        </p:txBody>
      </p:sp>
      <p:sp>
        <p:nvSpPr>
          <p:cNvPr id="13" name="編號"/>
          <p:cNvSpPr/>
          <p:nvPr/>
        </p:nvSpPr>
        <p:spPr>
          <a:xfrm>
            <a:off x="822960" y="3739896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22960" y="37398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C</a:t>
            </a:r>
            <a:endParaRPr lang="zh-TW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373989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短文或成語故事</a:t>
            </a:r>
            <a:endParaRPr lang="zh-TW" sz="1600" dirty="0"/>
          </a:p>
        </p:txBody>
      </p:sp>
      <p:sp>
        <p:nvSpPr>
          <p:cNvPr id="16" name="編號"/>
          <p:cNvSpPr/>
          <p:nvPr/>
        </p:nvSpPr>
        <p:spPr>
          <a:xfrm>
            <a:off x="822960" y="4306824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22960" y="43068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D</a:t>
            </a:r>
            <a:endParaRPr lang="zh-TW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325880" y="430682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生字詞語或成語解釋</a:t>
            </a:r>
            <a:endParaRPr lang="zh-TW" sz="1600" dirty="0"/>
          </a:p>
        </p:txBody>
      </p:sp>
      <p:sp>
        <p:nvSpPr>
          <p:cNvPr id="19" name="編號"/>
          <p:cNvSpPr/>
          <p:nvPr/>
        </p:nvSpPr>
        <p:spPr>
          <a:xfrm>
            <a:off x="822960" y="4873752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22960" y="4873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E</a:t>
            </a:r>
            <a:endParaRPr lang="zh-TW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325880" y="48737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互動選擇題</a:t>
            </a:r>
            <a:endParaRPr lang="zh-TW" sz="1600" dirty="0"/>
          </a:p>
        </p:txBody>
      </p:sp>
      <p:sp>
        <p:nvSpPr>
          <p:cNvPr id="22" name="編號"/>
          <p:cNvSpPr/>
          <p:nvPr/>
        </p:nvSpPr>
        <p:spPr>
          <a:xfrm>
            <a:off x="822960" y="544068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22960" y="5440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F</a:t>
            </a:r>
            <a:endParaRPr lang="zh-TW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1325880" y="5440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正確答案與簡短解析</a:t>
            </a:r>
            <a:endParaRPr lang="zh-TW" sz="1600" dirty="0"/>
          </a:p>
        </p:txBody>
      </p:sp>
      <p:sp>
        <p:nvSpPr>
          <p:cNvPr id="25" name="生成規則"/>
          <p:cNvSpPr/>
          <p:nvPr/>
        </p:nvSpPr>
        <p:spPr>
          <a:xfrm>
            <a:off x="5440680" y="1554480"/>
            <a:ext cx="6199632" cy="4572000"/>
          </a:xfrm>
          <a:prstGeom prst="roundRect">
            <a:avLst>
              <a:gd name="adj" fmla="val 2400"/>
            </a:avLst>
          </a:prstGeom>
          <a:solidFill>
            <a:schemeClr val="accent2">
              <a:alpha val="9000"/>
            </a:schemeClr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715000" y="17373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2000" b="1" dirty="0">
                <a:solidFill>
                  <a:schemeClr val="tx1"/>
                </a:solidFill>
              </a:rPr>
              <a:t>生成規則</a:t>
            </a:r>
            <a:endParaRPr lang="zh-TW" sz="2000" dirty="0"/>
          </a:p>
        </p:txBody>
      </p:sp>
      <p:sp>
        <p:nvSpPr>
          <p:cNvPr id="27" name="Text 24"/>
          <p:cNvSpPr txBox="1"/>
          <p:nvPr/>
        </p:nvSpPr>
        <p:spPr>
          <a:xfrm>
            <a:off x="5715000" y="2377440"/>
            <a:ext cx="57607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zh-TW" altLang="en-US" sz="1600" dirty="0">
                <a:solidFill>
                  <a:schemeClr val="tx1"/>
                </a:solidFill>
              </a:rPr>
              <a:t>全程使用台灣繁體中文，必要時加入注音。</a:t>
            </a:r>
            <a:endParaRPr lang="zh-TW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zh-TW" altLang="en-US" sz="1600" dirty="0">
                <a:solidFill>
                  <a:schemeClr val="tx1"/>
                </a:solidFill>
              </a:rPr>
              <a:t>用詞、句長及題目難度符合國小三年級程度。</a:t>
            </a:r>
            <a:endParaRPr lang="zh-TW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zh-TW" altLang="en-US" sz="1600" dirty="0">
                <a:solidFill>
                  <a:schemeClr val="tx1"/>
                </a:solidFill>
              </a:rPr>
              <a:t>成語典故與詞義必須正確，不可捏造故事來源。</a:t>
            </a:r>
            <a:endParaRPr lang="zh-TW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zh-TW" altLang="en-US" sz="1600" dirty="0">
                <a:solidFill>
                  <a:schemeClr val="tx1"/>
                </a:solidFill>
              </a:rPr>
              <a:t>圖片要有清楚的視覺焦點，人物造型與畫風保持一致。</a:t>
            </a:r>
            <a:endParaRPr lang="zh-TW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zh-TW" altLang="en-US" sz="1600" dirty="0">
                <a:solidFill>
                  <a:schemeClr val="tx1"/>
                </a:solidFill>
              </a:rPr>
              <a:t>猜謎圖片不得直接出現答案文字。</a:t>
            </a:r>
            <a:endParaRPr lang="zh-TW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zh-TW" altLang="en-US" sz="1600" dirty="0">
                <a:solidFill>
                  <a:schemeClr val="tx1"/>
                </a:solidFill>
              </a:rPr>
              <a:t>題目須有明確答案，錯誤選項應合理且符合學習程度。</a:t>
            </a:r>
            <a:endParaRPr lang="zh-TW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zh-TW" altLang="en-US" sz="1600" dirty="0">
                <a:solidFill>
                  <a:schemeClr val="tx1"/>
                </a:solidFill>
              </a:rPr>
              <a:t>內容以 POC 示範為主，不需要生成完整教科書。</a:t>
            </a:r>
            <a:endParaRPr lang="zh-TW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8</a:t>
            </a:r>
            <a:endParaRPr lang="zh-TW" sz="3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prompt 內容：成品形式與相關資源</a:t>
            </a:r>
            <a:endParaRPr lang="zh-TW" sz="3000" dirty="0"/>
          </a:p>
        </p:txBody>
      </p:sp>
      <p:sp>
        <p:nvSpPr>
          <p:cNvPr id="5" name="成品形式"/>
          <p:cNvSpPr/>
          <p:nvPr/>
        </p:nvSpPr>
        <p:spPr>
          <a:xfrm>
            <a:off x="548640" y="1554480"/>
            <a:ext cx="457200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圖示底圓"/>
          <p:cNvSpPr/>
          <p:nvPr/>
        </p:nvSpPr>
        <p:spPr>
          <a:xfrm>
            <a:off x="777240" y="1755648"/>
            <a:ext cx="685800" cy="685800"/>
          </a:xfrm>
          <a:prstGeom prst="ellipse">
            <a:avLst/>
          </a:prstGeom>
          <a:solidFill>
            <a:schemeClr val="accent2">
              <a:alpha val="16000"/>
            </a:schemeClr>
          </a:solidFill>
          <a:ln/>
        </p:spPr>
      </p:sp>
      <p:pic>
        <p:nvPicPr>
          <p:cNvPr id="7" name="Image 0" descr="uplo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920240"/>
            <a:ext cx="356616" cy="35661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175564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2000" b="1" dirty="0">
                <a:solidFill>
                  <a:schemeClr val="tx1"/>
                </a:solidFill>
              </a:rPr>
              <a:t>交代成品形式</a:t>
            </a:r>
            <a:endParaRPr lang="zh-TW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606040"/>
            <a:ext cx="4160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產出完整可以執行，部署到 Netlify 的 HTML 成品，包含圖檔、CSS、JS 程式與動態效果等等</a:t>
            </a:r>
            <a:endParaRPr lang="zh-TW" sz="1600" dirty="0"/>
          </a:p>
        </p:txBody>
      </p:sp>
      <p:sp>
        <p:nvSpPr>
          <p:cNvPr id="10" name="相關資源"/>
          <p:cNvSpPr/>
          <p:nvPr/>
        </p:nvSpPr>
        <p:spPr>
          <a:xfrm>
            <a:off x="548640" y="4023360"/>
            <a:ext cx="457200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圖示底圓"/>
          <p:cNvSpPr/>
          <p:nvPr/>
        </p:nvSpPr>
        <p:spPr>
          <a:xfrm>
            <a:off x="777240" y="4206240"/>
            <a:ext cx="685800" cy="685800"/>
          </a:xfrm>
          <a:prstGeom prst="ellipse">
            <a:avLst/>
          </a:prstGeom>
          <a:solidFill>
            <a:schemeClr val="accent2">
              <a:alpha val="16000"/>
            </a:schemeClr>
          </a:solidFill>
          <a:ln/>
        </p:spPr>
      </p:sp>
      <p:pic>
        <p:nvPicPr>
          <p:cNvPr id="12" name="Image 1" descr="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" y="4370832"/>
            <a:ext cx="356616" cy="35661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00200" y="420624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2000" b="1" dirty="0">
                <a:solidFill>
                  <a:schemeClr val="tx1"/>
                </a:solidFill>
              </a:rPr>
              <a:t>附上相關資源</a:t>
            </a:r>
            <a:endParaRPr lang="zh-TW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777240" y="5029200"/>
            <a:ext cx="4160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TW" altLang="en-US" sz="1600" u="sng" dirty="0">
                <a:solidFill>
                  <a:schemeClr val="accent1"/>
                </a:solidFill>
                <a:hlinkClick r:id="rId3" invalidUrl="" action="" tgtFrame="" tooltip="教育部小學生字詞彙表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教育部小學生字詞彙表</a:t>
            </a:r>
            <a:endParaRPr lang="zh-TW" sz="1600" dirty="0"/>
          </a:p>
          <a:p>
            <a:pPr indent="0" marL="0">
              <a:buNone/>
            </a:pPr>
            <a:r>
              <a:rPr lang="zh-TW" altLang="en-US" sz="1600" u="sng" dirty="0">
                <a:solidFill>
                  <a:schemeClr val="accent1"/>
                </a:solidFill>
                <a:hlinkClick r:id="rId4" invalidUrl="" action="" tgtFrame="" tooltip="教育部語文資源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教育部語文資源</a:t>
            </a:r>
            <a:endParaRPr lang="zh-TW" sz="1600" dirty="0"/>
          </a:p>
        </p:txBody>
      </p:sp>
      <p:sp>
        <p:nvSpPr>
          <p:cNvPr id="15" name="截圖外框"/>
          <p:cNvSpPr/>
          <p:nvPr/>
        </p:nvSpPr>
        <p:spPr>
          <a:xfrm>
            <a:off x="5440680" y="1554480"/>
            <a:ext cx="6245352" cy="3432135"/>
          </a:xfrm>
          <a:prstGeom prst="rect">
            <a:avLst/>
          </a:prstGeom>
          <a:solidFill>
            <a:schemeClr val="bg1"/>
          </a:solidFill>
          <a:ln w="9525">
            <a:solidFill>
              <a:srgbClr val="D5DAE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6" name="Image 2" descr="在 Claude 貼上 prompt 的畫面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0" y="1600200"/>
            <a:ext cx="6153912" cy="3340695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486400" y="5120640"/>
            <a:ext cx="6153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範例：把 prompt 貼進 Claude</a:t>
            </a:r>
            <a:endParaRPr lang="zh-TW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節卡片"/>
          <p:cNvSpPr/>
          <p:nvPr/>
        </p:nvSpPr>
        <p:spPr>
          <a:xfrm>
            <a:off x="640080" y="822960"/>
            <a:ext cx="5029200" cy="3602736"/>
          </a:xfrm>
          <a:prstGeom prst="roundRect">
            <a:avLst>
              <a:gd name="adj" fmla="val 3046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水彩色塊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143000"/>
            <a:ext cx="1417320" cy="1417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05840" y="11430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5400" b="1" dirty="0">
                <a:solidFill>
                  <a:schemeClr val="tx1"/>
                </a:solidFill>
              </a:rPr>
              <a:t>C</a:t>
            </a:r>
            <a:endParaRPr lang="zh-TW" sz="54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2697480" y="132588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chemeClr val="accent3"/>
                </a:solidFill>
              </a:rPr>
              <a:t>Check</a:t>
            </a:r>
            <a:endParaRPr lang="zh-TW" sz="3600" dirty="0"/>
          </a:p>
          <a:p>
            <a:pPr algn="l" indent="0" marL="0">
              <a:buNone/>
            </a:pPr>
            <a:r>
              <a:rPr lang="zh-TW" altLang="en-US" sz="2400" b="1" dirty="0">
                <a:solidFill>
                  <a:schemeClr val="tx2"/>
                </a:solidFill>
              </a:rPr>
              <a:t>查核</a:t>
            </a:r>
            <a:endParaRPr lang="zh-TW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1051560" y="2880360"/>
            <a:ext cx="4343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accent3"/>
                </a:solidFill>
              </a:rPr>
              <a:t>9　</a:t>
            </a:r>
            <a:pPr indent="0" marL="0">
              <a:spcAft>
                <a:spcPts val="1000"/>
              </a:spcAft>
              <a:buNone/>
            </a:pPr>
            <a:r>
              <a:rPr lang="zh-TW" altLang="en-US" sz="1800" dirty="0">
                <a:solidFill>
                  <a:schemeClr val="tx1"/>
                </a:solidFill>
              </a:rPr>
              <a:t>用生成規則當驗收清單</a:t>
            </a:r>
            <a:endParaRPr lang="zh-TW" sz="1800" dirty="0"/>
          </a:p>
          <a:p>
            <a:pPr indent="0" marL="0">
              <a:buNone/>
            </a:pPr>
            <a:r>
              <a:rPr lang="zh-TW" altLang="en-US" sz="1800" b="1" dirty="0">
                <a:solidFill>
                  <a:schemeClr val="accent3"/>
                </a:solidFill>
              </a:rPr>
              <a:t>10　</a:t>
            </a:r>
            <a:pPr indent="0" marL="0">
              <a:spcAft>
                <a:spcPts val="1000"/>
              </a:spcAft>
              <a:buNone/>
            </a:pPr>
            <a:r>
              <a:rPr lang="zh-TW" altLang="en-US" sz="1800" dirty="0">
                <a:solidFill>
                  <a:schemeClr val="tx1"/>
                </a:solidFill>
              </a:rPr>
              <a:t>看懂 AI 的工作回報</a:t>
            </a:r>
            <a:endParaRPr lang="zh-TW" sz="1800" dirty="0"/>
          </a:p>
          <a:p>
            <a:pPr indent="0" marL="0">
              <a:buNone/>
            </a:pPr>
            <a:r>
              <a:rPr lang="zh-TW" altLang="en-US" sz="1800" b="1" dirty="0">
                <a:solidFill>
                  <a:schemeClr val="accent3"/>
                </a:solidFill>
              </a:rPr>
              <a:t>11　</a:t>
            </a:r>
            <a:pPr indent="0" marL="0">
              <a:spcAft>
                <a:spcPts val="1000"/>
              </a:spcAft>
              <a:buNone/>
            </a:pPr>
            <a:r>
              <a:rPr lang="zh-TW" altLang="en-US" sz="1800" dirty="0">
                <a:solidFill>
                  <a:schemeClr val="tx1"/>
                </a:solidFill>
              </a:rPr>
              <a:t>驗收成品：實際操作一次</a:t>
            </a:r>
            <a:endParaRPr lang="zh-TW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9</a:t>
            </a:r>
            <a:endParaRPr lang="zh-TW" sz="3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用 prompt 的生成規則當驗收清單</a:t>
            </a:r>
            <a:endParaRPr lang="zh-TW" sz="3000" dirty="0"/>
          </a:p>
        </p:txBody>
      </p:sp>
      <p:sp>
        <p:nvSpPr>
          <p:cNvPr id="5" name="勾選框"/>
          <p:cNvSpPr/>
          <p:nvPr/>
        </p:nvSpPr>
        <p:spPr>
          <a:xfrm>
            <a:off x="594360" y="1581912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</p:sp>
      <p:pic>
        <p:nvPicPr>
          <p:cNvPr id="6" name="Image 0" descr="勾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645920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188720" y="1508760"/>
            <a:ext cx="6035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全程使用台灣繁體中文，必要時加入注音</a:t>
            </a:r>
            <a:endParaRPr lang="zh-TW" sz="1600" dirty="0"/>
          </a:p>
        </p:txBody>
      </p:sp>
      <p:sp>
        <p:nvSpPr>
          <p:cNvPr id="8" name="勾選框"/>
          <p:cNvSpPr/>
          <p:nvPr/>
        </p:nvSpPr>
        <p:spPr>
          <a:xfrm>
            <a:off x="594360" y="22402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</p:sp>
      <p:pic>
        <p:nvPicPr>
          <p:cNvPr id="9" name="Image 1" descr="勾選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304288"/>
            <a:ext cx="256032" cy="25603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188720" y="2167128"/>
            <a:ext cx="6035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用詞、句長及題目難度符合國小三年級程度</a:t>
            </a:r>
            <a:endParaRPr lang="zh-TW" sz="1600" dirty="0"/>
          </a:p>
        </p:txBody>
      </p:sp>
      <p:sp>
        <p:nvSpPr>
          <p:cNvPr id="11" name="勾選框"/>
          <p:cNvSpPr/>
          <p:nvPr/>
        </p:nvSpPr>
        <p:spPr>
          <a:xfrm>
            <a:off x="594360" y="2898648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</p:sp>
      <p:pic>
        <p:nvPicPr>
          <p:cNvPr id="12" name="Image 2" descr="勾選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962656"/>
            <a:ext cx="256032" cy="256032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188720" y="2825496"/>
            <a:ext cx="6035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成語典故與詞義正確，沒有捏造故事來源</a:t>
            </a:r>
            <a:endParaRPr lang="zh-TW" sz="1600" dirty="0"/>
          </a:p>
        </p:txBody>
      </p:sp>
      <p:sp>
        <p:nvSpPr>
          <p:cNvPr id="14" name="勾選框"/>
          <p:cNvSpPr/>
          <p:nvPr/>
        </p:nvSpPr>
        <p:spPr>
          <a:xfrm>
            <a:off x="594360" y="3557016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</p:sp>
      <p:pic>
        <p:nvPicPr>
          <p:cNvPr id="15" name="Image 3" descr="勾選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621024"/>
            <a:ext cx="256032" cy="256032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188720" y="3483864"/>
            <a:ext cx="6035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圖片有清楚的視覺焦點，人物造型與畫風一致</a:t>
            </a:r>
            <a:endParaRPr lang="zh-TW" sz="1600" dirty="0"/>
          </a:p>
        </p:txBody>
      </p:sp>
      <p:sp>
        <p:nvSpPr>
          <p:cNvPr id="17" name="勾選框"/>
          <p:cNvSpPr/>
          <p:nvPr/>
        </p:nvSpPr>
        <p:spPr>
          <a:xfrm>
            <a:off x="594360" y="4215384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</p:sp>
      <p:pic>
        <p:nvPicPr>
          <p:cNvPr id="18" name="Image 4" descr="勾選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4279392"/>
            <a:ext cx="256032" cy="256032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188720" y="4142232"/>
            <a:ext cx="6035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猜謎圖片沒有直接出現答案文字</a:t>
            </a:r>
            <a:endParaRPr lang="zh-TW" sz="1600" dirty="0"/>
          </a:p>
        </p:txBody>
      </p:sp>
      <p:sp>
        <p:nvSpPr>
          <p:cNvPr id="20" name="勾選框"/>
          <p:cNvSpPr/>
          <p:nvPr/>
        </p:nvSpPr>
        <p:spPr>
          <a:xfrm>
            <a:off x="594360" y="4873752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</p:sp>
      <p:pic>
        <p:nvPicPr>
          <p:cNvPr id="21" name="Image 5" descr="勾選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4937760"/>
            <a:ext cx="256032" cy="256032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1188720" y="4800600"/>
            <a:ext cx="6035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題目有明確答案，錯誤選項合理且符合學習程度</a:t>
            </a:r>
            <a:endParaRPr lang="zh-TW" sz="1600" dirty="0"/>
          </a:p>
        </p:txBody>
      </p:sp>
      <p:sp>
        <p:nvSpPr>
          <p:cNvPr id="23" name="勾選框"/>
          <p:cNvSpPr/>
          <p:nvPr/>
        </p:nvSpPr>
        <p:spPr>
          <a:xfrm>
            <a:off x="594360" y="553212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</p:sp>
      <p:pic>
        <p:nvPicPr>
          <p:cNvPr id="24" name="Image 6" descr="勾選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5596128"/>
            <a:ext cx="256032" cy="256032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1188720" y="5458968"/>
            <a:ext cx="6035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內容以 POC 示範為主，沒有失焦</a:t>
            </a:r>
            <a:endParaRPr lang="zh-TW" sz="1600" dirty="0"/>
          </a:p>
        </p:txBody>
      </p:sp>
      <p:sp>
        <p:nvSpPr>
          <p:cNvPr id="26" name="重點"/>
          <p:cNvSpPr/>
          <p:nvPr/>
        </p:nvSpPr>
        <p:spPr>
          <a:xfrm>
            <a:off x="7680960" y="1600200"/>
            <a:ext cx="3959352" cy="4434840"/>
          </a:xfrm>
          <a:prstGeom prst="roundRect">
            <a:avLst>
              <a:gd name="adj" fmla="val 2771"/>
            </a:avLst>
          </a:prstGeom>
          <a:solidFill>
            <a:schemeClr val="accent3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圖示底圓"/>
          <p:cNvSpPr/>
          <p:nvPr/>
        </p:nvSpPr>
        <p:spPr>
          <a:xfrm>
            <a:off x="8001000" y="1920240"/>
            <a:ext cx="914400" cy="914400"/>
          </a:xfrm>
          <a:prstGeom prst="ellipse">
            <a:avLst/>
          </a:prstGeom>
          <a:solidFill>
            <a:schemeClr val="bg1">
              <a:alpha val="85000"/>
            </a:schemeClr>
          </a:solidFill>
          <a:ln/>
        </p:spPr>
      </p:sp>
      <p:pic>
        <p:nvPicPr>
          <p:cNvPr id="28" name="Image 7" descr="放大鏡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0" y="2148840"/>
            <a:ext cx="457200" cy="457200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8001000" y="30632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2000" b="1" dirty="0">
                <a:solidFill>
                  <a:schemeClr val="bg1"/>
                </a:solidFill>
              </a:rPr>
              <a:t>你在 prompt 寫下的規則，就是驗收 AI 成品的標準</a:t>
            </a:r>
            <a:endParaRPr lang="zh-TW" sz="2000" dirty="0"/>
          </a:p>
        </p:txBody>
      </p:sp>
      <p:sp>
        <p:nvSpPr>
          <p:cNvPr id="30" name="Text 19"/>
          <p:cNvSpPr txBox="1"/>
          <p:nvPr/>
        </p:nvSpPr>
        <p:spPr>
          <a:xfrm>
            <a:off x="8001000" y="452628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bg1"/>
                </a:solidFill>
              </a:rPr>
              <a:t>沒有通過的規則，就是 Adjust 要回頭調整的地方</a:t>
            </a:r>
            <a:endParaRPr lang="zh-TW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10</a:t>
            </a:r>
            <a:endParaRPr lang="zh-TW" sz="3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chemeClr val="accent3"/>
                </a:solidFill>
              </a:rPr>
              <a:t>10.1　</a:t>
            </a:r>
            <a:pPr algn="l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看懂 AI 的工作回報：內容與插圖</a:t>
            </a:r>
            <a:endParaRPr lang="zh-TW" sz="3000" dirty="0"/>
          </a:p>
        </p:txBody>
      </p:sp>
      <p:sp>
        <p:nvSpPr>
          <p:cNvPr id="5" name="截圖外框"/>
          <p:cNvSpPr/>
          <p:nvPr/>
        </p:nvSpPr>
        <p:spPr>
          <a:xfrm>
            <a:off x="548640" y="1508760"/>
            <a:ext cx="6492240" cy="1671486"/>
          </a:xfrm>
          <a:prstGeom prst="rect">
            <a:avLst/>
          </a:prstGeom>
          <a:solidFill>
            <a:schemeClr val="bg1"/>
          </a:solidFill>
          <a:ln w="9525">
            <a:solidFill>
              <a:srgbClr val="D5DAE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AI 回報教育部網站無法連線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54480"/>
            <a:ext cx="6400800" cy="1580046"/>
          </a:xfrm>
          <a:prstGeom prst="rect">
            <a:avLst/>
          </a:prstGeom>
        </p:spPr>
      </p:pic>
      <p:sp>
        <p:nvSpPr>
          <p:cNvPr id="7" name="截圖外框"/>
          <p:cNvSpPr/>
          <p:nvPr/>
        </p:nvSpPr>
        <p:spPr>
          <a:xfrm>
            <a:off x="548640" y="3383280"/>
            <a:ext cx="6492240" cy="2775906"/>
          </a:xfrm>
          <a:prstGeom prst="rect">
            <a:avLst/>
          </a:prstGeom>
          <a:solidFill>
            <a:schemeClr val="bg1"/>
          </a:solidFill>
          <a:ln w="9525">
            <a:solidFill>
              <a:srgbClr val="D5DAE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1" descr="AI 回報插圖修正進度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429000"/>
            <a:ext cx="6400800" cy="2684466"/>
          </a:xfrm>
          <a:prstGeom prst="rect">
            <a:avLst/>
          </a:prstGeom>
        </p:spPr>
      </p:pic>
      <p:sp>
        <p:nvSpPr>
          <p:cNvPr id="9" name="素材來源連不上時"/>
          <p:cNvSpPr/>
          <p:nvPr/>
        </p:nvSpPr>
        <p:spPr>
          <a:xfrm>
            <a:off x="7406640" y="1554480"/>
            <a:ext cx="4233672" cy="1600200"/>
          </a:xfrm>
          <a:prstGeom prst="roundRect">
            <a:avLst>
              <a:gd name="adj" fmla="val 6857"/>
            </a:avLst>
          </a:prstGeom>
          <a:solidFill>
            <a:schemeClr val="accent3">
              <a:alpha val="10000"/>
            </a:schemeClr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7635240" y="1691640"/>
            <a:ext cx="3840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zh-TW" altLang="en-US" sz="1700" b="1" dirty="0">
                <a:solidFill>
                  <a:schemeClr val="accent3"/>
                </a:solidFill>
              </a:rPr>
              <a:t>素材來源連不上時</a:t>
            </a:r>
            <a:endParaRPr lang="zh-TW" sz="1600" dirty="0"/>
          </a:p>
          <a:p>
            <a:pPr indent="0" marL="0">
              <a:buNone/>
            </a:pPr>
            <a:r>
              <a:rPr lang="zh-TW" altLang="en-US" sz="1500" dirty="0">
                <a:solidFill>
                  <a:schemeClr val="tx1"/>
                </a:solidFill>
              </a:rPr>
              <a:t>AI 改用三年級常見生字，並在說明中註明 → 檢查替代方案是否合理</a:t>
            </a:r>
            <a:endParaRPr lang="zh-TW" sz="1600" dirty="0"/>
          </a:p>
        </p:txBody>
      </p:sp>
      <p:sp>
        <p:nvSpPr>
          <p:cNvPr id="11" name="插圖逐張檢查"/>
          <p:cNvSpPr/>
          <p:nvPr/>
        </p:nvSpPr>
        <p:spPr>
          <a:xfrm>
            <a:off x="7406640" y="3429000"/>
            <a:ext cx="4233672" cy="2651760"/>
          </a:xfrm>
          <a:prstGeom prst="roundRect">
            <a:avLst>
              <a:gd name="adj" fmla="val 4138"/>
            </a:avLst>
          </a:prstGeom>
          <a:solidFill>
            <a:schemeClr val="accent3">
              <a:alpha val="10000"/>
            </a:schemeClr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7635240" y="3566160"/>
            <a:ext cx="3840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zh-TW" altLang="en-US" sz="1700" b="1" dirty="0">
                <a:solidFill>
                  <a:schemeClr val="accent3"/>
                </a:solidFill>
              </a:rPr>
              <a:t>插圖逐張檢查</a:t>
            </a:r>
            <a:endParaRPr lang="zh-TW" sz="1600" dirty="0"/>
          </a:p>
          <a:p>
            <a:pPr indent="0" marL="0">
              <a:buNone/>
            </a:pPr>
            <a:r>
              <a:rPr lang="zh-TW" altLang="en-US" sz="1500" dirty="0">
                <a:solidFill>
                  <a:schemeClr val="tx1"/>
                </a:solidFill>
              </a:rPr>
              <a:t>AI 畫完角色與情境圖後，逐張找出問題並修正（例如人物被裁掉、位置不對）→ 檢查畫風與人物造型是否一致</a:t>
            </a:r>
            <a:endParaRPr lang="zh-TW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10</a:t>
            </a:r>
            <a:endParaRPr lang="zh-TW" sz="3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chemeClr val="accent3"/>
                </a:solidFill>
              </a:rPr>
              <a:t>10.2　</a:t>
            </a:r>
            <a:pPr algn="l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看懂 AI 的工作回報：程式與畫面</a:t>
            </a:r>
            <a:endParaRPr lang="zh-TW" sz="3000" dirty="0"/>
          </a:p>
        </p:txBody>
      </p:sp>
      <p:sp>
        <p:nvSpPr>
          <p:cNvPr id="5" name="截圖外框"/>
          <p:cNvSpPr/>
          <p:nvPr/>
        </p:nvSpPr>
        <p:spPr>
          <a:xfrm>
            <a:off x="548640" y="1508760"/>
            <a:ext cx="11091672" cy="2153984"/>
          </a:xfrm>
          <a:prstGeom prst="rect">
            <a:avLst/>
          </a:prstGeom>
          <a:solidFill>
            <a:schemeClr val="bg1"/>
          </a:solidFill>
          <a:ln w="9525">
            <a:solidFill>
              <a:srgbClr val="D5DAE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AI 回報修正程式錯誤與測試進度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54480"/>
            <a:ext cx="11000232" cy="2062543"/>
          </a:xfrm>
          <a:prstGeom prst="rect">
            <a:avLst/>
          </a:prstGeom>
        </p:spPr>
      </p:pic>
      <p:sp>
        <p:nvSpPr>
          <p:cNvPr id="7" name="修正程式錯誤"/>
          <p:cNvSpPr/>
          <p:nvPr/>
        </p:nvSpPr>
        <p:spPr>
          <a:xfrm>
            <a:off x="548640" y="4069080"/>
            <a:ext cx="3447288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圖示底圓"/>
          <p:cNvSpPr/>
          <p:nvPr/>
        </p:nvSpPr>
        <p:spPr>
          <a:xfrm>
            <a:off x="777240" y="4251960"/>
            <a:ext cx="640080" cy="640080"/>
          </a:xfrm>
          <a:prstGeom prst="ellipse">
            <a:avLst/>
          </a:prstGeom>
          <a:solidFill>
            <a:schemeClr val="accent3">
              <a:alpha val="16000"/>
            </a:schemeClr>
          </a:solidFill>
          <a:ln/>
        </p:spPr>
      </p:sp>
      <p:pic>
        <p:nvPicPr>
          <p:cNvPr id="9" name="Image 1" descr="bu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859" y="4405579"/>
            <a:ext cx="332842" cy="33284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554480" y="42519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修正程式錯誤</a:t>
            </a:r>
            <a:endParaRPr lang="zh-TW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777240" y="498348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找出兩個 CSS 錯誤：圖片比例跑掉、主畫面出現多餘的焦點框，並修正</a:t>
            </a:r>
            <a:endParaRPr lang="zh-TW" sz="1400" dirty="0"/>
          </a:p>
        </p:txBody>
      </p:sp>
      <p:sp>
        <p:nvSpPr>
          <p:cNvPr id="12" name="完整闖關一次"/>
          <p:cNvSpPr/>
          <p:nvPr/>
        </p:nvSpPr>
        <p:spPr>
          <a:xfrm>
            <a:off x="4370832" y="4069080"/>
            <a:ext cx="3447288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圖示底圓"/>
          <p:cNvSpPr/>
          <p:nvPr/>
        </p:nvSpPr>
        <p:spPr>
          <a:xfrm>
            <a:off x="4599432" y="4251960"/>
            <a:ext cx="640080" cy="640080"/>
          </a:xfrm>
          <a:prstGeom prst="ellipse">
            <a:avLst/>
          </a:prstGeom>
          <a:solidFill>
            <a:schemeClr val="accent3">
              <a:alpha val="16000"/>
            </a:schemeClr>
          </a:solidFill>
          <a:ln/>
        </p:spPr>
      </p:sp>
      <p:pic>
        <p:nvPicPr>
          <p:cNvPr id="14" name="Image 2" descr="gamepa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3051" y="4405579"/>
            <a:ext cx="332842" cy="33284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376672" y="42519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完整闖關一次</a:t>
            </a:r>
            <a:endParaRPr lang="zh-TW" sz="1800" dirty="0"/>
          </a:p>
        </p:txBody>
      </p:sp>
      <p:sp>
        <p:nvSpPr>
          <p:cNvPr id="16" name="Text 10"/>
          <p:cNvSpPr txBox="1"/>
          <p:nvPr/>
        </p:nvSpPr>
        <p:spPr>
          <a:xfrm>
            <a:off x="4599432" y="498348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兩課、星星、徽章、證書、教師版都正常，沒有錯誤</a:t>
            </a:r>
            <a:endParaRPr lang="zh-TW" sz="1400" dirty="0"/>
          </a:p>
        </p:txBody>
      </p:sp>
      <p:sp>
        <p:nvSpPr>
          <p:cNvPr id="17" name="檢查手機版畫面"/>
          <p:cNvSpPr/>
          <p:nvPr/>
        </p:nvSpPr>
        <p:spPr>
          <a:xfrm>
            <a:off x="8193024" y="4069080"/>
            <a:ext cx="3447288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圖示底圓"/>
          <p:cNvSpPr/>
          <p:nvPr/>
        </p:nvSpPr>
        <p:spPr>
          <a:xfrm>
            <a:off x="8421624" y="4251960"/>
            <a:ext cx="640080" cy="640080"/>
          </a:xfrm>
          <a:prstGeom prst="ellipse">
            <a:avLst/>
          </a:prstGeom>
          <a:solidFill>
            <a:schemeClr val="accent3">
              <a:alpha val="16000"/>
            </a:schemeClr>
          </a:solidFill>
          <a:ln/>
        </p:spPr>
      </p:sp>
      <p:pic>
        <p:nvPicPr>
          <p:cNvPr id="19" name="Image 3" descr="mobi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5243" y="4405579"/>
            <a:ext cx="332842" cy="33284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9198864" y="42519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檢查手機版畫面</a:t>
            </a:r>
            <a:endParaRPr lang="zh-TW" sz="1800" dirty="0"/>
          </a:p>
        </p:txBody>
      </p:sp>
      <p:sp>
        <p:nvSpPr>
          <p:cNvPr id="21" name="Text 14"/>
          <p:cNvSpPr txBox="1"/>
          <p:nvPr/>
        </p:nvSpPr>
        <p:spPr>
          <a:xfrm>
            <a:off x="8421624" y="498348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確認在手機上也能正常操作</a:t>
            </a:r>
            <a:endParaRPr lang="zh-TW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11</a:t>
            </a:r>
            <a:endParaRPr lang="zh-TW" sz="3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驗收成品：實際操作一次</a:t>
            </a:r>
            <a:endParaRPr lang="zh-TW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tx2"/>
                </a:solidFill>
              </a:rPr>
              <a:t>右圖由左到右，是成品在手機上的四個畫面</a:t>
            </a:r>
            <a:endParaRPr lang="zh-TW" sz="1600" dirty="0"/>
          </a:p>
        </p:txBody>
      </p:sp>
      <p:sp>
        <p:nvSpPr>
          <p:cNvPr id="6" name="編號"/>
          <p:cNvSpPr/>
          <p:nvPr/>
        </p:nvSpPr>
        <p:spPr>
          <a:xfrm>
            <a:off x="594360" y="2103120"/>
            <a:ext cx="438912" cy="43891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94360" y="2103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chemeClr val="bg1"/>
                </a:solidFill>
              </a:rPr>
              <a:t>1</a:t>
            </a:r>
            <a:endParaRPr lang="zh-TW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20116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首頁與闖關地圖</a:t>
            </a:r>
            <a:endParaRPr lang="zh-TW" sz="1800" dirty="0"/>
          </a:p>
          <a:p>
            <a:pPr indent="0" marL="0">
              <a:buNone/>
            </a:pPr>
            <a:r>
              <a:rPr lang="zh-TW" altLang="en-US" sz="1500" dirty="0">
                <a:solidFill>
                  <a:schemeClr val="tx2"/>
                </a:solidFill>
              </a:rPr>
              <a:t>兩課的入口與星星進度</a:t>
            </a:r>
            <a:endParaRPr lang="zh-TW" sz="1800" dirty="0"/>
          </a:p>
        </p:txBody>
      </p:sp>
      <p:sp>
        <p:nvSpPr>
          <p:cNvPr id="9" name="編號"/>
          <p:cNvSpPr/>
          <p:nvPr/>
        </p:nvSpPr>
        <p:spPr>
          <a:xfrm>
            <a:off x="594360" y="3017520"/>
            <a:ext cx="438912" cy="43891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0175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chemeClr val="bg1"/>
                </a:solidFill>
              </a:rPr>
              <a:t>2</a:t>
            </a:r>
            <a:endParaRPr lang="zh-TW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234440" y="29260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第一課：情境圖</a:t>
            </a:r>
            <a:endParaRPr lang="zh-TW" sz="1800" dirty="0"/>
          </a:p>
          <a:p>
            <a:pPr indent="0" marL="0">
              <a:buNone/>
            </a:pPr>
            <a:r>
              <a:rPr lang="zh-TW" altLang="en-US" sz="1500" dirty="0">
                <a:solidFill>
                  <a:schemeClr val="tx2"/>
                </a:solidFill>
              </a:rPr>
              <a:t>在圖中找出藏起來的生字</a:t>
            </a:r>
            <a:endParaRPr lang="zh-TW" sz="1800" dirty="0"/>
          </a:p>
        </p:txBody>
      </p:sp>
      <p:sp>
        <p:nvSpPr>
          <p:cNvPr id="12" name="編號"/>
          <p:cNvSpPr/>
          <p:nvPr/>
        </p:nvSpPr>
        <p:spPr>
          <a:xfrm>
            <a:off x="594360" y="3931920"/>
            <a:ext cx="438912" cy="43891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" y="39319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chemeClr val="bg1"/>
                </a:solidFill>
              </a:rPr>
              <a:t>3</a:t>
            </a:r>
            <a:endParaRPr lang="zh-TW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234440" y="38404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第一課：生字解說</a:t>
            </a:r>
            <a:endParaRPr lang="zh-TW" sz="1800" dirty="0"/>
          </a:p>
          <a:p>
            <a:pPr indent="0" marL="0">
              <a:buNone/>
            </a:pPr>
            <a:r>
              <a:rPr lang="zh-TW" altLang="en-US" sz="1500" dirty="0">
                <a:solidFill>
                  <a:schemeClr val="tx2"/>
                </a:solidFill>
              </a:rPr>
              <a:t>字音、部首、筆畫、字義、常用詞語與例句</a:t>
            </a:r>
            <a:endParaRPr lang="zh-TW" sz="1800" dirty="0"/>
          </a:p>
        </p:txBody>
      </p:sp>
      <p:sp>
        <p:nvSpPr>
          <p:cNvPr id="15" name="編號"/>
          <p:cNvSpPr/>
          <p:nvPr/>
        </p:nvSpPr>
        <p:spPr>
          <a:xfrm>
            <a:off x="594360" y="4846320"/>
            <a:ext cx="438912" cy="43891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94360" y="48463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chemeClr val="bg1"/>
                </a:solidFill>
              </a:rPr>
              <a:t>4</a:t>
            </a:r>
            <a:endParaRPr lang="zh-TW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234440" y="47548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第二課：看圖猜成語</a:t>
            </a:r>
            <a:endParaRPr lang="zh-TW" sz="1800" dirty="0"/>
          </a:p>
          <a:p>
            <a:pPr indent="0" marL="0">
              <a:buNone/>
            </a:pPr>
            <a:r>
              <a:rPr lang="zh-TW" altLang="en-US" sz="1500" dirty="0">
                <a:solidFill>
                  <a:schemeClr val="tx2"/>
                </a:solidFill>
              </a:rPr>
              <a:t>看情境圖，從四個選項選出成語</a:t>
            </a:r>
            <a:endParaRPr lang="zh-TW" sz="1800" dirty="0"/>
          </a:p>
        </p:txBody>
      </p:sp>
      <p:sp>
        <p:nvSpPr>
          <p:cNvPr id="18" name="提示"/>
          <p:cNvSpPr/>
          <p:nvPr/>
        </p:nvSpPr>
        <p:spPr>
          <a:xfrm>
            <a:off x="548640" y="5623560"/>
            <a:ext cx="6583680" cy="502920"/>
          </a:xfrm>
          <a:prstGeom prst="roundRect">
            <a:avLst>
              <a:gd name="adj" fmla="val 21818"/>
            </a:avLst>
          </a:prstGeom>
          <a:solidFill>
            <a:schemeClr val="accent3">
              <a:alpha val="12000"/>
            </a:schemeClr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562356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dirty="0">
                <a:solidFill>
                  <a:schemeClr val="tx1"/>
                </a:solidFill>
              </a:rPr>
              <a:t>用小朋友的角度從頭玩到尾，檢查是否好懂、好操作</a:t>
            </a:r>
            <a:endParaRPr lang="zh-TW" sz="1500" dirty="0"/>
          </a:p>
        </p:txBody>
      </p:sp>
      <p:sp>
        <p:nvSpPr>
          <p:cNvPr id="20" name="截圖外框"/>
          <p:cNvSpPr/>
          <p:nvPr/>
        </p:nvSpPr>
        <p:spPr>
          <a:xfrm>
            <a:off x="7839296" y="1417320"/>
            <a:ext cx="3846736" cy="4754880"/>
          </a:xfrm>
          <a:prstGeom prst="rect">
            <a:avLst/>
          </a:prstGeom>
          <a:solidFill>
            <a:schemeClr val="bg1"/>
          </a:solidFill>
          <a:ln w="9525">
            <a:solidFill>
              <a:srgbClr val="D5DAE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21" name="Image 0" descr="成品在手機上的四個畫面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5016" y="1463040"/>
            <a:ext cx="3755296" cy="4663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節卡片"/>
          <p:cNvSpPr/>
          <p:nvPr/>
        </p:nvSpPr>
        <p:spPr>
          <a:xfrm>
            <a:off x="640080" y="822960"/>
            <a:ext cx="5029200" cy="3255264"/>
          </a:xfrm>
          <a:prstGeom prst="roundRect">
            <a:avLst>
              <a:gd name="adj" fmla="val 3371"/>
            </a:avLst>
          </a:prstGeom>
          <a:solidFill>
            <a:schemeClr val="bg1">
              <a:alpha val="92000"/>
            </a:schemeClr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水彩色塊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143000"/>
            <a:ext cx="1417320" cy="1417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05840" y="11430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5400" b="1" dirty="0">
                <a:solidFill>
                  <a:schemeClr val="tx1"/>
                </a:solidFill>
              </a:rPr>
              <a:t>A</a:t>
            </a:r>
            <a:endParaRPr lang="zh-TW" sz="54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2697480" y="132588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chemeClr val="accent4"/>
                </a:solidFill>
              </a:rPr>
              <a:t>Adjust</a:t>
            </a:r>
            <a:endParaRPr lang="zh-TW" sz="3600" dirty="0"/>
          </a:p>
          <a:p>
            <a:pPr algn="l" indent="0" marL="0">
              <a:buNone/>
            </a:pPr>
            <a:r>
              <a:rPr lang="zh-TW" altLang="en-US" sz="2400" b="1" dirty="0">
                <a:solidFill>
                  <a:schemeClr val="tx2"/>
                </a:solidFill>
              </a:rPr>
              <a:t>調整</a:t>
            </a:r>
            <a:endParaRPr lang="zh-TW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1051560" y="2880360"/>
            <a:ext cx="4343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accent4"/>
                </a:solidFill>
              </a:rPr>
              <a:t>12　</a:t>
            </a:r>
            <a:pPr indent="0" marL="0">
              <a:spcAft>
                <a:spcPts val="1000"/>
              </a:spcAft>
              <a:buNone/>
            </a:pPr>
            <a:r>
              <a:rPr lang="zh-TW" altLang="en-US" sz="1800" dirty="0">
                <a:solidFill>
                  <a:schemeClr val="tx1"/>
                </a:solidFill>
              </a:rPr>
              <a:t>回頭調整 Plan 與 prompt</a:t>
            </a:r>
            <a:endParaRPr lang="zh-TW" sz="1800" dirty="0"/>
          </a:p>
          <a:p>
            <a:pPr indent="0" marL="0">
              <a:buNone/>
            </a:pPr>
            <a:r>
              <a:rPr lang="zh-TW" altLang="en-US" sz="1800" b="1" dirty="0">
                <a:solidFill>
                  <a:schemeClr val="accent4"/>
                </a:solidFill>
              </a:rPr>
              <a:t>13　</a:t>
            </a:r>
            <a:pPr indent="0" marL="0">
              <a:spcAft>
                <a:spcPts val="1000"/>
              </a:spcAft>
              <a:buNone/>
            </a:pPr>
            <a:r>
              <a:rPr lang="zh-TW" altLang="en-US" sz="1800" dirty="0">
                <a:solidFill>
                  <a:schemeClr val="tx1"/>
                </a:solidFill>
              </a:rPr>
              <a:t>再跑一輪，每一版都留下紀錄</a:t>
            </a:r>
            <a:endParaRPr lang="zh-TW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12</a:t>
            </a:r>
            <a:endParaRPr lang="zh-TW" sz="3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回頭調整 Plan 與 prompt</a:t>
            </a:r>
            <a:endParaRPr lang="zh-TW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tx2"/>
                </a:solidFill>
              </a:rPr>
              <a:t>檢查時發現</a:t>
            </a:r>
            <a:endParaRPr lang="zh-TW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035040" y="146304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accent4"/>
                </a:solidFill>
              </a:rPr>
              <a:t>回頭調整哪裡</a:t>
            </a:r>
            <a:endParaRPr lang="zh-TW" sz="1600" dirty="0"/>
          </a:p>
        </p:txBody>
      </p:sp>
      <p:sp>
        <p:nvSpPr>
          <p:cNvPr id="7" name="問題"/>
          <p:cNvSpPr/>
          <p:nvPr/>
        </p:nvSpPr>
        <p:spPr>
          <a:xfrm>
            <a:off x="548640" y="1920240"/>
            <a:ext cx="48463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7240" y="192024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用詞或題目難度不符合年級</a:t>
            </a:r>
            <a:endParaRPr lang="zh-TW" sz="1600" dirty="0"/>
          </a:p>
        </p:txBody>
      </p:sp>
      <p:pic>
        <p:nvPicPr>
          <p:cNvPr id="9" name="Image 0" descr="對應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0" y="2221992"/>
            <a:ext cx="274320" cy="274320"/>
          </a:xfrm>
          <a:prstGeom prst="rect">
            <a:avLst/>
          </a:prstGeom>
        </p:spPr>
      </p:pic>
      <p:sp>
        <p:nvSpPr>
          <p:cNvPr id="10" name="調整"/>
          <p:cNvSpPr/>
          <p:nvPr/>
        </p:nvSpPr>
        <p:spPr>
          <a:xfrm>
            <a:off x="6035040" y="1920240"/>
            <a:ext cx="5605272" cy="868680"/>
          </a:xfrm>
          <a:prstGeom prst="roundRect">
            <a:avLst>
              <a:gd name="adj" fmla="val 12632"/>
            </a:avLst>
          </a:prstGeom>
          <a:solidFill>
            <a:schemeClr val="accent4">
              <a:alpha val="10000"/>
            </a:schemeClr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263640" y="192024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第 4 項起手式：重新確認教學對象與題型</a:t>
            </a:r>
            <a:endParaRPr lang="zh-TW" sz="1600" dirty="0"/>
          </a:p>
        </p:txBody>
      </p:sp>
      <p:sp>
        <p:nvSpPr>
          <p:cNvPr id="12" name="問題"/>
          <p:cNvSpPr/>
          <p:nvPr/>
        </p:nvSpPr>
        <p:spPr>
          <a:xfrm>
            <a:off x="548640" y="2971800"/>
            <a:ext cx="48463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77240" y="297180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人物造型、畫風前後不一致</a:t>
            </a:r>
            <a:endParaRPr lang="zh-TW" sz="1600" dirty="0"/>
          </a:p>
        </p:txBody>
      </p:sp>
      <p:pic>
        <p:nvPicPr>
          <p:cNvPr id="14" name="Image 1" descr="對應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3273552"/>
            <a:ext cx="274320" cy="274320"/>
          </a:xfrm>
          <a:prstGeom prst="rect">
            <a:avLst/>
          </a:prstGeom>
        </p:spPr>
      </p:pic>
      <p:sp>
        <p:nvSpPr>
          <p:cNvPr id="15" name="調整"/>
          <p:cNvSpPr/>
          <p:nvPr/>
        </p:nvSpPr>
        <p:spPr>
          <a:xfrm>
            <a:off x="6035040" y="2971800"/>
            <a:ext cx="5605272" cy="868680"/>
          </a:xfrm>
          <a:prstGeom prst="roundRect">
            <a:avLst>
              <a:gd name="adj" fmla="val 12632"/>
            </a:avLst>
          </a:prstGeom>
          <a:solidFill>
            <a:schemeClr val="accent4">
              <a:alpha val="10000"/>
            </a:schemeClr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6263640" y="297180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第 8 項 prompt：把人物與畫風描述寫得更具體</a:t>
            </a:r>
            <a:endParaRPr lang="zh-TW" sz="1600" dirty="0"/>
          </a:p>
        </p:txBody>
      </p:sp>
      <p:sp>
        <p:nvSpPr>
          <p:cNvPr id="17" name="問題"/>
          <p:cNvSpPr/>
          <p:nvPr/>
        </p:nvSpPr>
        <p:spPr>
          <a:xfrm>
            <a:off x="548640" y="4023360"/>
            <a:ext cx="48463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777240" y="402336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素材來源連不上，或內容來源不明</a:t>
            </a:r>
            <a:endParaRPr lang="zh-TW" sz="1600" dirty="0"/>
          </a:p>
        </p:txBody>
      </p:sp>
      <p:pic>
        <p:nvPicPr>
          <p:cNvPr id="19" name="Image 2" descr="對應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4325112"/>
            <a:ext cx="274320" cy="274320"/>
          </a:xfrm>
          <a:prstGeom prst="rect">
            <a:avLst/>
          </a:prstGeom>
        </p:spPr>
      </p:pic>
      <p:sp>
        <p:nvSpPr>
          <p:cNvPr id="20" name="調整"/>
          <p:cNvSpPr/>
          <p:nvPr/>
        </p:nvSpPr>
        <p:spPr>
          <a:xfrm>
            <a:off x="6035040" y="4023360"/>
            <a:ext cx="5605272" cy="868680"/>
          </a:xfrm>
          <a:prstGeom prst="roundRect">
            <a:avLst>
              <a:gd name="adj" fmla="val 12632"/>
            </a:avLst>
          </a:prstGeom>
          <a:solidFill>
            <a:schemeClr val="accent4">
              <a:alpha val="10000"/>
            </a:schemeClr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6263640" y="402336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第 2、6 項：更換素材來源，或自己提供字表</a:t>
            </a:r>
            <a:endParaRPr lang="zh-TW" sz="1600" dirty="0"/>
          </a:p>
        </p:txBody>
      </p:sp>
      <p:sp>
        <p:nvSpPr>
          <p:cNvPr id="22" name="問題"/>
          <p:cNvSpPr/>
          <p:nvPr/>
        </p:nvSpPr>
        <p:spPr>
          <a:xfrm>
            <a:off x="548640" y="5074920"/>
            <a:ext cx="48463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777240" y="507492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AI 想法很多，卻抓不到重點</a:t>
            </a:r>
            <a:endParaRPr lang="zh-TW" sz="1600" dirty="0"/>
          </a:p>
        </p:txBody>
      </p:sp>
      <p:pic>
        <p:nvPicPr>
          <p:cNvPr id="24" name="Image 3" descr="對應到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5376672"/>
            <a:ext cx="274320" cy="274320"/>
          </a:xfrm>
          <a:prstGeom prst="rect">
            <a:avLst/>
          </a:prstGeom>
        </p:spPr>
      </p:pic>
      <p:sp>
        <p:nvSpPr>
          <p:cNvPr id="25" name="調整"/>
          <p:cNvSpPr/>
          <p:nvPr/>
        </p:nvSpPr>
        <p:spPr>
          <a:xfrm>
            <a:off x="6035040" y="5074920"/>
            <a:ext cx="5605272" cy="868680"/>
          </a:xfrm>
          <a:prstGeom prst="roundRect">
            <a:avLst>
              <a:gd name="adj" fmla="val 12632"/>
            </a:avLst>
          </a:prstGeom>
          <a:solidFill>
            <a:schemeClr val="accent4">
              <a:alpha val="10000"/>
            </a:schemeClr>
          </a:solidFill>
          <a:ln/>
        </p:spPr>
      </p:sp>
      <p:sp>
        <p:nvSpPr>
          <p:cNvPr id="26" name="Text 19"/>
          <p:cNvSpPr txBox="1"/>
          <p:nvPr/>
        </p:nvSpPr>
        <p:spPr>
          <a:xfrm>
            <a:off x="6263640" y="507492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第 5 項：不能只有標題，要有大綱，訂出階梯與邊界</a:t>
            </a:r>
            <a:endParaRPr lang="zh-TW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411480" y="29260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13</a:t>
            </a:r>
            <a:endParaRPr lang="zh-TW" sz="3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1554480" y="411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再跑一輪：每一版都留下紀錄</a:t>
            </a:r>
            <a:endParaRPr lang="zh-TW" sz="3000" dirty="0"/>
          </a:p>
        </p:txBody>
      </p:sp>
      <p:pic>
        <p:nvPicPr>
          <p:cNvPr id="5" name="Image 0" descr="水彩色塊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71800" y="2926080"/>
            <a:ext cx="2011680" cy="20116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3063240" y="338328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先求有，</a:t>
            </a:r>
            <a:endParaRPr lang="zh-TW" sz="1800" dirty="0"/>
          </a:p>
          <a:p>
            <a:pPr algn="ctr"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再求好</a:t>
            </a:r>
            <a:endParaRPr lang="zh-TW" sz="1800" dirty="0"/>
          </a:p>
        </p:txBody>
      </p:sp>
      <p:sp>
        <p:nvSpPr>
          <p:cNvPr id="7" name="修改 prompt"/>
          <p:cNvSpPr/>
          <p:nvPr/>
        </p:nvSpPr>
        <p:spPr>
          <a:xfrm>
            <a:off x="2926080" y="1508760"/>
            <a:ext cx="2103120" cy="64008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9050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2926080" y="15087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修改 prompt</a:t>
            </a:r>
            <a:endParaRPr lang="zh-TW" sz="1600" dirty="0"/>
          </a:p>
        </p:txBody>
      </p:sp>
      <p:sp>
        <p:nvSpPr>
          <p:cNvPr id="9" name="AI 重新產生"/>
          <p:cNvSpPr/>
          <p:nvPr/>
        </p:nvSpPr>
        <p:spPr>
          <a:xfrm>
            <a:off x="5303520" y="3611880"/>
            <a:ext cx="2103120" cy="64008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9050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5303520" y="36118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AI 重新產生</a:t>
            </a:r>
            <a:endParaRPr lang="zh-TW" sz="1600" dirty="0"/>
          </a:p>
        </p:txBody>
      </p:sp>
      <p:sp>
        <p:nvSpPr>
          <p:cNvPr id="11" name="檢查成品"/>
          <p:cNvSpPr/>
          <p:nvPr/>
        </p:nvSpPr>
        <p:spPr>
          <a:xfrm>
            <a:off x="2926080" y="5440680"/>
            <a:ext cx="2103120" cy="64008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9050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2926080" y="54406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檢查成品</a:t>
            </a:r>
            <a:endParaRPr lang="zh-TW" sz="1600" dirty="0"/>
          </a:p>
        </p:txBody>
      </p:sp>
      <p:sp>
        <p:nvSpPr>
          <p:cNvPr id="13" name="commit and push"/>
          <p:cNvSpPr/>
          <p:nvPr/>
        </p:nvSpPr>
        <p:spPr>
          <a:xfrm>
            <a:off x="548640" y="3611880"/>
            <a:ext cx="2103120" cy="64008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9050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548640" y="36118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commit and push</a:t>
            </a:r>
            <a:endParaRPr lang="zh-TW" sz="1600" dirty="0"/>
          </a:p>
        </p:txBody>
      </p:sp>
      <p:sp>
        <p:nvSpPr>
          <p:cNvPr id="15" name="Shape 11"/>
          <p:cNvSpPr/>
          <p:nvPr/>
        </p:nvSpPr>
        <p:spPr>
          <a:xfrm>
            <a:off x="5074920" y="2194560"/>
            <a:ext cx="1188720" cy="137160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 flipH="1">
            <a:off x="5074920" y="4297680"/>
            <a:ext cx="1188720" cy="10972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 flipH="1" flipV="1">
            <a:off x="1691640" y="4297680"/>
            <a:ext cx="1188720" cy="10972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 flipV="1">
            <a:off x="1691640" y="2194560"/>
            <a:ext cx="1188720" cy="137160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9" name="每次 commit 都寫清楚摘要"/>
          <p:cNvSpPr/>
          <p:nvPr/>
        </p:nvSpPr>
        <p:spPr>
          <a:xfrm>
            <a:off x="7680960" y="1554480"/>
            <a:ext cx="3959352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圖示底圓"/>
          <p:cNvSpPr/>
          <p:nvPr/>
        </p:nvSpPr>
        <p:spPr>
          <a:xfrm>
            <a:off x="7863840" y="1847088"/>
            <a:ext cx="685800" cy="685800"/>
          </a:xfrm>
          <a:prstGeom prst="ellipse">
            <a:avLst/>
          </a:prstGeom>
          <a:solidFill>
            <a:schemeClr val="accent4">
              <a:alpha val="16000"/>
            </a:schemeClr>
          </a:solidFill>
          <a:ln/>
        </p:spPr>
      </p:sp>
      <p:pic>
        <p:nvPicPr>
          <p:cNvPr id="21" name="Image 1" descr="fi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8432" y="2011680"/>
            <a:ext cx="356616" cy="35661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686800" y="1664208"/>
            <a:ext cx="283464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每次 commit 都寫清楚摘要</a:t>
            </a:r>
            <a:endParaRPr lang="zh-TW" sz="1600" dirty="0"/>
          </a:p>
          <a:p>
            <a:pPr indent="0" marL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回頭找版本時，一看就知道改了什麼（第 7.4.1 項）</a:t>
            </a:r>
            <a:endParaRPr lang="zh-TW" sz="1600" dirty="0"/>
          </a:p>
        </p:txBody>
      </p:sp>
      <p:sp>
        <p:nvSpPr>
          <p:cNvPr id="23" name="GitHub 保留每一個版本"/>
          <p:cNvSpPr/>
          <p:nvPr/>
        </p:nvSpPr>
        <p:spPr>
          <a:xfrm>
            <a:off x="7680960" y="3063240"/>
            <a:ext cx="3959352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圖示底圓"/>
          <p:cNvSpPr/>
          <p:nvPr/>
        </p:nvSpPr>
        <p:spPr>
          <a:xfrm>
            <a:off x="7863840" y="3355848"/>
            <a:ext cx="685800" cy="685800"/>
          </a:xfrm>
          <a:prstGeom prst="ellipse">
            <a:avLst/>
          </a:prstGeom>
          <a:solidFill>
            <a:schemeClr val="accent4">
              <a:alpha val="16000"/>
            </a:schemeClr>
          </a:solidFill>
          <a:ln/>
        </p:spPr>
      </p:sp>
      <p:pic>
        <p:nvPicPr>
          <p:cNvPr id="25" name="Image 2" descr="githu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432" y="3520440"/>
            <a:ext cx="356616" cy="35661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686800" y="3172968"/>
            <a:ext cx="283464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GitHub 保留每一個版本</a:t>
            </a:r>
            <a:endParaRPr lang="zh-TW" sz="1600" dirty="0"/>
          </a:p>
          <a:p>
            <a:pPr indent="0" marL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改壞了也能找回上一版，放心嘗試</a:t>
            </a:r>
            <a:endParaRPr lang="zh-TW" sz="1600" dirty="0"/>
          </a:p>
        </p:txBody>
      </p:sp>
      <p:sp>
        <p:nvSpPr>
          <p:cNvPr id="27" name="push 之後網頁跟著更新"/>
          <p:cNvSpPr/>
          <p:nvPr/>
        </p:nvSpPr>
        <p:spPr>
          <a:xfrm>
            <a:off x="7680960" y="4572000"/>
            <a:ext cx="3959352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圖示底圓"/>
          <p:cNvSpPr/>
          <p:nvPr/>
        </p:nvSpPr>
        <p:spPr>
          <a:xfrm>
            <a:off x="7863840" y="4864608"/>
            <a:ext cx="685800" cy="685800"/>
          </a:xfrm>
          <a:prstGeom prst="ellipse">
            <a:avLst/>
          </a:prstGeom>
          <a:solidFill>
            <a:schemeClr val="accent4">
              <a:alpha val="16000"/>
            </a:schemeClr>
          </a:solidFill>
          <a:ln/>
        </p:spPr>
      </p:sp>
      <p:pic>
        <p:nvPicPr>
          <p:cNvPr id="29" name="Image 3" descr="clo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8432" y="5029200"/>
            <a:ext cx="356616" cy="35661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8686800" y="4681728"/>
            <a:ext cx="283464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push 之後網頁跟著更新</a:t>
            </a:r>
            <a:endParaRPr lang="zh-TW" sz="1600" dirty="0"/>
          </a:p>
          <a:p>
            <a:pPr indent="0" marL="0">
              <a:buNone/>
            </a:pPr>
            <a:r>
              <a:rPr lang="zh-TW" altLang="en-US" sz="1400" dirty="0">
                <a:solidFill>
                  <a:schemeClr val="tx2"/>
                </a:solidFill>
              </a:rPr>
              <a:t>前提是已依第 3 項說明，把 Netlify 接上 GitHub</a:t>
            </a:r>
            <a:endParaRPr lang="zh-TW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4400" b="1" dirty="0">
                <a:solidFill>
                  <a:schemeClr val="tx1"/>
                </a:solidFill>
              </a:rPr>
              <a:t>一步一步，建構你的第一手教材</a:t>
            </a:r>
            <a:endParaRPr lang="zh-TW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194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2000" dirty="0">
                <a:solidFill>
                  <a:schemeClr val="tx1"/>
                </a:solidFill>
              </a:rPr>
              <a:t>Plan → Do → Check → Adjust，再跑一輪</a:t>
            </a:r>
            <a:endParaRPr lang="zh-TW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743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600" u="sng" dirty="0">
                <a:solidFill>
                  <a:schemeClr val="tx2"/>
                </a:solidFill>
                <a:hlinkClick r:id="rId1" invalidUrl="" action="" tgtFrame="" tooltip="本課程的 GitHub 專案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github.com/MattAtAIEra/NTTU2026-step-by-step</a:t>
            </a:r>
            <a:endParaRPr lang="zh-TW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ep by Step Watercolor">
  <a:themeElements>
    <a:clrScheme name="Step by Step Watercolor">
      <a:dk1>
        <a:srgbClr val="2B2A33"/>
      </a:dk1>
      <a:lt1>
        <a:srgbClr val="FFFFFF"/>
      </a:lt1>
      <a:dk2>
        <a:srgbClr val="5A6170"/>
      </a:dk2>
      <a:lt2>
        <a:srgbClr val="F2F5F8"/>
      </a:lt2>
      <a:accent1>
        <a:srgbClr val="3A7CA5"/>
      </a:accent1>
      <a:accent2>
        <a:srgbClr val="C8662A"/>
      </a:accent2>
      <a:accent3>
        <a:srgbClr val="4C8A4D"/>
      </a:accent3>
      <a:accent4>
        <a:srgbClr val="B04F6F"/>
      </a:accent4>
      <a:accent5>
        <a:srgbClr val="D9A21E"/>
      </a:accent5>
      <a:accent6>
        <a:srgbClr val="7A6C5D"/>
      </a:accent6>
      <a:hlink>
        <a:srgbClr val="2F6E9A"/>
      </a:hlink>
      <a:folHlink>
        <a:srgbClr val="7A5C8E"/>
      </a:folHlink>
    </a:clrScheme>
    <a:fontScheme name="Step by Step Watercolor">
      <a:majorFont>
        <a:latin typeface="Microsoft JhengHei"/>
        <a:ea typeface="Microsoft JhengHei"/>
        <a:cs typeface=""/>
        <a:font script="Jpan" typeface="游ゴシック Light"/>
        <a:font script="Hang" typeface="맑은 고딕"/>
        <a:font script="Hans" typeface="等线 Light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Microsoft JhengHei"/>
        <a:cs typeface=""/>
        <a:font script="Jpan" typeface="游ゴシック"/>
        <a:font script="Hang" typeface="맑은 고딕"/>
        <a:font script="Hans" typeface="等线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Step by step，建構你的第一手教材</dc:title>
  <dc:subject>以 Plan、Do、Check、Adjust 四個部分整理的課程簡報</dc:subject>
  <dc:creator>Matt</dc:creator>
  <cp:lastModifiedBy>Matt</cp:lastModifiedBy>
  <cp:revision>1</cp:revision>
  <dcterms:created xsi:type="dcterms:W3CDTF">2026-10-13T23:38:53Z</dcterms:created>
  <dcterms:modified xsi:type="dcterms:W3CDTF">2026-10-13T23:38:53Z</dcterms:modified>
</cp:coreProperties>
</file>